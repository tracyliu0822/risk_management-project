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792" r:id="rId2"/>
    <p:sldId id="563" r:id="rId3"/>
    <p:sldId id="570" r:id="rId4"/>
    <p:sldId id="755" r:id="rId5"/>
    <p:sldId id="257" r:id="rId6"/>
    <p:sldId id="258" r:id="rId7"/>
    <p:sldId id="756" r:id="rId8"/>
    <p:sldId id="605" r:id="rId9"/>
    <p:sldId id="775" r:id="rId10"/>
    <p:sldId id="622" r:id="rId11"/>
    <p:sldId id="784" r:id="rId12"/>
    <p:sldId id="793" r:id="rId13"/>
    <p:sldId id="794" r:id="rId14"/>
    <p:sldId id="795" r:id="rId15"/>
    <p:sldId id="623" r:id="rId16"/>
    <p:sldId id="786" r:id="rId17"/>
    <p:sldId id="796" r:id="rId18"/>
    <p:sldId id="799" r:id="rId19"/>
    <p:sldId id="802" r:id="rId20"/>
    <p:sldId id="797" r:id="rId21"/>
    <p:sldId id="800" r:id="rId22"/>
    <p:sldId id="803" r:id="rId23"/>
    <p:sldId id="804" r:id="rId24"/>
    <p:sldId id="805" r:id="rId25"/>
    <p:sldId id="806" r:id="rId26"/>
    <p:sldId id="807" r:id="rId27"/>
    <p:sldId id="808" r:id="rId28"/>
    <p:sldId id="809" r:id="rId29"/>
    <p:sldId id="798" r:id="rId30"/>
    <p:sldId id="801" r:id="rId31"/>
    <p:sldId id="789" r:id="rId32"/>
  </p:sldIdLst>
  <p:sldSz cx="9144000" cy="51419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9B897EBE-1C75-4E43-B57E-15ABA3E39370}">
          <p14:sldIdLst>
            <p14:sldId id="792"/>
            <p14:sldId id="563"/>
            <p14:sldId id="570"/>
            <p14:sldId id="755"/>
            <p14:sldId id="257"/>
            <p14:sldId id="258"/>
            <p14:sldId id="756"/>
            <p14:sldId id="605"/>
            <p14:sldId id="775"/>
            <p14:sldId id="622"/>
            <p14:sldId id="784"/>
            <p14:sldId id="793"/>
            <p14:sldId id="794"/>
            <p14:sldId id="795"/>
            <p14:sldId id="623"/>
            <p14:sldId id="786"/>
            <p14:sldId id="796"/>
            <p14:sldId id="799"/>
            <p14:sldId id="802"/>
            <p14:sldId id="797"/>
            <p14:sldId id="800"/>
            <p14:sldId id="803"/>
            <p14:sldId id="804"/>
            <p14:sldId id="805"/>
            <p14:sldId id="806"/>
            <p14:sldId id="807"/>
            <p14:sldId id="808"/>
            <p14:sldId id="809"/>
            <p14:sldId id="798"/>
            <p14:sldId id="801"/>
            <p14:sldId id="789"/>
          </p14:sldIdLst>
        </p14:section>
      </p14:sectionLst>
    </p:ext>
    <p:ext uri="{EFAFB233-063F-42B5-8137-9DF3F51BA10A}">
      <p15:sldGuideLst xmlns:p15="http://schemas.microsoft.com/office/powerpoint/2012/main">
        <p15:guide id="1" orient="horz" pos="267">
          <p15:clr>
            <a:srgbClr val="A4A3A4"/>
          </p15:clr>
        </p15:guide>
        <p15:guide id="2" pos="57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6699"/>
    <a:srgbClr val="FFFFCC"/>
    <a:srgbClr val="595959"/>
    <a:srgbClr val="A3A3A3"/>
    <a:srgbClr val="D20000"/>
    <a:srgbClr val="8F0000"/>
    <a:srgbClr val="640000"/>
    <a:srgbClr val="2E0000"/>
    <a:srgbClr val="4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42" autoAdjust="0"/>
    <p:restoredTop sz="93750" autoAdjust="0"/>
  </p:normalViewPr>
  <p:slideViewPr>
    <p:cSldViewPr showGuides="1">
      <p:cViewPr varScale="1">
        <p:scale>
          <a:sx n="107" d="100"/>
          <a:sy n="107" d="100"/>
        </p:scale>
        <p:origin x="946" y="62"/>
      </p:cViewPr>
      <p:guideLst>
        <p:guide orient="horz" pos="267"/>
        <p:guide pos="5737"/>
      </p:guideLst>
    </p:cSldViewPr>
  </p:slideViewPr>
  <p:outlineViewPr>
    <p:cViewPr>
      <p:scale>
        <a:sx n="33" d="100"/>
        <a:sy n="33" d="100"/>
      </p:scale>
      <p:origin x="0" y="0"/>
    </p:cViewPr>
  </p:outlin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zh-CN" altLang="en-US"/>
              <a:t>计算机</a:t>
            </a: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0EEC00F-26D5-4371-8423-70457D5267F7}" type="datetimeFigureOut">
              <a:rPr lang="zh-CN" altLang="en-US" smtClean="0"/>
              <a:pPr/>
              <a:t>2021/6/11</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5D25943-C2DA-47B5-A62C-7E5582FC1CF5}" type="slidenum">
              <a:rPr lang="zh-CN" altLang="en-US" smtClean="0"/>
              <a:pPr/>
              <a:t>‹#›</a:t>
            </a:fld>
            <a:endParaRPr lang="zh-CN" altLang="en-US"/>
          </a:p>
        </p:txBody>
      </p:sp>
    </p:spTree>
    <p:extLst>
      <p:ext uri="{BB962C8B-B14F-4D97-AF65-F5344CB8AC3E}">
        <p14:creationId xmlns:p14="http://schemas.microsoft.com/office/powerpoint/2010/main" val="3877565560"/>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zh-CN" altLang="en-US"/>
              <a:t>计算机</a:t>
            </a: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AD0D155-6FFF-44D3-B00A-FBC2BAA11346}" type="datetimeFigureOut">
              <a:rPr lang="zh-CN" altLang="en-US" smtClean="0"/>
              <a:pPr/>
              <a:t>2021/6/11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9BDE4-701F-4D16-9C33-9FA6D2A570CE}" type="slidenum">
              <a:rPr lang="zh-CN" altLang="en-US" smtClean="0"/>
              <a:pPr/>
              <a:t>‹#›</a:t>
            </a:fld>
            <a:endParaRPr lang="zh-CN" altLang="en-US"/>
          </a:p>
        </p:txBody>
      </p:sp>
    </p:spTree>
    <p:extLst>
      <p:ext uri="{BB962C8B-B14F-4D97-AF65-F5344CB8AC3E}">
        <p14:creationId xmlns:p14="http://schemas.microsoft.com/office/powerpoint/2010/main" val="422216018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9BDE4-701F-4D16-9C33-9FA6D2A570CE}" type="slidenum">
              <a:rPr lang="zh-CN" altLang="en-US" smtClean="0"/>
              <a:pPr/>
              <a:t>1</a:t>
            </a:fld>
            <a:endParaRPr lang="zh-CN" altLang="en-US"/>
          </a:p>
        </p:txBody>
      </p:sp>
    </p:spTree>
    <p:extLst>
      <p:ext uri="{BB962C8B-B14F-4D97-AF65-F5344CB8AC3E}">
        <p14:creationId xmlns:p14="http://schemas.microsoft.com/office/powerpoint/2010/main" val="61319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9BDE4-701F-4D16-9C33-9FA6D2A570CE}" type="slidenum">
              <a:rPr lang="zh-CN" altLang="en-US" smtClean="0"/>
              <a:pPr/>
              <a:t>2</a:t>
            </a:fld>
            <a:endParaRPr lang="zh-CN" altLang="en-US"/>
          </a:p>
        </p:txBody>
      </p:sp>
      <p:sp>
        <p:nvSpPr>
          <p:cNvPr id="5" name="页眉占位符 4"/>
          <p:cNvSpPr>
            <a:spLocks noGrp="1"/>
          </p:cNvSpPr>
          <p:nvPr>
            <p:ph type="hdr" sz="quarter" idx="11"/>
          </p:nvPr>
        </p:nvSpPr>
        <p:spPr/>
        <p:txBody>
          <a:bodyPr/>
          <a:lstStyle/>
          <a:p>
            <a:r>
              <a:rPr lang="zh-CN" altLang="en-US"/>
              <a:t>计算机</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9BDE4-701F-4D16-9C33-9FA6D2A570CE}" type="slidenum">
              <a:rPr lang="zh-CN" altLang="en-US" smtClean="0"/>
              <a:pPr/>
              <a:t>3</a:t>
            </a:fld>
            <a:endParaRPr lang="zh-CN" altLang="en-US"/>
          </a:p>
        </p:txBody>
      </p:sp>
      <p:sp>
        <p:nvSpPr>
          <p:cNvPr id="5" name="页眉占位符 4"/>
          <p:cNvSpPr>
            <a:spLocks noGrp="1"/>
          </p:cNvSpPr>
          <p:nvPr>
            <p:ph type="hdr" sz="quarter" idx="11"/>
          </p:nvPr>
        </p:nvSpPr>
        <p:spPr/>
        <p:txBody>
          <a:bodyPr/>
          <a:lstStyle/>
          <a:p>
            <a:r>
              <a:rPr lang="zh-CN" altLang="en-US"/>
              <a:t>计算机</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9BDE4-701F-4D16-9C33-9FA6D2A570CE}" type="slidenum">
              <a:rPr lang="zh-CN" altLang="en-US" smtClean="0"/>
              <a:pPr/>
              <a:t>5</a:t>
            </a:fld>
            <a:endParaRPr lang="zh-CN" altLang="en-US"/>
          </a:p>
        </p:txBody>
      </p:sp>
      <p:sp>
        <p:nvSpPr>
          <p:cNvPr id="5" name="页眉占位符 4"/>
          <p:cNvSpPr>
            <a:spLocks noGrp="1"/>
          </p:cNvSpPr>
          <p:nvPr>
            <p:ph type="hdr" sz="quarter" idx="11"/>
          </p:nvPr>
        </p:nvSpPr>
        <p:spPr/>
        <p:txBody>
          <a:bodyPr/>
          <a:lstStyle/>
          <a:p>
            <a:r>
              <a:rPr lang="zh-CN" altLang="en-US"/>
              <a:t>计算机</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9BDE4-701F-4D16-9C33-9FA6D2A570CE}" type="slidenum">
              <a:rPr lang="zh-CN" altLang="en-US" smtClean="0"/>
              <a:pPr/>
              <a:t>6</a:t>
            </a:fld>
            <a:endParaRPr lang="zh-CN" altLang="en-US"/>
          </a:p>
        </p:txBody>
      </p:sp>
      <p:sp>
        <p:nvSpPr>
          <p:cNvPr id="5" name="页眉占位符 4"/>
          <p:cNvSpPr>
            <a:spLocks noGrp="1"/>
          </p:cNvSpPr>
          <p:nvPr>
            <p:ph type="hdr" sz="quarter" idx="11"/>
          </p:nvPr>
        </p:nvSpPr>
        <p:spPr/>
        <p:txBody>
          <a:bodyPr/>
          <a:lstStyle/>
          <a:p>
            <a:r>
              <a:rPr lang="zh-CN" altLang="en-US"/>
              <a:t>计算机</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9BDE4-701F-4D16-9C33-9FA6D2A570CE}" type="slidenum">
              <a:rPr lang="zh-CN" altLang="en-US" smtClean="0"/>
              <a:pPr/>
              <a:t>8</a:t>
            </a:fld>
            <a:endParaRPr lang="zh-CN" altLang="en-US"/>
          </a:p>
        </p:txBody>
      </p:sp>
      <p:sp>
        <p:nvSpPr>
          <p:cNvPr id="5" name="页眉占位符 4"/>
          <p:cNvSpPr>
            <a:spLocks noGrp="1"/>
          </p:cNvSpPr>
          <p:nvPr>
            <p:ph type="hdr" sz="quarter" idx="11"/>
          </p:nvPr>
        </p:nvSpPr>
        <p:spPr/>
        <p:txBody>
          <a:bodyPr/>
          <a:lstStyle/>
          <a:p>
            <a:r>
              <a:rPr lang="zh-CN" altLang="en-US"/>
              <a:t>计算机</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499BDE4-701F-4D16-9C33-9FA6D2A570CE}" type="slidenum">
              <a:rPr kumimoji="0" lang="zh-CN" altLang="en-US" sz="1200" b="0" i="0" u="none" strike="noStrike" kern="1200" cap="none" spc="0" normalizeH="0" baseline="0" noProof="0" smtClean="0">
                <a:ln>
                  <a:noFill/>
                </a:ln>
                <a:solidFill>
                  <a:prstClr val="black"/>
                </a:solidFill>
                <a:effectLst/>
                <a:uLnTx/>
                <a:uFillTx/>
                <a:latin typeface="Calibri"/>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itchFamily="2" charset="-122"/>
              <a:cs typeface="+mn-cs"/>
            </a:endParaRPr>
          </a:p>
        </p:txBody>
      </p:sp>
      <p:sp>
        <p:nvSpPr>
          <p:cNvPr id="5" name="页眉占位符 4"/>
          <p:cNvSpPr>
            <a:spLocks noGrp="1"/>
          </p:cNvSpPr>
          <p:nvPr>
            <p:ph type="hdr" sz="quarter" idx="11"/>
          </p:nvPr>
        </p:nvSpPr>
        <p:spPr/>
        <p:txBody>
          <a:bodyPr/>
          <a:lstStyle/>
          <a:p>
            <a:r>
              <a:rPr lang="zh-CN" altLang="en-US"/>
              <a:t>计算机</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499BDE4-701F-4D16-9C33-9FA6D2A570CE}" type="slidenum">
              <a:rPr kumimoji="0" lang="zh-CN" altLang="en-US" sz="1200" b="0" i="0" u="none" strike="noStrike" kern="1200" cap="none" spc="0" normalizeH="0" baseline="0" noProof="0" smtClean="0">
                <a:ln>
                  <a:noFill/>
                </a:ln>
                <a:solidFill>
                  <a:prstClr val="black"/>
                </a:solidFill>
                <a:effectLst/>
                <a:uLnTx/>
                <a:uFillTx/>
                <a:latin typeface="Calibri"/>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itchFamily="2" charset="-122"/>
              <a:cs typeface="+mn-cs"/>
            </a:endParaRPr>
          </a:p>
        </p:txBody>
      </p:sp>
      <p:sp>
        <p:nvSpPr>
          <p:cNvPr id="5" name="页眉占位符 4"/>
          <p:cNvSpPr>
            <a:spLocks noGrp="1"/>
          </p:cNvSpPr>
          <p:nvPr>
            <p:ph type="hdr" sz="quarter" idx="11"/>
          </p:nvPr>
        </p:nvSpPr>
        <p:spPr/>
        <p:txBody>
          <a:bodyPr/>
          <a:lstStyle/>
          <a:p>
            <a:r>
              <a:rPr lang="zh-CN" altLang="en-US"/>
              <a:t>计算机</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499BDE4-701F-4D16-9C33-9FA6D2A570CE}" type="slidenum">
              <a:rPr kumimoji="0" lang="zh-CN" altLang="en-US" sz="1200" b="0" i="0" u="none" strike="noStrike" kern="1200" cap="none" spc="0" normalizeH="0" baseline="0" noProof="0" smtClean="0">
                <a:ln>
                  <a:noFill/>
                </a:ln>
                <a:solidFill>
                  <a:prstClr val="black"/>
                </a:solidFill>
                <a:effectLst/>
                <a:uLnTx/>
                <a:uFillTx/>
                <a:latin typeface="Calibri"/>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itchFamily="2" charset="-122"/>
              <a:cs typeface="+mn-cs"/>
            </a:endParaRPr>
          </a:p>
        </p:txBody>
      </p:sp>
      <p:sp>
        <p:nvSpPr>
          <p:cNvPr id="5" name="页眉占位符 4"/>
          <p:cNvSpPr>
            <a:spLocks noGrp="1"/>
          </p:cNvSpPr>
          <p:nvPr>
            <p:ph type="hdr" sz="quarter" idx="11"/>
          </p:nvPr>
        </p:nvSpPr>
        <p:spPr/>
        <p:txBody>
          <a:bodyPr/>
          <a:lstStyle/>
          <a:p>
            <a:r>
              <a:rPr lang="zh-CN" altLang="en-US"/>
              <a:t>计算机</a:t>
            </a:r>
          </a:p>
        </p:txBody>
      </p:sp>
    </p:spTree>
    <p:extLst>
      <p:ext uri="{BB962C8B-B14F-4D97-AF65-F5344CB8AC3E}">
        <p14:creationId xmlns:p14="http://schemas.microsoft.com/office/powerpoint/2010/main" val="2858115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499BDE4-701F-4D16-9C33-9FA6D2A570CE}" type="slidenum">
              <a:rPr kumimoji="0" lang="zh-CN" altLang="en-US" sz="1200" b="0" i="0" u="none" strike="noStrike" kern="1200" cap="none" spc="0" normalizeH="0" baseline="0" noProof="0" smtClean="0">
                <a:ln>
                  <a:noFill/>
                </a:ln>
                <a:solidFill>
                  <a:prstClr val="black"/>
                </a:solidFill>
                <a:effectLst/>
                <a:uLnTx/>
                <a:uFillTx/>
                <a:latin typeface="Calibri"/>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itchFamily="2" charset="-122"/>
              <a:cs typeface="+mn-cs"/>
            </a:endParaRPr>
          </a:p>
        </p:txBody>
      </p:sp>
      <p:sp>
        <p:nvSpPr>
          <p:cNvPr id="5" name="页眉占位符 4"/>
          <p:cNvSpPr>
            <a:spLocks noGrp="1"/>
          </p:cNvSpPr>
          <p:nvPr>
            <p:ph type="hdr" sz="quarter" idx="11"/>
          </p:nvPr>
        </p:nvSpPr>
        <p:spPr/>
        <p:txBody>
          <a:bodyPr/>
          <a:lstStyle/>
          <a:p>
            <a:r>
              <a:rPr lang="zh-CN" altLang="en-US"/>
              <a:t>计算机</a:t>
            </a:r>
          </a:p>
        </p:txBody>
      </p:sp>
    </p:spTree>
    <p:extLst>
      <p:ext uri="{BB962C8B-B14F-4D97-AF65-F5344CB8AC3E}">
        <p14:creationId xmlns:p14="http://schemas.microsoft.com/office/powerpoint/2010/main" val="1646804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499BDE4-701F-4D16-9C33-9FA6D2A570CE}" type="slidenum">
              <a:rPr kumimoji="0" lang="zh-CN" altLang="en-US" sz="1200" b="0" i="0" u="none" strike="noStrike" kern="1200" cap="none" spc="0" normalizeH="0" baseline="0" noProof="0" smtClean="0">
                <a:ln>
                  <a:noFill/>
                </a:ln>
                <a:solidFill>
                  <a:prstClr val="black"/>
                </a:solidFill>
                <a:effectLst/>
                <a:uLnTx/>
                <a:uFillTx/>
                <a:latin typeface="Calibri"/>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defRPr/>
              </a:pPr>
              <a:t>29</a:t>
            </a:fld>
            <a:endParaRPr kumimoji="0" lang="zh-CN" altLang="en-US" sz="1200" b="0" i="0" u="none" strike="noStrike" kern="1200" cap="none" spc="0" normalizeH="0" baseline="0" noProof="0">
              <a:ln>
                <a:noFill/>
              </a:ln>
              <a:solidFill>
                <a:prstClr val="black"/>
              </a:solidFill>
              <a:effectLst/>
              <a:uLnTx/>
              <a:uFillTx/>
              <a:latin typeface="Calibri"/>
              <a:ea typeface="宋体" pitchFamily="2" charset="-122"/>
              <a:cs typeface="+mn-cs"/>
            </a:endParaRPr>
          </a:p>
        </p:txBody>
      </p:sp>
      <p:sp>
        <p:nvSpPr>
          <p:cNvPr id="5" name="页眉占位符 4"/>
          <p:cNvSpPr>
            <a:spLocks noGrp="1"/>
          </p:cNvSpPr>
          <p:nvPr>
            <p:ph type="hdr" sz="quarter" idx="11"/>
          </p:nvPr>
        </p:nvSpPr>
        <p:spPr/>
        <p:txBody>
          <a:bodyPr/>
          <a:lstStyle/>
          <a:p>
            <a:r>
              <a:rPr lang="zh-CN" altLang="en-US"/>
              <a:t>计算机</a:t>
            </a:r>
          </a:p>
        </p:txBody>
      </p:sp>
    </p:spTree>
    <p:extLst>
      <p:ext uri="{BB962C8B-B14F-4D97-AF65-F5344CB8AC3E}">
        <p14:creationId xmlns:p14="http://schemas.microsoft.com/office/powerpoint/2010/main" val="4087989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326"/>
            <a:ext cx="7772400" cy="1102179"/>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3751"/>
            <a:ext cx="6400800" cy="1314044"/>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4765792"/>
            <a:ext cx="2133600" cy="273759"/>
          </a:xfrm>
          <a:prstGeom prst="rect">
            <a:avLst/>
          </a:prstGeom>
        </p:spPr>
        <p:txBody>
          <a:bodyPr/>
          <a:lstStyle/>
          <a:p>
            <a:endParaRPr lang="zh-CN" altLang="en-US"/>
          </a:p>
        </p:txBody>
      </p:sp>
      <p:sp>
        <p:nvSpPr>
          <p:cNvPr id="5" name="页脚占位符 4"/>
          <p:cNvSpPr>
            <a:spLocks noGrp="1"/>
          </p:cNvSpPr>
          <p:nvPr>
            <p:ph type="ftr" sz="quarter" idx="11"/>
          </p:nvPr>
        </p:nvSpPr>
        <p:spPr>
          <a:xfrm>
            <a:off x="3124200" y="4765792"/>
            <a:ext cx="2895600" cy="27375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5792"/>
            <a:ext cx="2133600" cy="273759"/>
          </a:xfrm>
          <a:prstGeom prst="rect">
            <a:avLst/>
          </a:prstGeom>
        </p:spPr>
        <p:txBody>
          <a:bodyPr/>
          <a:lstStyle/>
          <a:p>
            <a:fld id="{3A0DCBA0-A312-46AB-8163-AF5776386EF4}"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199780"/>
            <a:ext cx="8229600" cy="33934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5792"/>
            <a:ext cx="2133600" cy="273759"/>
          </a:xfrm>
          <a:prstGeom prst="rect">
            <a:avLst/>
          </a:prstGeom>
        </p:spPr>
        <p:txBody>
          <a:bodyPr/>
          <a:lstStyle/>
          <a:p>
            <a:endParaRPr lang="zh-CN" altLang="en-US"/>
          </a:p>
        </p:txBody>
      </p:sp>
      <p:sp>
        <p:nvSpPr>
          <p:cNvPr id="5" name="页脚占位符 4"/>
          <p:cNvSpPr>
            <a:spLocks noGrp="1"/>
          </p:cNvSpPr>
          <p:nvPr>
            <p:ph type="ftr" sz="quarter" idx="11"/>
          </p:nvPr>
        </p:nvSpPr>
        <p:spPr>
          <a:xfrm>
            <a:off x="3124200" y="4765792"/>
            <a:ext cx="2895600" cy="27375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5792"/>
            <a:ext cx="2133600" cy="273759"/>
          </a:xfrm>
          <a:prstGeom prst="rect">
            <a:avLst/>
          </a:prstGeom>
        </p:spPr>
        <p:txBody>
          <a:bodyPr/>
          <a:lstStyle/>
          <a:p>
            <a:fld id="{3A0DCBA0-A312-46AB-8163-AF5776386EF4}"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4156"/>
            <a:ext cx="7772400" cy="1021241"/>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363"/>
            <a:ext cx="7772400" cy="1124793"/>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5792"/>
            <a:ext cx="2133600" cy="273759"/>
          </a:xfrm>
          <a:prstGeom prst="rect">
            <a:avLst/>
          </a:prstGeom>
        </p:spPr>
        <p:txBody>
          <a:bodyPr/>
          <a:lstStyle/>
          <a:p>
            <a:endParaRPr lang="zh-CN" altLang="en-US"/>
          </a:p>
        </p:txBody>
      </p:sp>
      <p:sp>
        <p:nvSpPr>
          <p:cNvPr id="5" name="页脚占位符 4"/>
          <p:cNvSpPr>
            <a:spLocks noGrp="1"/>
          </p:cNvSpPr>
          <p:nvPr>
            <p:ph type="ftr" sz="quarter" idx="11"/>
          </p:nvPr>
        </p:nvSpPr>
        <p:spPr>
          <a:xfrm>
            <a:off x="3124200" y="4765792"/>
            <a:ext cx="2895600" cy="27375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5792"/>
            <a:ext cx="2133600" cy="273759"/>
          </a:xfrm>
          <a:prstGeom prst="rect">
            <a:avLst/>
          </a:prstGeom>
        </p:spPr>
        <p:txBody>
          <a:bodyPr/>
          <a:lstStyle/>
          <a:p>
            <a:fld id="{3A0DCBA0-A312-46AB-8163-AF5776386EF4}"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199780"/>
            <a:ext cx="4038600" cy="33934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99780"/>
            <a:ext cx="4038600" cy="33934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5792"/>
            <a:ext cx="2133600" cy="273759"/>
          </a:xfrm>
          <a:prstGeom prst="rect">
            <a:avLst/>
          </a:prstGeom>
        </p:spPr>
        <p:txBody>
          <a:bodyPr/>
          <a:lstStyle/>
          <a:p>
            <a:endParaRPr lang="zh-CN" altLang="en-US"/>
          </a:p>
        </p:txBody>
      </p:sp>
      <p:sp>
        <p:nvSpPr>
          <p:cNvPr id="6" name="页脚占位符 5"/>
          <p:cNvSpPr>
            <a:spLocks noGrp="1"/>
          </p:cNvSpPr>
          <p:nvPr>
            <p:ph type="ftr" sz="quarter" idx="11"/>
          </p:nvPr>
        </p:nvSpPr>
        <p:spPr>
          <a:xfrm>
            <a:off x="3124200" y="4765792"/>
            <a:ext cx="2895600" cy="27375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5792"/>
            <a:ext cx="2133600" cy="273759"/>
          </a:xfrm>
          <a:prstGeom prst="rect">
            <a:avLst/>
          </a:prstGeom>
        </p:spPr>
        <p:txBody>
          <a:bodyPr/>
          <a:lstStyle/>
          <a:p>
            <a:fld id="{3A0DCBA0-A312-46AB-8163-AF5776386EF4}"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80"/>
            <a:ext cx="4040188" cy="479673"/>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0653"/>
            <a:ext cx="4040188" cy="296255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0980"/>
            <a:ext cx="4041775" cy="479673"/>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0653"/>
            <a:ext cx="4041775" cy="296255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5792"/>
            <a:ext cx="2133600" cy="273759"/>
          </a:xfrm>
          <a:prstGeom prst="rect">
            <a:avLst/>
          </a:prstGeom>
        </p:spPr>
        <p:txBody>
          <a:bodyPr/>
          <a:lstStyle/>
          <a:p>
            <a:endParaRPr lang="zh-CN" altLang="en-US"/>
          </a:p>
        </p:txBody>
      </p:sp>
      <p:sp>
        <p:nvSpPr>
          <p:cNvPr id="8" name="页脚占位符 7"/>
          <p:cNvSpPr>
            <a:spLocks noGrp="1"/>
          </p:cNvSpPr>
          <p:nvPr>
            <p:ph type="ftr" sz="quarter" idx="11"/>
          </p:nvPr>
        </p:nvSpPr>
        <p:spPr>
          <a:xfrm>
            <a:off x="3124200" y="4765792"/>
            <a:ext cx="2895600" cy="273759"/>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5792"/>
            <a:ext cx="2133600" cy="273759"/>
          </a:xfrm>
          <a:prstGeom prst="rect">
            <a:avLst/>
          </a:prstGeom>
        </p:spPr>
        <p:txBody>
          <a:bodyPr/>
          <a:lstStyle/>
          <a:p>
            <a:fld id="{3A0DCBA0-A312-46AB-8163-AF5776386EF4}"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5792"/>
            <a:ext cx="2133600" cy="273759"/>
          </a:xfrm>
          <a:prstGeom prst="rect">
            <a:avLst/>
          </a:prstGeom>
        </p:spPr>
        <p:txBody>
          <a:bodyPr/>
          <a:lstStyle/>
          <a:p>
            <a:endParaRPr lang="zh-CN" altLang="en-US"/>
          </a:p>
        </p:txBody>
      </p:sp>
      <p:sp>
        <p:nvSpPr>
          <p:cNvPr id="4" name="页脚占位符 3"/>
          <p:cNvSpPr>
            <a:spLocks noGrp="1"/>
          </p:cNvSpPr>
          <p:nvPr>
            <p:ph type="ftr" sz="quarter" idx="11"/>
          </p:nvPr>
        </p:nvSpPr>
        <p:spPr>
          <a:xfrm>
            <a:off x="3124200" y="4765792"/>
            <a:ext cx="2895600" cy="273759"/>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5792"/>
            <a:ext cx="2133600" cy="273759"/>
          </a:xfrm>
          <a:prstGeom prst="rect">
            <a:avLst/>
          </a:prstGeom>
        </p:spPr>
        <p:txBody>
          <a:bodyPr/>
          <a:lstStyle/>
          <a:p>
            <a:fld id="{3A0DCBA0-A312-46AB-8163-AF5776386EF4}"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5792"/>
            <a:ext cx="2133600" cy="273759"/>
          </a:xfrm>
          <a:prstGeom prst="rect">
            <a:avLst/>
          </a:prstGeom>
        </p:spPr>
        <p:txBody>
          <a:bodyPr/>
          <a:lstStyle/>
          <a:p>
            <a:endParaRPr lang="zh-CN" altLang="en-US"/>
          </a:p>
        </p:txBody>
      </p:sp>
      <p:sp>
        <p:nvSpPr>
          <p:cNvPr id="3" name="页脚占位符 2"/>
          <p:cNvSpPr>
            <a:spLocks noGrp="1"/>
          </p:cNvSpPr>
          <p:nvPr>
            <p:ph type="ftr" sz="quarter" idx="11"/>
          </p:nvPr>
        </p:nvSpPr>
        <p:spPr>
          <a:xfrm>
            <a:off x="3124200" y="4765792"/>
            <a:ext cx="2895600" cy="273759"/>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5792"/>
            <a:ext cx="2133600" cy="273759"/>
          </a:xfrm>
          <a:prstGeom prst="rect">
            <a:avLst/>
          </a:prstGeom>
        </p:spPr>
        <p:txBody>
          <a:bodyPr/>
          <a:lstStyle/>
          <a:p>
            <a:fld id="{3A0DCBA0-A312-46AB-8163-AF5776386EF4}"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24"/>
            <a:ext cx="3008313" cy="871269"/>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25"/>
            <a:ext cx="5111750" cy="438848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5993"/>
            <a:ext cx="3008313" cy="35172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5792"/>
            <a:ext cx="2133600" cy="273759"/>
          </a:xfrm>
          <a:prstGeom prst="rect">
            <a:avLst/>
          </a:prstGeom>
        </p:spPr>
        <p:txBody>
          <a:bodyPr/>
          <a:lstStyle/>
          <a:p>
            <a:endParaRPr lang="zh-CN" altLang="en-US"/>
          </a:p>
        </p:txBody>
      </p:sp>
      <p:sp>
        <p:nvSpPr>
          <p:cNvPr id="6" name="页脚占位符 5"/>
          <p:cNvSpPr>
            <a:spLocks noGrp="1"/>
          </p:cNvSpPr>
          <p:nvPr>
            <p:ph type="ftr" sz="quarter" idx="11"/>
          </p:nvPr>
        </p:nvSpPr>
        <p:spPr>
          <a:xfrm>
            <a:off x="3124200" y="4765792"/>
            <a:ext cx="2895600" cy="27375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5792"/>
            <a:ext cx="2133600" cy="273759"/>
          </a:xfrm>
          <a:prstGeom prst="rect">
            <a:avLst/>
          </a:prstGeom>
        </p:spPr>
        <p:txBody>
          <a:bodyPr/>
          <a:lstStyle/>
          <a:p>
            <a:fld id="{3A0DCBA0-A312-46AB-8163-AF5776386EF4}"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599339"/>
            <a:ext cx="5486400" cy="424922"/>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439"/>
            <a:ext cx="5486400" cy="308514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4262"/>
            <a:ext cx="5486400" cy="60346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5792"/>
            <a:ext cx="2133600" cy="273759"/>
          </a:xfrm>
          <a:prstGeom prst="rect">
            <a:avLst/>
          </a:prstGeom>
        </p:spPr>
        <p:txBody>
          <a:bodyPr/>
          <a:lstStyle/>
          <a:p>
            <a:endParaRPr lang="zh-CN" altLang="en-US"/>
          </a:p>
        </p:txBody>
      </p:sp>
      <p:sp>
        <p:nvSpPr>
          <p:cNvPr id="6" name="页脚占位符 5"/>
          <p:cNvSpPr>
            <a:spLocks noGrp="1"/>
          </p:cNvSpPr>
          <p:nvPr>
            <p:ph type="ftr" sz="quarter" idx="11"/>
          </p:nvPr>
        </p:nvSpPr>
        <p:spPr>
          <a:xfrm>
            <a:off x="3124200" y="4765792"/>
            <a:ext cx="2895600" cy="27375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5792"/>
            <a:ext cx="2133600" cy="273759"/>
          </a:xfrm>
          <a:prstGeom prst="rect">
            <a:avLst/>
          </a:prstGeom>
        </p:spPr>
        <p:txBody>
          <a:bodyPr/>
          <a:lstStyle/>
          <a:p>
            <a:fld id="{3A0DCBA0-A312-46AB-8163-AF5776386EF4}"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199780"/>
            <a:ext cx="8229600" cy="33934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5792"/>
            <a:ext cx="2133600" cy="273759"/>
          </a:xfrm>
          <a:prstGeom prst="rect">
            <a:avLst/>
          </a:prstGeom>
        </p:spPr>
        <p:txBody>
          <a:bodyPr/>
          <a:lstStyle/>
          <a:p>
            <a:endParaRPr lang="zh-CN" altLang="en-US"/>
          </a:p>
        </p:txBody>
      </p:sp>
      <p:sp>
        <p:nvSpPr>
          <p:cNvPr id="5" name="页脚占位符 4"/>
          <p:cNvSpPr>
            <a:spLocks noGrp="1"/>
          </p:cNvSpPr>
          <p:nvPr>
            <p:ph type="ftr" sz="quarter" idx="11"/>
          </p:nvPr>
        </p:nvSpPr>
        <p:spPr>
          <a:xfrm>
            <a:off x="3124200" y="4765792"/>
            <a:ext cx="2895600" cy="27375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5792"/>
            <a:ext cx="2133600" cy="273759"/>
          </a:xfrm>
          <a:prstGeom prst="rect">
            <a:avLst/>
          </a:prstGeom>
        </p:spPr>
        <p:txBody>
          <a:bodyPr/>
          <a:lstStyle/>
          <a:p>
            <a:fld id="{3A0DCBA0-A312-46AB-8163-AF5776386EF4}"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15"/>
            <a:ext cx="2057400" cy="438729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15"/>
            <a:ext cx="6019800" cy="438729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5792"/>
            <a:ext cx="2133600" cy="273759"/>
          </a:xfrm>
          <a:prstGeom prst="rect">
            <a:avLst/>
          </a:prstGeom>
        </p:spPr>
        <p:txBody>
          <a:bodyPr/>
          <a:lstStyle/>
          <a:p>
            <a:endParaRPr lang="zh-CN" altLang="en-US"/>
          </a:p>
        </p:txBody>
      </p:sp>
      <p:sp>
        <p:nvSpPr>
          <p:cNvPr id="5" name="页脚占位符 4"/>
          <p:cNvSpPr>
            <a:spLocks noGrp="1"/>
          </p:cNvSpPr>
          <p:nvPr>
            <p:ph type="ftr" sz="quarter" idx="11"/>
          </p:nvPr>
        </p:nvSpPr>
        <p:spPr>
          <a:xfrm>
            <a:off x="3124200" y="4765792"/>
            <a:ext cx="2895600" cy="27375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5792"/>
            <a:ext cx="2133600" cy="273759"/>
          </a:xfrm>
          <a:prstGeom prst="rect">
            <a:avLst/>
          </a:prstGeom>
        </p:spPr>
        <p:txBody>
          <a:bodyPr/>
          <a:lstStyle/>
          <a:p>
            <a:fld id="{3A0DCBA0-A312-46AB-8163-AF5776386EF4}"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descr="D:\Backup\我的文档\My RTX Files\王洪波\货币金融学（第3版）(1).jpg"/>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8461877" y="50676"/>
            <a:ext cx="647700" cy="824865"/>
          </a:xfrm>
          <a:prstGeom prst="rect">
            <a:avLst/>
          </a:prstGeom>
          <a:noFill/>
          <a:ln>
            <a:noFill/>
          </a:ln>
        </p:spPr>
      </p:pic>
      <p:sp>
        <p:nvSpPr>
          <p:cNvPr id="3" name="矩形 2"/>
          <p:cNvSpPr/>
          <p:nvPr userDrawn="1"/>
        </p:nvSpPr>
        <p:spPr>
          <a:xfrm>
            <a:off x="5357386" y="4731196"/>
            <a:ext cx="3786614" cy="369332"/>
          </a:xfrm>
          <a:prstGeom prst="rect">
            <a:avLst/>
          </a:prstGeom>
        </p:spPr>
        <p:txBody>
          <a:bodyPr wrap="none">
            <a:spAutoFit/>
          </a:bodyPr>
          <a:lstStyle/>
          <a:p>
            <a:r>
              <a:rPr lang="en-US" altLang="zh-CN" sz="1800" b="1" kern="1200" dirty="0">
                <a:solidFill>
                  <a:schemeClr val="tx1"/>
                </a:solidFill>
                <a:effectLst/>
                <a:latin typeface="+mn-lt"/>
                <a:ea typeface="+mn-ea"/>
                <a:cs typeface="+mn-cs"/>
              </a:rPr>
              <a:t>PPT</a:t>
            </a:r>
            <a:r>
              <a:rPr lang="zh-CN" altLang="zh-CN" sz="1800" b="1" kern="1200" dirty="0">
                <a:solidFill>
                  <a:schemeClr val="tx1"/>
                </a:solidFill>
                <a:effectLst/>
                <a:latin typeface="+mn-lt"/>
                <a:ea typeface="+mn-ea"/>
                <a:cs typeface="+mn-cs"/>
              </a:rPr>
              <a:t>版权归本书作者所有，侵权必究</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2">
            <a:extLst>
              <a:ext uri="{FF2B5EF4-FFF2-40B4-BE49-F238E27FC236}">
                <a16:creationId xmlns:a16="http://schemas.microsoft.com/office/drawing/2014/main" id="{098EC583-B52A-4DE9-9FE2-C10D908C7647}"/>
              </a:ext>
            </a:extLst>
          </p:cNvPr>
          <p:cNvSpPr>
            <a:spLocks noGrp="1" noChangeArrowheads="1"/>
          </p:cNvSpPr>
          <p:nvPr>
            <p:ph type="ctrTitle"/>
          </p:nvPr>
        </p:nvSpPr>
        <p:spPr>
          <a:xfrm>
            <a:off x="3275856" y="914772"/>
            <a:ext cx="5472608" cy="1501157"/>
          </a:xfrm>
        </p:spPr>
        <p:txBody>
          <a:bodyPr>
            <a:normAutofit fontScale="90000"/>
          </a:bodyPr>
          <a:lstStyle/>
          <a:p>
            <a:pPr>
              <a:lnSpc>
                <a:spcPct val="120000"/>
              </a:lnSpc>
            </a:pPr>
            <a:r>
              <a:rPr lang="zh-CN" altLang="en-US" sz="3100" dirty="0">
                <a:solidFill>
                  <a:srgbClr val="92D050"/>
                </a:solidFill>
                <a:latin typeface="宋体" pitchFamily="2" charset="-122"/>
                <a:ea typeface="宋体" pitchFamily="2" charset="-122"/>
              </a:rPr>
              <a:t>金融风险管理</a:t>
            </a:r>
            <a:br>
              <a:rPr lang="en-US" altLang="zh-CN" sz="3100" dirty="0">
                <a:solidFill>
                  <a:srgbClr val="92D050"/>
                </a:solidFill>
                <a:latin typeface="宋体" pitchFamily="2" charset="-122"/>
                <a:ea typeface="宋体" pitchFamily="2" charset="-122"/>
              </a:rPr>
            </a:br>
            <a:r>
              <a:rPr lang="en-US" altLang="zh-CN" sz="2700" b="1" i="1" dirty="0">
                <a:solidFill>
                  <a:schemeClr val="accent1">
                    <a:lumMod val="75000"/>
                  </a:schemeClr>
                </a:solidFill>
                <a:latin typeface="Times New Roman" panose="02020603050405020304" pitchFamily="18" charset="0"/>
                <a:ea typeface="黑体" panose="02010609060101010101" pitchFamily="49" charset="-122"/>
                <a:cs typeface="Times New Roman" pitchFamily="18" charset="0"/>
              </a:rPr>
              <a:t>Financial Risk  and Management</a:t>
            </a:r>
            <a:br>
              <a:rPr lang="en-US" altLang="zh-CN" sz="3600" b="1" i="1" dirty="0">
                <a:solidFill>
                  <a:schemeClr val="accent1">
                    <a:lumMod val="75000"/>
                  </a:schemeClr>
                </a:solidFill>
                <a:latin typeface="Times New Roman" panose="02020603050405020304" pitchFamily="18" charset="0"/>
                <a:ea typeface="黑体" panose="02010609060101010101" pitchFamily="49" charset="-122"/>
                <a:cs typeface="Times New Roman" pitchFamily="18" charset="0"/>
              </a:rPr>
            </a:br>
            <a:br>
              <a:rPr lang="en-US" altLang="zh-CN" sz="2800" b="1" i="1" dirty="0">
                <a:solidFill>
                  <a:schemeClr val="accent1">
                    <a:lumMod val="75000"/>
                  </a:schemeClr>
                </a:solidFill>
                <a:latin typeface="Times New Roman" panose="02020603050405020304" pitchFamily="18" charset="0"/>
                <a:ea typeface="黑体" panose="02010609060101010101" pitchFamily="49" charset="-122"/>
                <a:cs typeface="Times New Roman" pitchFamily="18" charset="0"/>
              </a:rPr>
            </a:br>
            <a:r>
              <a:rPr lang="zh-CN" altLang="en-US" sz="2400" b="1" i="1" dirty="0">
                <a:solidFill>
                  <a:schemeClr val="accent1">
                    <a:lumMod val="75000"/>
                  </a:schemeClr>
                </a:solidFill>
                <a:latin typeface="华文楷体" panose="02010600040101010101" pitchFamily="2" charset="-122"/>
                <a:ea typeface="华文楷体" panose="02010600040101010101" pitchFamily="2" charset="-122"/>
                <a:cs typeface="Times New Roman" pitchFamily="18" charset="0"/>
              </a:rPr>
              <a:t>郭战琴  李永奎</a:t>
            </a:r>
            <a:r>
              <a:rPr lang="zh-CN" altLang="en-US" sz="2400" b="1" dirty="0">
                <a:solidFill>
                  <a:schemeClr val="accent1">
                    <a:lumMod val="75000"/>
                  </a:schemeClr>
                </a:solidFill>
                <a:latin typeface="华文楷体" panose="02010600040101010101" pitchFamily="2" charset="-122"/>
                <a:ea typeface="华文楷体" panose="02010600040101010101" pitchFamily="2" charset="-122"/>
                <a:cs typeface="Times New Roman" pitchFamily="18" charset="0"/>
              </a:rPr>
              <a:t>主编</a:t>
            </a:r>
            <a:br>
              <a:rPr lang="en-US" altLang="zh-CN" sz="2400" b="1" dirty="0">
                <a:solidFill>
                  <a:schemeClr val="accent1">
                    <a:lumMod val="75000"/>
                  </a:schemeClr>
                </a:solidFill>
                <a:latin typeface="华文楷体" panose="02010600040101010101" pitchFamily="2" charset="-122"/>
                <a:ea typeface="华文楷体" panose="02010600040101010101" pitchFamily="2" charset="-122"/>
                <a:cs typeface="Times New Roman" pitchFamily="18" charset="0"/>
              </a:rPr>
            </a:br>
            <a:endParaRPr lang="en-US" altLang="zh-CN" sz="2200" b="1" dirty="0">
              <a:solidFill>
                <a:schemeClr val="accent1">
                  <a:lumMod val="75000"/>
                </a:schemeClr>
              </a:solidFill>
              <a:latin typeface="华文楷体" panose="02010600040101010101" pitchFamily="2" charset="-122"/>
              <a:ea typeface="华文楷体" panose="02010600040101010101" pitchFamily="2" charset="-122"/>
              <a:cs typeface="Times New Roman" pitchFamily="18" charset="0"/>
            </a:endParaRPr>
          </a:p>
        </p:txBody>
      </p:sp>
      <p:sp>
        <p:nvSpPr>
          <p:cNvPr id="2" name="矩形 1"/>
          <p:cNvSpPr/>
          <p:nvPr/>
        </p:nvSpPr>
        <p:spPr>
          <a:xfrm>
            <a:off x="1115616" y="2141991"/>
            <a:ext cx="1638590" cy="369332"/>
          </a:xfrm>
          <a:prstGeom prst="rect">
            <a:avLst/>
          </a:prstGeom>
        </p:spPr>
        <p:txBody>
          <a:bodyPr wrap="none">
            <a:spAutoFit/>
          </a:bodyPr>
          <a:lstStyle/>
          <a:p>
            <a:r>
              <a:rPr lang="en-US" altLang="zh-CN" dirty="0"/>
              <a:t>3D</a:t>
            </a:r>
            <a:r>
              <a:rPr lang="zh-CN" altLang="en-US" dirty="0"/>
              <a:t>封面图位置</a:t>
            </a:r>
          </a:p>
        </p:txBody>
      </p:sp>
    </p:spTree>
    <p:extLst>
      <p:ext uri="{BB962C8B-B14F-4D97-AF65-F5344CB8AC3E}">
        <p14:creationId xmlns:p14="http://schemas.microsoft.com/office/powerpoint/2010/main" val="21316923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nvGrpSpPr>
        <p:grpSpPr>
          <a:xfrm>
            <a:off x="428596" y="785006"/>
            <a:ext cx="2409956" cy="3168352"/>
            <a:chOff x="1078816" y="964066"/>
            <a:chExt cx="2222812" cy="2923236"/>
          </a:xfrm>
        </p:grpSpPr>
        <p:sp>
          <p:nvSpPr>
            <p:cNvPr id="54" name="Freeform 7"/>
            <p:cNvSpPr/>
            <p:nvPr/>
          </p:nvSpPr>
          <p:spPr bwMode="auto">
            <a:xfrm>
              <a:off x="1078816" y="2540257"/>
              <a:ext cx="696716" cy="1019561"/>
            </a:xfrm>
            <a:custGeom>
              <a:avLst/>
              <a:gdLst>
                <a:gd name="T0" fmla="*/ 94 w 375"/>
                <a:gd name="T1" fmla="*/ 0 h 549"/>
                <a:gd name="T2" fmla="*/ 11 w 375"/>
                <a:gd name="T3" fmla="*/ 12 h 549"/>
                <a:gd name="T4" fmla="*/ 0 w 375"/>
                <a:gd name="T5" fmla="*/ 127 h 549"/>
                <a:gd name="T6" fmla="*/ 174 w 375"/>
                <a:gd name="T7" fmla="*/ 549 h 549"/>
                <a:gd name="T8" fmla="*/ 375 w 375"/>
                <a:gd name="T9" fmla="*/ 280 h 549"/>
                <a:gd name="T10" fmla="*/ 94 w 375"/>
                <a:gd name="T11" fmla="*/ 0 h 549"/>
              </a:gdLst>
              <a:ahLst/>
              <a:cxnLst>
                <a:cxn ang="0">
                  <a:pos x="T0" y="T1"/>
                </a:cxn>
                <a:cxn ang="0">
                  <a:pos x="T2" y="T3"/>
                </a:cxn>
                <a:cxn ang="0">
                  <a:pos x="T4" y="T5"/>
                </a:cxn>
                <a:cxn ang="0">
                  <a:pos x="T6" y="T7"/>
                </a:cxn>
                <a:cxn ang="0">
                  <a:pos x="T8" y="T9"/>
                </a:cxn>
                <a:cxn ang="0">
                  <a:pos x="T10" y="T11"/>
                </a:cxn>
              </a:cxnLst>
              <a:rect l="0" t="0" r="r" b="b"/>
              <a:pathLst>
                <a:path w="375" h="549">
                  <a:moveTo>
                    <a:pt x="94" y="0"/>
                  </a:moveTo>
                  <a:cubicBezTo>
                    <a:pt x="65" y="0"/>
                    <a:pt x="37" y="4"/>
                    <a:pt x="11" y="12"/>
                  </a:cubicBezTo>
                  <a:cubicBezTo>
                    <a:pt x="3" y="49"/>
                    <a:pt x="0" y="87"/>
                    <a:pt x="0" y="127"/>
                  </a:cubicBezTo>
                  <a:cubicBezTo>
                    <a:pt x="0" y="291"/>
                    <a:pt x="66" y="441"/>
                    <a:pt x="174" y="549"/>
                  </a:cubicBezTo>
                  <a:cubicBezTo>
                    <a:pt x="290" y="514"/>
                    <a:pt x="375" y="407"/>
                    <a:pt x="375" y="280"/>
                  </a:cubicBezTo>
                  <a:cubicBezTo>
                    <a:pt x="375" y="125"/>
                    <a:pt x="249" y="0"/>
                    <a:pt x="94" y="0"/>
                  </a:cubicBezTo>
                  <a:close/>
                </a:path>
              </a:pathLst>
            </a:cu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60" name="Freeform 8"/>
            <p:cNvSpPr/>
            <p:nvPr/>
          </p:nvSpPr>
          <p:spPr bwMode="auto">
            <a:xfrm>
              <a:off x="1088093" y="2231327"/>
              <a:ext cx="600234" cy="615077"/>
            </a:xfrm>
            <a:custGeom>
              <a:avLst/>
              <a:gdLst>
                <a:gd name="T0" fmla="*/ 158 w 323"/>
                <a:gd name="T1" fmla="*/ 0 h 331"/>
                <a:gd name="T2" fmla="*/ 51 w 323"/>
                <a:gd name="T3" fmla="*/ 38 h 331"/>
                <a:gd name="T4" fmla="*/ 0 w 323"/>
                <a:gd name="T5" fmla="*/ 216 h 331"/>
                <a:gd name="T6" fmla="*/ 158 w 323"/>
                <a:gd name="T7" fmla="*/ 331 h 331"/>
                <a:gd name="T8" fmla="*/ 323 w 323"/>
                <a:gd name="T9" fmla="*/ 166 h 331"/>
                <a:gd name="T10" fmla="*/ 158 w 323"/>
                <a:gd name="T11" fmla="*/ 0 h 331"/>
              </a:gdLst>
              <a:ahLst/>
              <a:cxnLst>
                <a:cxn ang="0">
                  <a:pos x="T0" y="T1"/>
                </a:cxn>
                <a:cxn ang="0">
                  <a:pos x="T2" y="T3"/>
                </a:cxn>
                <a:cxn ang="0">
                  <a:pos x="T4" y="T5"/>
                </a:cxn>
                <a:cxn ang="0">
                  <a:pos x="T6" y="T7"/>
                </a:cxn>
                <a:cxn ang="0">
                  <a:pos x="T8" y="T9"/>
                </a:cxn>
                <a:cxn ang="0">
                  <a:pos x="T10" y="T11"/>
                </a:cxn>
              </a:cxnLst>
              <a:rect l="0" t="0" r="r" b="b"/>
              <a:pathLst>
                <a:path w="323" h="331">
                  <a:moveTo>
                    <a:pt x="158" y="0"/>
                  </a:moveTo>
                  <a:cubicBezTo>
                    <a:pt x="117" y="0"/>
                    <a:pt x="80" y="14"/>
                    <a:pt x="51" y="38"/>
                  </a:cubicBezTo>
                  <a:cubicBezTo>
                    <a:pt x="25" y="94"/>
                    <a:pt x="8" y="153"/>
                    <a:pt x="0" y="216"/>
                  </a:cubicBezTo>
                  <a:cubicBezTo>
                    <a:pt x="21" y="283"/>
                    <a:pt x="84" y="331"/>
                    <a:pt x="158" y="331"/>
                  </a:cubicBezTo>
                  <a:cubicBezTo>
                    <a:pt x="249" y="331"/>
                    <a:pt x="323" y="257"/>
                    <a:pt x="323" y="166"/>
                  </a:cubicBezTo>
                  <a:cubicBezTo>
                    <a:pt x="323" y="74"/>
                    <a:pt x="249" y="0"/>
                    <a:pt x="158" y="0"/>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61" name="Oval 9"/>
            <p:cNvSpPr>
              <a:spLocks noChangeArrowheads="1"/>
            </p:cNvSpPr>
            <p:nvPr/>
          </p:nvSpPr>
          <p:spPr bwMode="auto">
            <a:xfrm>
              <a:off x="1530616" y="2179723"/>
              <a:ext cx="506964" cy="507925"/>
            </a:xfrm>
            <a:prstGeom prst="ellipse">
              <a:avLst/>
            </a:prstGeom>
            <a:solidFill>
              <a:schemeClr val="accent5">
                <a:alpha val="70000"/>
              </a:schemeClr>
            </a:solidFill>
            <a:ln>
              <a:noFill/>
            </a:ln>
          </p:spPr>
          <p:txBody>
            <a:bodyPr vert="horz" wrap="square" lIns="91440" tIns="45720" rIns="91440" bIns="45720" numCol="1" anchor="t" anchorCtr="0" compatLnSpc="1"/>
            <a:lstStyle/>
            <a:p>
              <a:endParaRPr lang="zh-CN" altLang="en-US"/>
            </a:p>
          </p:txBody>
        </p:sp>
        <p:sp>
          <p:nvSpPr>
            <p:cNvPr id="62" name="Oval 10"/>
            <p:cNvSpPr>
              <a:spLocks noChangeArrowheads="1"/>
            </p:cNvSpPr>
            <p:nvPr/>
          </p:nvSpPr>
          <p:spPr bwMode="auto">
            <a:xfrm>
              <a:off x="2050137" y="1993832"/>
              <a:ext cx="576113" cy="574257"/>
            </a:xfrm>
            <a:prstGeom prst="ellipse">
              <a:avLst/>
            </a:pr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63" name="Oval 11"/>
            <p:cNvSpPr>
              <a:spLocks noChangeArrowheads="1"/>
            </p:cNvSpPr>
            <p:nvPr/>
          </p:nvSpPr>
          <p:spPr bwMode="auto">
            <a:xfrm>
              <a:off x="1688327" y="1950229"/>
              <a:ext cx="413762" cy="412834"/>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64" name="Oval 12"/>
            <p:cNvSpPr>
              <a:spLocks noChangeArrowheads="1"/>
            </p:cNvSpPr>
            <p:nvPr/>
          </p:nvSpPr>
          <p:spPr bwMode="auto">
            <a:xfrm>
              <a:off x="1955510" y="1555021"/>
              <a:ext cx="256050" cy="256050"/>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65" name="Oval 13"/>
            <p:cNvSpPr>
              <a:spLocks noChangeArrowheads="1"/>
            </p:cNvSpPr>
            <p:nvPr/>
          </p:nvSpPr>
          <p:spPr bwMode="auto">
            <a:xfrm>
              <a:off x="2389682" y="1158887"/>
              <a:ext cx="86278" cy="87205"/>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66" name="Oval 14"/>
            <p:cNvSpPr>
              <a:spLocks noChangeArrowheads="1"/>
            </p:cNvSpPr>
            <p:nvPr/>
          </p:nvSpPr>
          <p:spPr bwMode="auto">
            <a:xfrm>
              <a:off x="1532470" y="1755408"/>
              <a:ext cx="85350" cy="85350"/>
            </a:xfrm>
            <a:prstGeom prst="ellipse">
              <a:avLst/>
            </a:pr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67" name="Oval 15"/>
            <p:cNvSpPr>
              <a:spLocks noChangeArrowheads="1"/>
            </p:cNvSpPr>
            <p:nvPr/>
          </p:nvSpPr>
          <p:spPr bwMode="auto">
            <a:xfrm>
              <a:off x="2068691" y="1905698"/>
              <a:ext cx="87205" cy="88133"/>
            </a:xfrm>
            <a:prstGeom prst="ellipse">
              <a:avLst/>
            </a:prstGeom>
            <a:solidFill>
              <a:schemeClr val="accent1">
                <a:alpha val="80000"/>
              </a:schemeClr>
            </a:solidFill>
            <a:ln>
              <a:noFill/>
            </a:ln>
          </p:spPr>
          <p:txBody>
            <a:bodyPr vert="horz" wrap="square" lIns="91440" tIns="45720" rIns="91440" bIns="45720" numCol="1" anchor="t" anchorCtr="0" compatLnSpc="1"/>
            <a:lstStyle/>
            <a:p>
              <a:endParaRPr lang="zh-CN" altLang="en-US"/>
            </a:p>
          </p:txBody>
        </p:sp>
        <p:sp>
          <p:nvSpPr>
            <p:cNvPr id="68" name="Freeform 16"/>
            <p:cNvSpPr/>
            <p:nvPr/>
          </p:nvSpPr>
          <p:spPr bwMode="auto">
            <a:xfrm>
              <a:off x="1673483" y="1653359"/>
              <a:ext cx="376653" cy="377581"/>
            </a:xfrm>
            <a:custGeom>
              <a:avLst/>
              <a:gdLst>
                <a:gd name="T0" fmla="*/ 201 w 203"/>
                <a:gd name="T1" fmla="*/ 98 h 203"/>
                <a:gd name="T2" fmla="*/ 105 w 203"/>
                <a:gd name="T3" fmla="*/ 201 h 203"/>
                <a:gd name="T4" fmla="*/ 1 w 203"/>
                <a:gd name="T5" fmla="*/ 105 h 203"/>
                <a:gd name="T6" fmla="*/ 98 w 203"/>
                <a:gd name="T7" fmla="*/ 1 h 203"/>
                <a:gd name="T8" fmla="*/ 201 w 203"/>
                <a:gd name="T9" fmla="*/ 98 h 203"/>
              </a:gdLst>
              <a:ahLst/>
              <a:cxnLst>
                <a:cxn ang="0">
                  <a:pos x="T0" y="T1"/>
                </a:cxn>
                <a:cxn ang="0">
                  <a:pos x="T2" y="T3"/>
                </a:cxn>
                <a:cxn ang="0">
                  <a:pos x="T4" y="T5"/>
                </a:cxn>
                <a:cxn ang="0">
                  <a:pos x="T6" y="T7"/>
                </a:cxn>
                <a:cxn ang="0">
                  <a:pos x="T8" y="T9"/>
                </a:cxn>
              </a:cxnLst>
              <a:rect l="0" t="0" r="r" b="b"/>
              <a:pathLst>
                <a:path w="203" h="203">
                  <a:moveTo>
                    <a:pt x="201" y="98"/>
                  </a:moveTo>
                  <a:cubicBezTo>
                    <a:pt x="203" y="153"/>
                    <a:pt x="160" y="200"/>
                    <a:pt x="105" y="201"/>
                  </a:cubicBezTo>
                  <a:cubicBezTo>
                    <a:pt x="49" y="203"/>
                    <a:pt x="3" y="160"/>
                    <a:pt x="1" y="105"/>
                  </a:cubicBezTo>
                  <a:cubicBezTo>
                    <a:pt x="0" y="49"/>
                    <a:pt x="43" y="3"/>
                    <a:pt x="98" y="1"/>
                  </a:cubicBezTo>
                  <a:cubicBezTo>
                    <a:pt x="153" y="0"/>
                    <a:pt x="200" y="43"/>
                    <a:pt x="201" y="98"/>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69" name="Oval 17"/>
            <p:cNvSpPr>
              <a:spLocks noChangeArrowheads="1"/>
            </p:cNvSpPr>
            <p:nvPr/>
          </p:nvSpPr>
          <p:spPr bwMode="auto">
            <a:xfrm>
              <a:off x="1504639" y="1901988"/>
              <a:ext cx="141013" cy="143796"/>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70" name="Oval 18"/>
            <p:cNvSpPr>
              <a:spLocks noChangeArrowheads="1"/>
            </p:cNvSpPr>
            <p:nvPr/>
          </p:nvSpPr>
          <p:spPr bwMode="auto">
            <a:xfrm>
              <a:off x="2167029" y="964066"/>
              <a:ext cx="142869" cy="142868"/>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71" name="Oval 19"/>
            <p:cNvSpPr>
              <a:spLocks noChangeArrowheads="1"/>
            </p:cNvSpPr>
            <p:nvPr/>
          </p:nvSpPr>
          <p:spPr bwMode="auto">
            <a:xfrm>
              <a:off x="2276500" y="1307321"/>
              <a:ext cx="312641" cy="312641"/>
            </a:xfrm>
            <a:prstGeom prst="ellipse">
              <a:avLst/>
            </a:pr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72" name="Oval 20"/>
            <p:cNvSpPr>
              <a:spLocks noChangeArrowheads="1"/>
            </p:cNvSpPr>
            <p:nvPr/>
          </p:nvSpPr>
          <p:spPr bwMode="auto">
            <a:xfrm>
              <a:off x="2276500" y="1816638"/>
              <a:ext cx="312641" cy="314496"/>
            </a:xfrm>
            <a:prstGeom prst="ellipse">
              <a:avLst/>
            </a:pr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73" name="Oval 21"/>
            <p:cNvSpPr>
              <a:spLocks noChangeArrowheads="1"/>
            </p:cNvSpPr>
            <p:nvPr/>
          </p:nvSpPr>
          <p:spPr bwMode="auto">
            <a:xfrm>
              <a:off x="2754274" y="1514202"/>
              <a:ext cx="141013" cy="141013"/>
            </a:xfrm>
            <a:prstGeom prst="ellipse">
              <a:avLst/>
            </a:pr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74" name="Freeform 22"/>
            <p:cNvSpPr/>
            <p:nvPr/>
          </p:nvSpPr>
          <p:spPr bwMode="auto">
            <a:xfrm>
              <a:off x="2947240" y="2064338"/>
              <a:ext cx="348822" cy="600233"/>
            </a:xfrm>
            <a:custGeom>
              <a:avLst/>
              <a:gdLst>
                <a:gd name="T0" fmla="*/ 0 w 188"/>
                <a:gd name="T1" fmla="*/ 132 h 323"/>
                <a:gd name="T2" fmla="*/ 188 w 188"/>
                <a:gd name="T3" fmla="*/ 323 h 323"/>
                <a:gd name="T4" fmla="*/ 53 w 188"/>
                <a:gd name="T5" fmla="*/ 0 h 323"/>
                <a:gd name="T6" fmla="*/ 0 w 188"/>
                <a:gd name="T7" fmla="*/ 132 h 323"/>
              </a:gdLst>
              <a:ahLst/>
              <a:cxnLst>
                <a:cxn ang="0">
                  <a:pos x="T0" y="T1"/>
                </a:cxn>
                <a:cxn ang="0">
                  <a:pos x="T2" y="T3"/>
                </a:cxn>
                <a:cxn ang="0">
                  <a:pos x="T4" y="T5"/>
                </a:cxn>
                <a:cxn ang="0">
                  <a:pos x="T6" y="T7"/>
                </a:cxn>
              </a:cxnLst>
              <a:rect l="0" t="0" r="r" b="b"/>
              <a:pathLst>
                <a:path w="188" h="323">
                  <a:moveTo>
                    <a:pt x="0" y="132"/>
                  </a:moveTo>
                  <a:cubicBezTo>
                    <a:pt x="0" y="237"/>
                    <a:pt x="84" y="321"/>
                    <a:pt x="188" y="323"/>
                  </a:cubicBezTo>
                  <a:cubicBezTo>
                    <a:pt x="176" y="201"/>
                    <a:pt x="127" y="89"/>
                    <a:pt x="53" y="0"/>
                  </a:cubicBezTo>
                  <a:cubicBezTo>
                    <a:pt x="20" y="34"/>
                    <a:pt x="0" y="81"/>
                    <a:pt x="0" y="132"/>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75" name="Freeform 23"/>
            <p:cNvSpPr/>
            <p:nvPr/>
          </p:nvSpPr>
          <p:spPr bwMode="auto">
            <a:xfrm>
              <a:off x="2563165" y="2261014"/>
              <a:ext cx="738463" cy="894319"/>
            </a:xfrm>
            <a:custGeom>
              <a:avLst/>
              <a:gdLst>
                <a:gd name="T0" fmla="*/ 0 w 398"/>
                <a:gd name="T1" fmla="*/ 241 h 481"/>
                <a:gd name="T2" fmla="*/ 241 w 398"/>
                <a:gd name="T3" fmla="*/ 481 h 481"/>
                <a:gd name="T4" fmla="*/ 375 w 398"/>
                <a:gd name="T5" fmla="*/ 440 h 481"/>
                <a:gd name="T6" fmla="*/ 398 w 398"/>
                <a:gd name="T7" fmla="*/ 277 h 481"/>
                <a:gd name="T8" fmla="*/ 342 w 398"/>
                <a:gd name="T9" fmla="*/ 22 h 481"/>
                <a:gd name="T10" fmla="*/ 241 w 398"/>
                <a:gd name="T11" fmla="*/ 0 h 481"/>
                <a:gd name="T12" fmla="*/ 0 w 398"/>
                <a:gd name="T13" fmla="*/ 241 h 481"/>
              </a:gdLst>
              <a:ahLst/>
              <a:cxnLst>
                <a:cxn ang="0">
                  <a:pos x="T0" y="T1"/>
                </a:cxn>
                <a:cxn ang="0">
                  <a:pos x="T2" y="T3"/>
                </a:cxn>
                <a:cxn ang="0">
                  <a:pos x="T4" y="T5"/>
                </a:cxn>
                <a:cxn ang="0">
                  <a:pos x="T6" y="T7"/>
                </a:cxn>
                <a:cxn ang="0">
                  <a:pos x="T8" y="T9"/>
                </a:cxn>
                <a:cxn ang="0">
                  <a:pos x="T10" y="T11"/>
                </a:cxn>
                <a:cxn ang="0">
                  <a:pos x="T12" y="T13"/>
                </a:cxn>
              </a:cxnLst>
              <a:rect l="0" t="0" r="r" b="b"/>
              <a:pathLst>
                <a:path w="398" h="481">
                  <a:moveTo>
                    <a:pt x="0" y="241"/>
                  </a:moveTo>
                  <a:cubicBezTo>
                    <a:pt x="0" y="374"/>
                    <a:pt x="108" y="481"/>
                    <a:pt x="241" y="481"/>
                  </a:cubicBezTo>
                  <a:cubicBezTo>
                    <a:pt x="291" y="481"/>
                    <a:pt x="337" y="466"/>
                    <a:pt x="375" y="440"/>
                  </a:cubicBezTo>
                  <a:cubicBezTo>
                    <a:pt x="390" y="388"/>
                    <a:pt x="398" y="333"/>
                    <a:pt x="398" y="277"/>
                  </a:cubicBezTo>
                  <a:cubicBezTo>
                    <a:pt x="398" y="186"/>
                    <a:pt x="378" y="100"/>
                    <a:pt x="342" y="22"/>
                  </a:cubicBezTo>
                  <a:cubicBezTo>
                    <a:pt x="311" y="8"/>
                    <a:pt x="277" y="0"/>
                    <a:pt x="241" y="0"/>
                  </a:cubicBezTo>
                  <a:cubicBezTo>
                    <a:pt x="108" y="0"/>
                    <a:pt x="0" y="108"/>
                    <a:pt x="0" y="241"/>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76" name="Freeform 24"/>
            <p:cNvSpPr/>
            <p:nvPr/>
          </p:nvSpPr>
          <p:spPr bwMode="auto">
            <a:xfrm>
              <a:off x="2574297" y="2261014"/>
              <a:ext cx="415618" cy="355316"/>
            </a:xfrm>
            <a:custGeom>
              <a:avLst/>
              <a:gdLst>
                <a:gd name="T0" fmla="*/ 0 w 224"/>
                <a:gd name="T1" fmla="*/ 188 h 191"/>
                <a:gd name="T2" fmla="*/ 33 w 224"/>
                <a:gd name="T3" fmla="*/ 191 h 191"/>
                <a:gd name="T4" fmla="*/ 224 w 224"/>
                <a:gd name="T5" fmla="*/ 0 h 191"/>
                <a:gd name="T6" fmla="*/ 0 w 224"/>
                <a:gd name="T7" fmla="*/ 188 h 191"/>
              </a:gdLst>
              <a:ahLst/>
              <a:cxnLst>
                <a:cxn ang="0">
                  <a:pos x="T0" y="T1"/>
                </a:cxn>
                <a:cxn ang="0">
                  <a:pos x="T2" y="T3"/>
                </a:cxn>
                <a:cxn ang="0">
                  <a:pos x="T4" y="T5"/>
                </a:cxn>
                <a:cxn ang="0">
                  <a:pos x="T6" y="T7"/>
                </a:cxn>
              </a:cxnLst>
              <a:rect l="0" t="0" r="r" b="b"/>
              <a:pathLst>
                <a:path w="224" h="191">
                  <a:moveTo>
                    <a:pt x="0" y="188"/>
                  </a:moveTo>
                  <a:cubicBezTo>
                    <a:pt x="11" y="190"/>
                    <a:pt x="22" y="191"/>
                    <a:pt x="33" y="191"/>
                  </a:cubicBezTo>
                  <a:cubicBezTo>
                    <a:pt x="138" y="191"/>
                    <a:pt x="224" y="106"/>
                    <a:pt x="224" y="0"/>
                  </a:cubicBezTo>
                  <a:cubicBezTo>
                    <a:pt x="114" y="5"/>
                    <a:pt x="23" y="84"/>
                    <a:pt x="0" y="188"/>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77" name="Freeform 25"/>
            <p:cNvSpPr/>
            <p:nvPr/>
          </p:nvSpPr>
          <p:spPr bwMode="auto">
            <a:xfrm>
              <a:off x="2840364" y="3083913"/>
              <a:ext cx="420165" cy="581208"/>
            </a:xfrm>
            <a:custGeom>
              <a:avLst/>
              <a:gdLst>
                <a:gd name="T0" fmla="*/ 224 w 224"/>
                <a:gd name="T1" fmla="*/ 0 h 310"/>
                <a:gd name="T2" fmla="*/ 0 w 224"/>
                <a:gd name="T3" fmla="*/ 240 h 310"/>
                <a:gd name="T4" fmla="*/ 11 w 224"/>
                <a:gd name="T5" fmla="*/ 310 h 310"/>
                <a:gd name="T6" fmla="*/ 224 w 224"/>
                <a:gd name="T7" fmla="*/ 0 h 310"/>
              </a:gdLst>
              <a:ahLst/>
              <a:cxnLst>
                <a:cxn ang="0">
                  <a:pos x="T0" y="T1"/>
                </a:cxn>
                <a:cxn ang="0">
                  <a:pos x="T2" y="T3"/>
                </a:cxn>
                <a:cxn ang="0">
                  <a:pos x="T4" y="T5"/>
                </a:cxn>
                <a:cxn ang="0">
                  <a:pos x="T6" y="T7"/>
                </a:cxn>
              </a:cxnLst>
              <a:rect l="0" t="0" r="r" b="b"/>
              <a:pathLst>
                <a:path w="224" h="310">
                  <a:moveTo>
                    <a:pt x="224" y="0"/>
                  </a:moveTo>
                  <a:cubicBezTo>
                    <a:pt x="99" y="9"/>
                    <a:pt x="0" y="113"/>
                    <a:pt x="0" y="240"/>
                  </a:cubicBezTo>
                  <a:cubicBezTo>
                    <a:pt x="0" y="265"/>
                    <a:pt x="4" y="288"/>
                    <a:pt x="11" y="310"/>
                  </a:cubicBezTo>
                  <a:cubicBezTo>
                    <a:pt x="112" y="233"/>
                    <a:pt x="187" y="125"/>
                    <a:pt x="224" y="0"/>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78" name="Freeform 26"/>
            <p:cNvSpPr/>
            <p:nvPr/>
          </p:nvSpPr>
          <p:spPr bwMode="auto">
            <a:xfrm>
              <a:off x="1104792" y="3017103"/>
              <a:ext cx="615077" cy="753306"/>
            </a:xfrm>
            <a:custGeom>
              <a:avLst/>
              <a:gdLst>
                <a:gd name="T0" fmla="*/ 22 w 331"/>
                <a:gd name="T1" fmla="*/ 0 h 405"/>
                <a:gd name="T2" fmla="*/ 0 w 331"/>
                <a:gd name="T3" fmla="*/ 0 h 405"/>
                <a:gd name="T4" fmla="*/ 316 w 331"/>
                <a:gd name="T5" fmla="*/ 405 h 405"/>
                <a:gd name="T6" fmla="*/ 331 w 331"/>
                <a:gd name="T7" fmla="*/ 309 h 405"/>
                <a:gd name="T8" fmla="*/ 22 w 331"/>
                <a:gd name="T9" fmla="*/ 0 h 405"/>
              </a:gdLst>
              <a:ahLst/>
              <a:cxnLst>
                <a:cxn ang="0">
                  <a:pos x="T0" y="T1"/>
                </a:cxn>
                <a:cxn ang="0">
                  <a:pos x="T2" y="T3"/>
                </a:cxn>
                <a:cxn ang="0">
                  <a:pos x="T4" y="T5"/>
                </a:cxn>
                <a:cxn ang="0">
                  <a:pos x="T6" y="T7"/>
                </a:cxn>
                <a:cxn ang="0">
                  <a:pos x="T8" y="T9"/>
                </a:cxn>
              </a:cxnLst>
              <a:rect l="0" t="0" r="r" b="b"/>
              <a:pathLst>
                <a:path w="331" h="405">
                  <a:moveTo>
                    <a:pt x="22" y="0"/>
                  </a:moveTo>
                  <a:cubicBezTo>
                    <a:pt x="14" y="0"/>
                    <a:pt x="7" y="0"/>
                    <a:pt x="0" y="0"/>
                  </a:cubicBezTo>
                  <a:cubicBezTo>
                    <a:pt x="40" y="178"/>
                    <a:pt x="158" y="325"/>
                    <a:pt x="316" y="405"/>
                  </a:cubicBezTo>
                  <a:cubicBezTo>
                    <a:pt x="326" y="375"/>
                    <a:pt x="331" y="343"/>
                    <a:pt x="331" y="309"/>
                  </a:cubicBezTo>
                  <a:cubicBezTo>
                    <a:pt x="331" y="138"/>
                    <a:pt x="193" y="0"/>
                    <a:pt x="22" y="0"/>
                  </a:cubicBezTo>
                  <a:close/>
                </a:path>
              </a:pathLst>
            </a:cu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79" name="Freeform 27"/>
            <p:cNvSpPr/>
            <p:nvPr/>
          </p:nvSpPr>
          <p:spPr bwMode="auto">
            <a:xfrm>
              <a:off x="1406301" y="2974428"/>
              <a:ext cx="1229226" cy="912874"/>
            </a:xfrm>
            <a:custGeom>
              <a:avLst/>
              <a:gdLst>
                <a:gd name="T0" fmla="*/ 331 w 662"/>
                <a:gd name="T1" fmla="*/ 0 h 491"/>
                <a:gd name="T2" fmla="*/ 0 w 662"/>
                <a:gd name="T3" fmla="*/ 317 h 491"/>
                <a:gd name="T4" fmla="*/ 422 w 662"/>
                <a:gd name="T5" fmla="*/ 491 h 491"/>
                <a:gd name="T6" fmla="*/ 639 w 662"/>
                <a:gd name="T7" fmla="*/ 451 h 491"/>
                <a:gd name="T8" fmla="*/ 662 w 662"/>
                <a:gd name="T9" fmla="*/ 331 h 491"/>
                <a:gd name="T10" fmla="*/ 331 w 662"/>
                <a:gd name="T11" fmla="*/ 0 h 491"/>
              </a:gdLst>
              <a:ahLst/>
              <a:cxnLst>
                <a:cxn ang="0">
                  <a:pos x="T0" y="T1"/>
                </a:cxn>
                <a:cxn ang="0">
                  <a:pos x="T2" y="T3"/>
                </a:cxn>
                <a:cxn ang="0">
                  <a:pos x="T4" y="T5"/>
                </a:cxn>
                <a:cxn ang="0">
                  <a:pos x="T6" y="T7"/>
                </a:cxn>
                <a:cxn ang="0">
                  <a:pos x="T8" y="T9"/>
                </a:cxn>
                <a:cxn ang="0">
                  <a:pos x="T10" y="T11"/>
                </a:cxn>
              </a:cxnLst>
              <a:rect l="0" t="0" r="r" b="b"/>
              <a:pathLst>
                <a:path w="662" h="491">
                  <a:moveTo>
                    <a:pt x="331" y="0"/>
                  </a:moveTo>
                  <a:cubicBezTo>
                    <a:pt x="153" y="0"/>
                    <a:pt x="7" y="141"/>
                    <a:pt x="0" y="317"/>
                  </a:cubicBezTo>
                  <a:cubicBezTo>
                    <a:pt x="108" y="425"/>
                    <a:pt x="258" y="491"/>
                    <a:pt x="422" y="491"/>
                  </a:cubicBezTo>
                  <a:cubicBezTo>
                    <a:pt x="499" y="491"/>
                    <a:pt x="572" y="477"/>
                    <a:pt x="639" y="451"/>
                  </a:cubicBezTo>
                  <a:cubicBezTo>
                    <a:pt x="654" y="414"/>
                    <a:pt x="662" y="373"/>
                    <a:pt x="662" y="331"/>
                  </a:cubicBezTo>
                  <a:cubicBezTo>
                    <a:pt x="662" y="148"/>
                    <a:pt x="514" y="0"/>
                    <a:pt x="331" y="0"/>
                  </a:cubicBezTo>
                  <a:close/>
                </a:path>
              </a:pathLst>
            </a:cu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80" name="Freeform 28"/>
            <p:cNvSpPr/>
            <p:nvPr/>
          </p:nvSpPr>
          <p:spPr bwMode="auto">
            <a:xfrm>
              <a:off x="2335874" y="2933609"/>
              <a:ext cx="874838" cy="872054"/>
            </a:xfrm>
            <a:custGeom>
              <a:avLst/>
              <a:gdLst>
                <a:gd name="T0" fmla="*/ 471 w 471"/>
                <a:gd name="T1" fmla="*/ 153 h 469"/>
                <a:gd name="T2" fmla="*/ 244 w 471"/>
                <a:gd name="T3" fmla="*/ 0 h 469"/>
                <a:gd name="T4" fmla="*/ 0 w 471"/>
                <a:gd name="T5" fmla="*/ 244 h 469"/>
                <a:gd name="T6" fmla="*/ 149 w 471"/>
                <a:gd name="T7" fmla="*/ 469 h 469"/>
                <a:gd name="T8" fmla="*/ 471 w 471"/>
                <a:gd name="T9" fmla="*/ 153 h 469"/>
              </a:gdLst>
              <a:ahLst/>
              <a:cxnLst>
                <a:cxn ang="0">
                  <a:pos x="T0" y="T1"/>
                </a:cxn>
                <a:cxn ang="0">
                  <a:pos x="T2" y="T3"/>
                </a:cxn>
                <a:cxn ang="0">
                  <a:pos x="T4" y="T5"/>
                </a:cxn>
                <a:cxn ang="0">
                  <a:pos x="T6" y="T7"/>
                </a:cxn>
                <a:cxn ang="0">
                  <a:pos x="T8" y="T9"/>
                </a:cxn>
              </a:cxnLst>
              <a:rect l="0" t="0" r="r" b="b"/>
              <a:pathLst>
                <a:path w="471" h="469">
                  <a:moveTo>
                    <a:pt x="471" y="153"/>
                  </a:moveTo>
                  <a:cubicBezTo>
                    <a:pt x="435" y="63"/>
                    <a:pt x="347" y="0"/>
                    <a:pt x="244" y="0"/>
                  </a:cubicBezTo>
                  <a:cubicBezTo>
                    <a:pt x="109" y="0"/>
                    <a:pt x="0" y="109"/>
                    <a:pt x="0" y="244"/>
                  </a:cubicBezTo>
                  <a:cubicBezTo>
                    <a:pt x="0" y="345"/>
                    <a:pt x="61" y="432"/>
                    <a:pt x="149" y="469"/>
                  </a:cubicBezTo>
                  <a:cubicBezTo>
                    <a:pt x="293" y="410"/>
                    <a:pt x="409" y="296"/>
                    <a:pt x="471" y="153"/>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81" name="Oval 30"/>
            <p:cNvSpPr>
              <a:spLocks noChangeArrowheads="1"/>
            </p:cNvSpPr>
            <p:nvPr/>
          </p:nvSpPr>
          <p:spPr bwMode="auto">
            <a:xfrm>
              <a:off x="2540899" y="1675625"/>
              <a:ext cx="493546" cy="496329"/>
            </a:xfrm>
            <a:prstGeom prst="ellipse">
              <a:avLst/>
            </a:prstGeom>
            <a:solidFill>
              <a:schemeClr val="accent2">
                <a:alpha val="70000"/>
              </a:schemeClr>
            </a:solidFill>
            <a:ln>
              <a:noFill/>
            </a:ln>
          </p:spPr>
          <p:txBody>
            <a:bodyPr vert="horz" wrap="square" lIns="91440" tIns="45720" rIns="91440" bIns="45720" numCol="1" anchor="t" anchorCtr="0" compatLnSpc="1"/>
            <a:lstStyle/>
            <a:p>
              <a:endParaRPr lang="zh-CN" altLang="en-US"/>
            </a:p>
          </p:txBody>
        </p:sp>
        <p:sp>
          <p:nvSpPr>
            <p:cNvPr id="82" name="Oval 11"/>
            <p:cNvSpPr>
              <a:spLocks noChangeArrowheads="1"/>
            </p:cNvSpPr>
            <p:nvPr/>
          </p:nvSpPr>
          <p:spPr bwMode="auto">
            <a:xfrm>
              <a:off x="1833627" y="2696302"/>
              <a:ext cx="557332" cy="556080"/>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83" name="Oval 11"/>
            <p:cNvSpPr>
              <a:spLocks noChangeArrowheads="1"/>
            </p:cNvSpPr>
            <p:nvPr/>
          </p:nvSpPr>
          <p:spPr bwMode="auto">
            <a:xfrm>
              <a:off x="2226489" y="2491874"/>
              <a:ext cx="249471" cy="248912"/>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grpSp>
      <p:sp>
        <p:nvSpPr>
          <p:cNvPr id="84" name="椭圆 83"/>
          <p:cNvSpPr/>
          <p:nvPr/>
        </p:nvSpPr>
        <p:spPr>
          <a:xfrm>
            <a:off x="755576" y="2066900"/>
            <a:ext cx="1262648" cy="1262250"/>
          </a:xfrm>
          <a:prstGeom prst="ellipse">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TextBox 28"/>
          <p:cNvSpPr txBox="1"/>
          <p:nvPr/>
        </p:nvSpPr>
        <p:spPr>
          <a:xfrm>
            <a:off x="827584" y="2498948"/>
            <a:ext cx="1028054" cy="369332"/>
          </a:xfrm>
          <a:prstGeom prst="rect">
            <a:avLst/>
          </a:prstGeom>
          <a:noFill/>
        </p:spPr>
        <p:txBody>
          <a:bodyPr wrap="square" lIns="0" tIns="0" rIns="0" bIns="0" rtlCol="0">
            <a:spAutoFit/>
          </a:bodyPr>
          <a:lstStyle/>
          <a:p>
            <a:pPr algn="ctr"/>
            <a:r>
              <a:rPr lang="zh-CN" altLang="en-US" sz="2400" b="1" dirty="0">
                <a:ln w="6350">
                  <a:noFill/>
                </a:ln>
                <a:solidFill>
                  <a:schemeClr val="accent1"/>
                </a:solidFill>
                <a:latin typeface="宋体" pitchFamily="2" charset="-122"/>
                <a:ea typeface="宋体" pitchFamily="2" charset="-122"/>
              </a:rPr>
              <a:t>目录</a:t>
            </a:r>
            <a:endParaRPr lang="zh-CN" altLang="en-US" sz="2400" b="1" dirty="0">
              <a:ln w="6350">
                <a:noFill/>
              </a:ln>
              <a:solidFill>
                <a:schemeClr val="bg1">
                  <a:lumMod val="50000"/>
                </a:schemeClr>
              </a:solidFill>
              <a:latin typeface="宋体" pitchFamily="2" charset="-122"/>
              <a:ea typeface="宋体" pitchFamily="2" charset="-122"/>
              <a:cs typeface="Arial" pitchFamily="34" charset="0"/>
            </a:endParaRPr>
          </a:p>
        </p:txBody>
      </p:sp>
      <p:sp>
        <p:nvSpPr>
          <p:cNvPr id="50" name="内容占位符 2"/>
          <p:cNvSpPr txBox="1"/>
          <p:nvPr/>
        </p:nvSpPr>
        <p:spPr>
          <a:xfrm>
            <a:off x="3071802" y="427816"/>
            <a:ext cx="5072098" cy="430528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01</a:t>
            </a:r>
            <a:r>
              <a:rPr lang="zh-CN" altLang="en-US" sz="1800" dirty="0">
                <a:latin typeface="宋体" pitchFamily="2" charset="-122"/>
                <a:ea typeface="宋体" pitchFamily="2" charset="-122"/>
              </a:rPr>
              <a:t>章 风险管理基础</a:t>
            </a:r>
            <a:endParaRPr lang="en-US" altLang="zh-CN" sz="1800" dirty="0">
              <a:latin typeface="宋体" pitchFamily="2" charset="-122"/>
              <a:ea typeface="宋体" pitchFamily="2" charset="-122"/>
            </a:endParaRPr>
          </a:p>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02</a:t>
            </a:r>
            <a:r>
              <a:rPr lang="zh-CN" altLang="en-US" sz="1800" dirty="0">
                <a:latin typeface="宋体" pitchFamily="2" charset="-122"/>
                <a:ea typeface="宋体" pitchFamily="2" charset="-122"/>
              </a:rPr>
              <a:t>章 风险收益数理基础</a:t>
            </a:r>
            <a:endParaRPr lang="en-US" altLang="zh-CN" sz="1800" dirty="0">
              <a:latin typeface="宋体" pitchFamily="2" charset="-122"/>
              <a:ea typeface="宋体" pitchFamily="2" charset="-122"/>
            </a:endParaRPr>
          </a:p>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03</a:t>
            </a:r>
            <a:r>
              <a:rPr lang="zh-CN" altLang="en-US" sz="1800" dirty="0">
                <a:latin typeface="宋体" pitchFamily="2" charset="-122"/>
                <a:ea typeface="宋体" pitchFamily="2" charset="-122"/>
              </a:rPr>
              <a:t>章 投资组合与资本资产定价模型</a:t>
            </a:r>
            <a:endParaRPr lang="en-US" altLang="zh-CN" sz="1800" dirty="0">
              <a:latin typeface="宋体" pitchFamily="2" charset="-122"/>
              <a:ea typeface="宋体" pitchFamily="2" charset="-122"/>
            </a:endParaRPr>
          </a:p>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04</a:t>
            </a:r>
            <a:r>
              <a:rPr lang="zh-CN" altLang="en-US" sz="1800" dirty="0">
                <a:latin typeface="宋体" pitchFamily="2" charset="-122"/>
                <a:ea typeface="宋体" pitchFamily="2" charset="-122"/>
              </a:rPr>
              <a:t>章 在险价值</a:t>
            </a:r>
            <a:r>
              <a:rPr lang="en-US" altLang="zh-CN" sz="1800" dirty="0" err="1">
                <a:latin typeface="宋体" pitchFamily="2" charset="-122"/>
                <a:ea typeface="宋体" pitchFamily="2" charset="-122"/>
              </a:rPr>
              <a:t>VaR</a:t>
            </a:r>
            <a:endParaRPr lang="en-US" altLang="zh-CN" sz="1800" dirty="0">
              <a:latin typeface="宋体" pitchFamily="2" charset="-122"/>
              <a:ea typeface="宋体" pitchFamily="2" charset="-122"/>
            </a:endParaRPr>
          </a:p>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05</a:t>
            </a:r>
            <a:r>
              <a:rPr lang="zh-CN" altLang="en-US" sz="1800" dirty="0">
                <a:latin typeface="宋体" pitchFamily="2" charset="-122"/>
                <a:ea typeface="宋体" pitchFamily="2" charset="-122"/>
              </a:rPr>
              <a:t>章 风险因子建模</a:t>
            </a:r>
            <a:endParaRPr lang="en-US" altLang="zh-CN" sz="1800" dirty="0">
              <a:latin typeface="宋体" pitchFamily="2" charset="-122"/>
              <a:ea typeface="宋体" pitchFamily="2" charset="-122"/>
            </a:endParaRPr>
          </a:p>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06</a:t>
            </a:r>
            <a:r>
              <a:rPr lang="zh-CN" altLang="en-US" sz="1800" dirty="0">
                <a:latin typeface="宋体" pitchFamily="2" charset="-122"/>
                <a:ea typeface="宋体" pitchFamily="2" charset="-122"/>
              </a:rPr>
              <a:t>章 债券风险管理</a:t>
            </a:r>
            <a:endParaRPr lang="en-US" altLang="zh-CN" sz="1800" dirty="0">
              <a:latin typeface="宋体" pitchFamily="2" charset="-122"/>
              <a:ea typeface="宋体" pitchFamily="2" charset="-122"/>
            </a:endParaRPr>
          </a:p>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07</a:t>
            </a:r>
            <a:r>
              <a:rPr lang="zh-CN" altLang="en-US" sz="1800" dirty="0">
                <a:latin typeface="宋体" pitchFamily="2" charset="-122"/>
                <a:ea typeface="宋体" pitchFamily="2" charset="-122"/>
              </a:rPr>
              <a:t>章 金融衍生品风险管理</a:t>
            </a:r>
            <a:endParaRPr lang="en-US" altLang="zh-CN" sz="1800" dirty="0">
              <a:latin typeface="宋体" pitchFamily="2" charset="-122"/>
              <a:ea typeface="宋体" pitchFamily="2" charset="-122"/>
            </a:endParaRPr>
          </a:p>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08</a:t>
            </a:r>
            <a:r>
              <a:rPr lang="zh-CN" altLang="en-US" sz="1800" dirty="0">
                <a:latin typeface="宋体" pitchFamily="2" charset="-122"/>
                <a:ea typeface="宋体" pitchFamily="2" charset="-122"/>
              </a:rPr>
              <a:t>章 巴塞尔协议与商业银行资本管理</a:t>
            </a:r>
            <a:endParaRPr lang="en-US" altLang="zh-CN" sz="1800" dirty="0">
              <a:latin typeface="宋体" pitchFamily="2" charset="-122"/>
              <a:ea typeface="宋体" pitchFamily="2" charset="-122"/>
            </a:endParaRPr>
          </a:p>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09</a:t>
            </a:r>
            <a:r>
              <a:rPr lang="zh-CN" altLang="en-US" sz="1800" dirty="0">
                <a:latin typeface="宋体" pitchFamily="2" charset="-122"/>
                <a:ea typeface="宋体" pitchFamily="2" charset="-122"/>
              </a:rPr>
              <a:t>章 信用风险管理</a:t>
            </a:r>
            <a:endParaRPr lang="en-US" altLang="zh-CN" sz="1800" dirty="0">
              <a:latin typeface="宋体" pitchFamily="2" charset="-122"/>
              <a:ea typeface="宋体" pitchFamily="2" charset="-122"/>
            </a:endParaRPr>
          </a:p>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10</a:t>
            </a:r>
            <a:r>
              <a:rPr lang="zh-CN" altLang="en-US" sz="1800" dirty="0">
                <a:latin typeface="宋体" pitchFamily="2" charset="-122"/>
                <a:ea typeface="宋体" pitchFamily="2" charset="-122"/>
              </a:rPr>
              <a:t>章 操作风险管理</a:t>
            </a:r>
            <a:endParaRPr lang="en-US" altLang="zh-CN" sz="1800" dirty="0">
              <a:latin typeface="宋体" pitchFamily="2" charset="-122"/>
              <a:ea typeface="宋体" pitchFamily="2" charset="-122"/>
            </a:endParaRPr>
          </a:p>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11</a:t>
            </a:r>
            <a:r>
              <a:rPr lang="zh-CN" altLang="en-US" sz="1800" dirty="0">
                <a:latin typeface="宋体" pitchFamily="2" charset="-122"/>
                <a:ea typeface="宋体" pitchFamily="2" charset="-122"/>
              </a:rPr>
              <a:t>章 流动性风险管理</a:t>
            </a:r>
            <a:endParaRPr lang="en-US" altLang="zh-CN" sz="1800" dirty="0">
              <a:latin typeface="宋体" pitchFamily="2" charset="-122"/>
              <a:ea typeface="宋体" pitchFamily="2" charset="-122"/>
            </a:endParaRPr>
          </a:p>
          <a:p>
            <a:r>
              <a:rPr lang="zh-CN" altLang="en-US" sz="1800" dirty="0">
                <a:latin typeface="宋体" pitchFamily="2" charset="-122"/>
                <a:ea typeface="宋体" pitchFamily="2" charset="-122"/>
              </a:rPr>
              <a:t>第</a:t>
            </a:r>
            <a:r>
              <a:rPr lang="en-US" altLang="zh-CN" sz="1800" dirty="0">
                <a:latin typeface="Times New Roman" pitchFamily="18" charset="0"/>
                <a:ea typeface="宋体" pitchFamily="2" charset="-122"/>
                <a:cs typeface="Times New Roman" pitchFamily="18" charset="0"/>
              </a:rPr>
              <a:t>12</a:t>
            </a:r>
            <a:r>
              <a:rPr lang="zh-CN" altLang="en-US" sz="1800" dirty="0">
                <a:latin typeface="宋体" pitchFamily="2" charset="-122"/>
                <a:ea typeface="宋体" pitchFamily="2" charset="-122"/>
              </a:rPr>
              <a:t>章 经济资本金与</a:t>
            </a:r>
            <a:r>
              <a:rPr lang="en-US" altLang="zh-CN" sz="1800" dirty="0">
                <a:latin typeface="宋体" pitchFamily="2" charset="-122"/>
                <a:ea typeface="宋体" pitchFamily="2" charset="-122"/>
              </a:rPr>
              <a:t>RAROC</a:t>
            </a:r>
            <a:endParaRPr lang="zh-CN" altLang="en-US" sz="1800" dirty="0">
              <a:latin typeface="宋体" pitchFamily="2" charset="-122"/>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rot="4660263">
            <a:off x="3541639" y="2075155"/>
            <a:ext cx="2222812" cy="2923236"/>
            <a:chOff x="1078816" y="964066"/>
            <a:chExt cx="2222812" cy="2923236"/>
          </a:xfrm>
        </p:grpSpPr>
        <p:sp>
          <p:nvSpPr>
            <p:cNvPr id="21" name="Freeform 7"/>
            <p:cNvSpPr/>
            <p:nvPr/>
          </p:nvSpPr>
          <p:spPr bwMode="auto">
            <a:xfrm>
              <a:off x="1078816" y="2540257"/>
              <a:ext cx="696716" cy="1019561"/>
            </a:xfrm>
            <a:custGeom>
              <a:avLst/>
              <a:gdLst>
                <a:gd name="T0" fmla="*/ 94 w 375"/>
                <a:gd name="T1" fmla="*/ 0 h 549"/>
                <a:gd name="T2" fmla="*/ 11 w 375"/>
                <a:gd name="T3" fmla="*/ 12 h 549"/>
                <a:gd name="T4" fmla="*/ 0 w 375"/>
                <a:gd name="T5" fmla="*/ 127 h 549"/>
                <a:gd name="T6" fmla="*/ 174 w 375"/>
                <a:gd name="T7" fmla="*/ 549 h 549"/>
                <a:gd name="T8" fmla="*/ 375 w 375"/>
                <a:gd name="T9" fmla="*/ 280 h 549"/>
                <a:gd name="T10" fmla="*/ 94 w 375"/>
                <a:gd name="T11" fmla="*/ 0 h 549"/>
              </a:gdLst>
              <a:ahLst/>
              <a:cxnLst>
                <a:cxn ang="0">
                  <a:pos x="T0" y="T1"/>
                </a:cxn>
                <a:cxn ang="0">
                  <a:pos x="T2" y="T3"/>
                </a:cxn>
                <a:cxn ang="0">
                  <a:pos x="T4" y="T5"/>
                </a:cxn>
                <a:cxn ang="0">
                  <a:pos x="T6" y="T7"/>
                </a:cxn>
                <a:cxn ang="0">
                  <a:pos x="T8" y="T9"/>
                </a:cxn>
                <a:cxn ang="0">
                  <a:pos x="T10" y="T11"/>
                </a:cxn>
              </a:cxnLst>
              <a:rect l="0" t="0" r="r" b="b"/>
              <a:pathLst>
                <a:path w="375" h="549">
                  <a:moveTo>
                    <a:pt x="94" y="0"/>
                  </a:moveTo>
                  <a:cubicBezTo>
                    <a:pt x="65" y="0"/>
                    <a:pt x="37" y="4"/>
                    <a:pt x="11" y="12"/>
                  </a:cubicBezTo>
                  <a:cubicBezTo>
                    <a:pt x="3" y="49"/>
                    <a:pt x="0" y="87"/>
                    <a:pt x="0" y="127"/>
                  </a:cubicBezTo>
                  <a:cubicBezTo>
                    <a:pt x="0" y="291"/>
                    <a:pt x="66" y="441"/>
                    <a:pt x="174" y="549"/>
                  </a:cubicBezTo>
                  <a:cubicBezTo>
                    <a:pt x="290" y="514"/>
                    <a:pt x="375" y="407"/>
                    <a:pt x="375" y="280"/>
                  </a:cubicBezTo>
                  <a:cubicBezTo>
                    <a:pt x="375" y="125"/>
                    <a:pt x="249" y="0"/>
                    <a:pt x="94" y="0"/>
                  </a:cubicBezTo>
                  <a:close/>
                </a:path>
              </a:pathLst>
            </a:cu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22" name="Freeform 8"/>
            <p:cNvSpPr/>
            <p:nvPr/>
          </p:nvSpPr>
          <p:spPr bwMode="auto">
            <a:xfrm>
              <a:off x="1088093" y="2231327"/>
              <a:ext cx="600234" cy="615077"/>
            </a:xfrm>
            <a:custGeom>
              <a:avLst/>
              <a:gdLst>
                <a:gd name="T0" fmla="*/ 158 w 323"/>
                <a:gd name="T1" fmla="*/ 0 h 331"/>
                <a:gd name="T2" fmla="*/ 51 w 323"/>
                <a:gd name="T3" fmla="*/ 38 h 331"/>
                <a:gd name="T4" fmla="*/ 0 w 323"/>
                <a:gd name="T5" fmla="*/ 216 h 331"/>
                <a:gd name="T6" fmla="*/ 158 w 323"/>
                <a:gd name="T7" fmla="*/ 331 h 331"/>
                <a:gd name="T8" fmla="*/ 323 w 323"/>
                <a:gd name="T9" fmla="*/ 166 h 331"/>
                <a:gd name="T10" fmla="*/ 158 w 323"/>
                <a:gd name="T11" fmla="*/ 0 h 331"/>
              </a:gdLst>
              <a:ahLst/>
              <a:cxnLst>
                <a:cxn ang="0">
                  <a:pos x="T0" y="T1"/>
                </a:cxn>
                <a:cxn ang="0">
                  <a:pos x="T2" y="T3"/>
                </a:cxn>
                <a:cxn ang="0">
                  <a:pos x="T4" y="T5"/>
                </a:cxn>
                <a:cxn ang="0">
                  <a:pos x="T6" y="T7"/>
                </a:cxn>
                <a:cxn ang="0">
                  <a:pos x="T8" y="T9"/>
                </a:cxn>
                <a:cxn ang="0">
                  <a:pos x="T10" y="T11"/>
                </a:cxn>
              </a:cxnLst>
              <a:rect l="0" t="0" r="r" b="b"/>
              <a:pathLst>
                <a:path w="323" h="331">
                  <a:moveTo>
                    <a:pt x="158" y="0"/>
                  </a:moveTo>
                  <a:cubicBezTo>
                    <a:pt x="117" y="0"/>
                    <a:pt x="80" y="14"/>
                    <a:pt x="51" y="38"/>
                  </a:cubicBezTo>
                  <a:cubicBezTo>
                    <a:pt x="25" y="94"/>
                    <a:pt x="8" y="153"/>
                    <a:pt x="0" y="216"/>
                  </a:cubicBezTo>
                  <a:cubicBezTo>
                    <a:pt x="21" y="283"/>
                    <a:pt x="84" y="331"/>
                    <a:pt x="158" y="331"/>
                  </a:cubicBezTo>
                  <a:cubicBezTo>
                    <a:pt x="249" y="331"/>
                    <a:pt x="323" y="257"/>
                    <a:pt x="323" y="166"/>
                  </a:cubicBezTo>
                  <a:cubicBezTo>
                    <a:pt x="323" y="74"/>
                    <a:pt x="249" y="0"/>
                    <a:pt x="158" y="0"/>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23" name="Oval 9"/>
            <p:cNvSpPr>
              <a:spLocks noChangeArrowheads="1"/>
            </p:cNvSpPr>
            <p:nvPr/>
          </p:nvSpPr>
          <p:spPr bwMode="auto">
            <a:xfrm>
              <a:off x="1530616" y="2179723"/>
              <a:ext cx="506964" cy="507925"/>
            </a:xfrm>
            <a:prstGeom prst="ellipse">
              <a:avLst/>
            </a:prstGeom>
            <a:solidFill>
              <a:schemeClr val="accent5">
                <a:alpha val="70000"/>
              </a:schemeClr>
            </a:solidFill>
            <a:ln>
              <a:noFill/>
            </a:ln>
          </p:spPr>
          <p:txBody>
            <a:bodyPr vert="horz" wrap="square" lIns="91440" tIns="45720" rIns="91440" bIns="45720" numCol="1" anchor="t" anchorCtr="0" compatLnSpc="1"/>
            <a:lstStyle/>
            <a:p>
              <a:endParaRPr lang="zh-CN" altLang="en-US"/>
            </a:p>
          </p:txBody>
        </p:sp>
        <p:sp>
          <p:nvSpPr>
            <p:cNvPr id="24" name="Oval 10"/>
            <p:cNvSpPr>
              <a:spLocks noChangeArrowheads="1"/>
            </p:cNvSpPr>
            <p:nvPr/>
          </p:nvSpPr>
          <p:spPr bwMode="auto">
            <a:xfrm>
              <a:off x="2050137" y="1993832"/>
              <a:ext cx="576113" cy="574257"/>
            </a:xfrm>
            <a:prstGeom prst="ellipse">
              <a:avLst/>
            </a:pr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25" name="Oval 11"/>
            <p:cNvSpPr>
              <a:spLocks noChangeArrowheads="1"/>
            </p:cNvSpPr>
            <p:nvPr/>
          </p:nvSpPr>
          <p:spPr bwMode="auto">
            <a:xfrm>
              <a:off x="1688327" y="1950229"/>
              <a:ext cx="413762" cy="412834"/>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26" name="Oval 12"/>
            <p:cNvSpPr>
              <a:spLocks noChangeArrowheads="1"/>
            </p:cNvSpPr>
            <p:nvPr/>
          </p:nvSpPr>
          <p:spPr bwMode="auto">
            <a:xfrm>
              <a:off x="1955510" y="1555021"/>
              <a:ext cx="256050" cy="256050"/>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27" name="Oval 13"/>
            <p:cNvSpPr>
              <a:spLocks noChangeArrowheads="1"/>
            </p:cNvSpPr>
            <p:nvPr/>
          </p:nvSpPr>
          <p:spPr bwMode="auto">
            <a:xfrm>
              <a:off x="2389682" y="1158887"/>
              <a:ext cx="86278" cy="87205"/>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28" name="Oval 14"/>
            <p:cNvSpPr>
              <a:spLocks noChangeArrowheads="1"/>
            </p:cNvSpPr>
            <p:nvPr/>
          </p:nvSpPr>
          <p:spPr bwMode="auto">
            <a:xfrm>
              <a:off x="1532470" y="1755408"/>
              <a:ext cx="85350" cy="85350"/>
            </a:xfrm>
            <a:prstGeom prst="ellipse">
              <a:avLst/>
            </a:pr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29" name="Oval 15"/>
            <p:cNvSpPr>
              <a:spLocks noChangeArrowheads="1"/>
            </p:cNvSpPr>
            <p:nvPr/>
          </p:nvSpPr>
          <p:spPr bwMode="auto">
            <a:xfrm>
              <a:off x="2068691" y="1905698"/>
              <a:ext cx="87205" cy="88133"/>
            </a:xfrm>
            <a:prstGeom prst="ellipse">
              <a:avLst/>
            </a:prstGeom>
            <a:solidFill>
              <a:schemeClr val="accent1">
                <a:alpha val="80000"/>
              </a:schemeClr>
            </a:solidFill>
            <a:ln>
              <a:noFill/>
            </a:ln>
          </p:spPr>
          <p:txBody>
            <a:bodyPr vert="horz" wrap="square" lIns="91440" tIns="45720" rIns="91440" bIns="45720" numCol="1" anchor="t" anchorCtr="0" compatLnSpc="1"/>
            <a:lstStyle/>
            <a:p>
              <a:endParaRPr lang="zh-CN" altLang="en-US"/>
            </a:p>
          </p:txBody>
        </p:sp>
        <p:sp>
          <p:nvSpPr>
            <p:cNvPr id="30" name="Freeform 16"/>
            <p:cNvSpPr/>
            <p:nvPr/>
          </p:nvSpPr>
          <p:spPr bwMode="auto">
            <a:xfrm>
              <a:off x="1673483" y="1653359"/>
              <a:ext cx="376653" cy="377581"/>
            </a:xfrm>
            <a:custGeom>
              <a:avLst/>
              <a:gdLst>
                <a:gd name="T0" fmla="*/ 201 w 203"/>
                <a:gd name="T1" fmla="*/ 98 h 203"/>
                <a:gd name="T2" fmla="*/ 105 w 203"/>
                <a:gd name="T3" fmla="*/ 201 h 203"/>
                <a:gd name="T4" fmla="*/ 1 w 203"/>
                <a:gd name="T5" fmla="*/ 105 h 203"/>
                <a:gd name="T6" fmla="*/ 98 w 203"/>
                <a:gd name="T7" fmla="*/ 1 h 203"/>
                <a:gd name="T8" fmla="*/ 201 w 203"/>
                <a:gd name="T9" fmla="*/ 98 h 203"/>
              </a:gdLst>
              <a:ahLst/>
              <a:cxnLst>
                <a:cxn ang="0">
                  <a:pos x="T0" y="T1"/>
                </a:cxn>
                <a:cxn ang="0">
                  <a:pos x="T2" y="T3"/>
                </a:cxn>
                <a:cxn ang="0">
                  <a:pos x="T4" y="T5"/>
                </a:cxn>
                <a:cxn ang="0">
                  <a:pos x="T6" y="T7"/>
                </a:cxn>
                <a:cxn ang="0">
                  <a:pos x="T8" y="T9"/>
                </a:cxn>
              </a:cxnLst>
              <a:rect l="0" t="0" r="r" b="b"/>
              <a:pathLst>
                <a:path w="203" h="203">
                  <a:moveTo>
                    <a:pt x="201" y="98"/>
                  </a:moveTo>
                  <a:cubicBezTo>
                    <a:pt x="203" y="153"/>
                    <a:pt x="160" y="200"/>
                    <a:pt x="105" y="201"/>
                  </a:cubicBezTo>
                  <a:cubicBezTo>
                    <a:pt x="49" y="203"/>
                    <a:pt x="3" y="160"/>
                    <a:pt x="1" y="105"/>
                  </a:cubicBezTo>
                  <a:cubicBezTo>
                    <a:pt x="0" y="49"/>
                    <a:pt x="43" y="3"/>
                    <a:pt x="98" y="1"/>
                  </a:cubicBezTo>
                  <a:cubicBezTo>
                    <a:pt x="153" y="0"/>
                    <a:pt x="200" y="43"/>
                    <a:pt x="201" y="98"/>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31" name="Oval 17"/>
            <p:cNvSpPr>
              <a:spLocks noChangeArrowheads="1"/>
            </p:cNvSpPr>
            <p:nvPr/>
          </p:nvSpPr>
          <p:spPr bwMode="auto">
            <a:xfrm>
              <a:off x="1504639" y="1901988"/>
              <a:ext cx="141013" cy="143796"/>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32" name="Oval 18"/>
            <p:cNvSpPr>
              <a:spLocks noChangeArrowheads="1"/>
            </p:cNvSpPr>
            <p:nvPr/>
          </p:nvSpPr>
          <p:spPr bwMode="auto">
            <a:xfrm>
              <a:off x="2167029" y="964066"/>
              <a:ext cx="142869" cy="142868"/>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33" name="Oval 19"/>
            <p:cNvSpPr>
              <a:spLocks noChangeArrowheads="1"/>
            </p:cNvSpPr>
            <p:nvPr/>
          </p:nvSpPr>
          <p:spPr bwMode="auto">
            <a:xfrm>
              <a:off x="2276500" y="1307321"/>
              <a:ext cx="312641" cy="312641"/>
            </a:xfrm>
            <a:prstGeom prst="ellipse">
              <a:avLst/>
            </a:pr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34" name="Oval 20"/>
            <p:cNvSpPr>
              <a:spLocks noChangeArrowheads="1"/>
            </p:cNvSpPr>
            <p:nvPr/>
          </p:nvSpPr>
          <p:spPr bwMode="auto">
            <a:xfrm>
              <a:off x="2276500" y="1816638"/>
              <a:ext cx="312641" cy="314496"/>
            </a:xfrm>
            <a:prstGeom prst="ellipse">
              <a:avLst/>
            </a:pr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35" name="Oval 21"/>
            <p:cNvSpPr>
              <a:spLocks noChangeArrowheads="1"/>
            </p:cNvSpPr>
            <p:nvPr/>
          </p:nvSpPr>
          <p:spPr bwMode="auto">
            <a:xfrm>
              <a:off x="2754274" y="1514202"/>
              <a:ext cx="141013" cy="141013"/>
            </a:xfrm>
            <a:prstGeom prst="ellipse">
              <a:avLst/>
            </a:pr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36" name="Freeform 22"/>
            <p:cNvSpPr/>
            <p:nvPr/>
          </p:nvSpPr>
          <p:spPr bwMode="auto">
            <a:xfrm>
              <a:off x="2947240" y="2064338"/>
              <a:ext cx="348822" cy="600233"/>
            </a:xfrm>
            <a:custGeom>
              <a:avLst/>
              <a:gdLst>
                <a:gd name="T0" fmla="*/ 0 w 188"/>
                <a:gd name="T1" fmla="*/ 132 h 323"/>
                <a:gd name="T2" fmla="*/ 188 w 188"/>
                <a:gd name="T3" fmla="*/ 323 h 323"/>
                <a:gd name="T4" fmla="*/ 53 w 188"/>
                <a:gd name="T5" fmla="*/ 0 h 323"/>
                <a:gd name="T6" fmla="*/ 0 w 188"/>
                <a:gd name="T7" fmla="*/ 132 h 323"/>
              </a:gdLst>
              <a:ahLst/>
              <a:cxnLst>
                <a:cxn ang="0">
                  <a:pos x="T0" y="T1"/>
                </a:cxn>
                <a:cxn ang="0">
                  <a:pos x="T2" y="T3"/>
                </a:cxn>
                <a:cxn ang="0">
                  <a:pos x="T4" y="T5"/>
                </a:cxn>
                <a:cxn ang="0">
                  <a:pos x="T6" y="T7"/>
                </a:cxn>
              </a:cxnLst>
              <a:rect l="0" t="0" r="r" b="b"/>
              <a:pathLst>
                <a:path w="188" h="323">
                  <a:moveTo>
                    <a:pt x="0" y="132"/>
                  </a:moveTo>
                  <a:cubicBezTo>
                    <a:pt x="0" y="237"/>
                    <a:pt x="84" y="321"/>
                    <a:pt x="188" y="323"/>
                  </a:cubicBezTo>
                  <a:cubicBezTo>
                    <a:pt x="176" y="201"/>
                    <a:pt x="127" y="89"/>
                    <a:pt x="53" y="0"/>
                  </a:cubicBezTo>
                  <a:cubicBezTo>
                    <a:pt x="20" y="34"/>
                    <a:pt x="0" y="81"/>
                    <a:pt x="0" y="132"/>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37" name="Freeform 23"/>
            <p:cNvSpPr/>
            <p:nvPr/>
          </p:nvSpPr>
          <p:spPr bwMode="auto">
            <a:xfrm>
              <a:off x="2563165" y="2261014"/>
              <a:ext cx="738463" cy="894319"/>
            </a:xfrm>
            <a:custGeom>
              <a:avLst/>
              <a:gdLst>
                <a:gd name="T0" fmla="*/ 0 w 398"/>
                <a:gd name="T1" fmla="*/ 241 h 481"/>
                <a:gd name="T2" fmla="*/ 241 w 398"/>
                <a:gd name="T3" fmla="*/ 481 h 481"/>
                <a:gd name="T4" fmla="*/ 375 w 398"/>
                <a:gd name="T5" fmla="*/ 440 h 481"/>
                <a:gd name="T6" fmla="*/ 398 w 398"/>
                <a:gd name="T7" fmla="*/ 277 h 481"/>
                <a:gd name="T8" fmla="*/ 342 w 398"/>
                <a:gd name="T9" fmla="*/ 22 h 481"/>
                <a:gd name="T10" fmla="*/ 241 w 398"/>
                <a:gd name="T11" fmla="*/ 0 h 481"/>
                <a:gd name="T12" fmla="*/ 0 w 398"/>
                <a:gd name="T13" fmla="*/ 241 h 481"/>
              </a:gdLst>
              <a:ahLst/>
              <a:cxnLst>
                <a:cxn ang="0">
                  <a:pos x="T0" y="T1"/>
                </a:cxn>
                <a:cxn ang="0">
                  <a:pos x="T2" y="T3"/>
                </a:cxn>
                <a:cxn ang="0">
                  <a:pos x="T4" y="T5"/>
                </a:cxn>
                <a:cxn ang="0">
                  <a:pos x="T6" y="T7"/>
                </a:cxn>
                <a:cxn ang="0">
                  <a:pos x="T8" y="T9"/>
                </a:cxn>
                <a:cxn ang="0">
                  <a:pos x="T10" y="T11"/>
                </a:cxn>
                <a:cxn ang="0">
                  <a:pos x="T12" y="T13"/>
                </a:cxn>
              </a:cxnLst>
              <a:rect l="0" t="0" r="r" b="b"/>
              <a:pathLst>
                <a:path w="398" h="481">
                  <a:moveTo>
                    <a:pt x="0" y="241"/>
                  </a:moveTo>
                  <a:cubicBezTo>
                    <a:pt x="0" y="374"/>
                    <a:pt x="108" y="481"/>
                    <a:pt x="241" y="481"/>
                  </a:cubicBezTo>
                  <a:cubicBezTo>
                    <a:pt x="291" y="481"/>
                    <a:pt x="337" y="466"/>
                    <a:pt x="375" y="440"/>
                  </a:cubicBezTo>
                  <a:cubicBezTo>
                    <a:pt x="390" y="388"/>
                    <a:pt x="398" y="333"/>
                    <a:pt x="398" y="277"/>
                  </a:cubicBezTo>
                  <a:cubicBezTo>
                    <a:pt x="398" y="186"/>
                    <a:pt x="378" y="100"/>
                    <a:pt x="342" y="22"/>
                  </a:cubicBezTo>
                  <a:cubicBezTo>
                    <a:pt x="311" y="8"/>
                    <a:pt x="277" y="0"/>
                    <a:pt x="241" y="0"/>
                  </a:cubicBezTo>
                  <a:cubicBezTo>
                    <a:pt x="108" y="0"/>
                    <a:pt x="0" y="108"/>
                    <a:pt x="0" y="241"/>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38" name="Freeform 24"/>
            <p:cNvSpPr/>
            <p:nvPr/>
          </p:nvSpPr>
          <p:spPr bwMode="auto">
            <a:xfrm>
              <a:off x="2574297" y="2261014"/>
              <a:ext cx="415618" cy="355316"/>
            </a:xfrm>
            <a:custGeom>
              <a:avLst/>
              <a:gdLst>
                <a:gd name="T0" fmla="*/ 0 w 224"/>
                <a:gd name="T1" fmla="*/ 188 h 191"/>
                <a:gd name="T2" fmla="*/ 33 w 224"/>
                <a:gd name="T3" fmla="*/ 191 h 191"/>
                <a:gd name="T4" fmla="*/ 224 w 224"/>
                <a:gd name="T5" fmla="*/ 0 h 191"/>
                <a:gd name="T6" fmla="*/ 0 w 224"/>
                <a:gd name="T7" fmla="*/ 188 h 191"/>
              </a:gdLst>
              <a:ahLst/>
              <a:cxnLst>
                <a:cxn ang="0">
                  <a:pos x="T0" y="T1"/>
                </a:cxn>
                <a:cxn ang="0">
                  <a:pos x="T2" y="T3"/>
                </a:cxn>
                <a:cxn ang="0">
                  <a:pos x="T4" y="T5"/>
                </a:cxn>
                <a:cxn ang="0">
                  <a:pos x="T6" y="T7"/>
                </a:cxn>
              </a:cxnLst>
              <a:rect l="0" t="0" r="r" b="b"/>
              <a:pathLst>
                <a:path w="224" h="191">
                  <a:moveTo>
                    <a:pt x="0" y="188"/>
                  </a:moveTo>
                  <a:cubicBezTo>
                    <a:pt x="11" y="190"/>
                    <a:pt x="22" y="191"/>
                    <a:pt x="33" y="191"/>
                  </a:cubicBezTo>
                  <a:cubicBezTo>
                    <a:pt x="138" y="191"/>
                    <a:pt x="224" y="106"/>
                    <a:pt x="224" y="0"/>
                  </a:cubicBezTo>
                  <a:cubicBezTo>
                    <a:pt x="114" y="5"/>
                    <a:pt x="23" y="84"/>
                    <a:pt x="0" y="188"/>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39" name="Freeform 25"/>
            <p:cNvSpPr/>
            <p:nvPr/>
          </p:nvSpPr>
          <p:spPr bwMode="auto">
            <a:xfrm>
              <a:off x="2840364" y="3083913"/>
              <a:ext cx="420165" cy="581208"/>
            </a:xfrm>
            <a:custGeom>
              <a:avLst/>
              <a:gdLst>
                <a:gd name="T0" fmla="*/ 224 w 224"/>
                <a:gd name="T1" fmla="*/ 0 h 310"/>
                <a:gd name="T2" fmla="*/ 0 w 224"/>
                <a:gd name="T3" fmla="*/ 240 h 310"/>
                <a:gd name="T4" fmla="*/ 11 w 224"/>
                <a:gd name="T5" fmla="*/ 310 h 310"/>
                <a:gd name="T6" fmla="*/ 224 w 224"/>
                <a:gd name="T7" fmla="*/ 0 h 310"/>
              </a:gdLst>
              <a:ahLst/>
              <a:cxnLst>
                <a:cxn ang="0">
                  <a:pos x="T0" y="T1"/>
                </a:cxn>
                <a:cxn ang="0">
                  <a:pos x="T2" y="T3"/>
                </a:cxn>
                <a:cxn ang="0">
                  <a:pos x="T4" y="T5"/>
                </a:cxn>
                <a:cxn ang="0">
                  <a:pos x="T6" y="T7"/>
                </a:cxn>
              </a:cxnLst>
              <a:rect l="0" t="0" r="r" b="b"/>
              <a:pathLst>
                <a:path w="224" h="310">
                  <a:moveTo>
                    <a:pt x="224" y="0"/>
                  </a:moveTo>
                  <a:cubicBezTo>
                    <a:pt x="99" y="9"/>
                    <a:pt x="0" y="113"/>
                    <a:pt x="0" y="240"/>
                  </a:cubicBezTo>
                  <a:cubicBezTo>
                    <a:pt x="0" y="265"/>
                    <a:pt x="4" y="288"/>
                    <a:pt x="11" y="310"/>
                  </a:cubicBezTo>
                  <a:cubicBezTo>
                    <a:pt x="112" y="233"/>
                    <a:pt x="187" y="125"/>
                    <a:pt x="224" y="0"/>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40" name="Freeform 26"/>
            <p:cNvSpPr/>
            <p:nvPr/>
          </p:nvSpPr>
          <p:spPr bwMode="auto">
            <a:xfrm>
              <a:off x="1104792" y="3017103"/>
              <a:ext cx="615077" cy="753306"/>
            </a:xfrm>
            <a:custGeom>
              <a:avLst/>
              <a:gdLst>
                <a:gd name="T0" fmla="*/ 22 w 331"/>
                <a:gd name="T1" fmla="*/ 0 h 405"/>
                <a:gd name="T2" fmla="*/ 0 w 331"/>
                <a:gd name="T3" fmla="*/ 0 h 405"/>
                <a:gd name="T4" fmla="*/ 316 w 331"/>
                <a:gd name="T5" fmla="*/ 405 h 405"/>
                <a:gd name="T6" fmla="*/ 331 w 331"/>
                <a:gd name="T7" fmla="*/ 309 h 405"/>
                <a:gd name="T8" fmla="*/ 22 w 331"/>
                <a:gd name="T9" fmla="*/ 0 h 405"/>
              </a:gdLst>
              <a:ahLst/>
              <a:cxnLst>
                <a:cxn ang="0">
                  <a:pos x="T0" y="T1"/>
                </a:cxn>
                <a:cxn ang="0">
                  <a:pos x="T2" y="T3"/>
                </a:cxn>
                <a:cxn ang="0">
                  <a:pos x="T4" y="T5"/>
                </a:cxn>
                <a:cxn ang="0">
                  <a:pos x="T6" y="T7"/>
                </a:cxn>
                <a:cxn ang="0">
                  <a:pos x="T8" y="T9"/>
                </a:cxn>
              </a:cxnLst>
              <a:rect l="0" t="0" r="r" b="b"/>
              <a:pathLst>
                <a:path w="331" h="405">
                  <a:moveTo>
                    <a:pt x="22" y="0"/>
                  </a:moveTo>
                  <a:cubicBezTo>
                    <a:pt x="14" y="0"/>
                    <a:pt x="7" y="0"/>
                    <a:pt x="0" y="0"/>
                  </a:cubicBezTo>
                  <a:cubicBezTo>
                    <a:pt x="40" y="178"/>
                    <a:pt x="158" y="325"/>
                    <a:pt x="316" y="405"/>
                  </a:cubicBezTo>
                  <a:cubicBezTo>
                    <a:pt x="326" y="375"/>
                    <a:pt x="331" y="343"/>
                    <a:pt x="331" y="309"/>
                  </a:cubicBezTo>
                  <a:cubicBezTo>
                    <a:pt x="331" y="138"/>
                    <a:pt x="193" y="0"/>
                    <a:pt x="22" y="0"/>
                  </a:cubicBezTo>
                  <a:close/>
                </a:path>
              </a:pathLst>
            </a:cu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41" name="Freeform 27"/>
            <p:cNvSpPr/>
            <p:nvPr/>
          </p:nvSpPr>
          <p:spPr bwMode="auto">
            <a:xfrm>
              <a:off x="1406301" y="2974428"/>
              <a:ext cx="1229226" cy="912874"/>
            </a:xfrm>
            <a:custGeom>
              <a:avLst/>
              <a:gdLst>
                <a:gd name="T0" fmla="*/ 331 w 662"/>
                <a:gd name="T1" fmla="*/ 0 h 491"/>
                <a:gd name="T2" fmla="*/ 0 w 662"/>
                <a:gd name="T3" fmla="*/ 317 h 491"/>
                <a:gd name="T4" fmla="*/ 422 w 662"/>
                <a:gd name="T5" fmla="*/ 491 h 491"/>
                <a:gd name="T6" fmla="*/ 639 w 662"/>
                <a:gd name="T7" fmla="*/ 451 h 491"/>
                <a:gd name="T8" fmla="*/ 662 w 662"/>
                <a:gd name="T9" fmla="*/ 331 h 491"/>
                <a:gd name="T10" fmla="*/ 331 w 662"/>
                <a:gd name="T11" fmla="*/ 0 h 491"/>
              </a:gdLst>
              <a:ahLst/>
              <a:cxnLst>
                <a:cxn ang="0">
                  <a:pos x="T0" y="T1"/>
                </a:cxn>
                <a:cxn ang="0">
                  <a:pos x="T2" y="T3"/>
                </a:cxn>
                <a:cxn ang="0">
                  <a:pos x="T4" y="T5"/>
                </a:cxn>
                <a:cxn ang="0">
                  <a:pos x="T6" y="T7"/>
                </a:cxn>
                <a:cxn ang="0">
                  <a:pos x="T8" y="T9"/>
                </a:cxn>
                <a:cxn ang="0">
                  <a:pos x="T10" y="T11"/>
                </a:cxn>
              </a:cxnLst>
              <a:rect l="0" t="0" r="r" b="b"/>
              <a:pathLst>
                <a:path w="662" h="491">
                  <a:moveTo>
                    <a:pt x="331" y="0"/>
                  </a:moveTo>
                  <a:cubicBezTo>
                    <a:pt x="153" y="0"/>
                    <a:pt x="7" y="141"/>
                    <a:pt x="0" y="317"/>
                  </a:cubicBezTo>
                  <a:cubicBezTo>
                    <a:pt x="108" y="425"/>
                    <a:pt x="258" y="491"/>
                    <a:pt x="422" y="491"/>
                  </a:cubicBezTo>
                  <a:cubicBezTo>
                    <a:pt x="499" y="491"/>
                    <a:pt x="572" y="477"/>
                    <a:pt x="639" y="451"/>
                  </a:cubicBezTo>
                  <a:cubicBezTo>
                    <a:pt x="654" y="414"/>
                    <a:pt x="662" y="373"/>
                    <a:pt x="662" y="331"/>
                  </a:cubicBezTo>
                  <a:cubicBezTo>
                    <a:pt x="662" y="148"/>
                    <a:pt x="514" y="0"/>
                    <a:pt x="331" y="0"/>
                  </a:cubicBezTo>
                  <a:close/>
                </a:path>
              </a:pathLst>
            </a:cu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42" name="Freeform 28"/>
            <p:cNvSpPr/>
            <p:nvPr/>
          </p:nvSpPr>
          <p:spPr bwMode="auto">
            <a:xfrm>
              <a:off x="2335874" y="2933609"/>
              <a:ext cx="874838" cy="872054"/>
            </a:xfrm>
            <a:custGeom>
              <a:avLst/>
              <a:gdLst>
                <a:gd name="T0" fmla="*/ 471 w 471"/>
                <a:gd name="T1" fmla="*/ 153 h 469"/>
                <a:gd name="T2" fmla="*/ 244 w 471"/>
                <a:gd name="T3" fmla="*/ 0 h 469"/>
                <a:gd name="T4" fmla="*/ 0 w 471"/>
                <a:gd name="T5" fmla="*/ 244 h 469"/>
                <a:gd name="T6" fmla="*/ 149 w 471"/>
                <a:gd name="T7" fmla="*/ 469 h 469"/>
                <a:gd name="T8" fmla="*/ 471 w 471"/>
                <a:gd name="T9" fmla="*/ 153 h 469"/>
              </a:gdLst>
              <a:ahLst/>
              <a:cxnLst>
                <a:cxn ang="0">
                  <a:pos x="T0" y="T1"/>
                </a:cxn>
                <a:cxn ang="0">
                  <a:pos x="T2" y="T3"/>
                </a:cxn>
                <a:cxn ang="0">
                  <a:pos x="T4" y="T5"/>
                </a:cxn>
                <a:cxn ang="0">
                  <a:pos x="T6" y="T7"/>
                </a:cxn>
                <a:cxn ang="0">
                  <a:pos x="T8" y="T9"/>
                </a:cxn>
              </a:cxnLst>
              <a:rect l="0" t="0" r="r" b="b"/>
              <a:pathLst>
                <a:path w="471" h="469">
                  <a:moveTo>
                    <a:pt x="471" y="153"/>
                  </a:moveTo>
                  <a:cubicBezTo>
                    <a:pt x="435" y="63"/>
                    <a:pt x="347" y="0"/>
                    <a:pt x="244" y="0"/>
                  </a:cubicBezTo>
                  <a:cubicBezTo>
                    <a:pt x="109" y="0"/>
                    <a:pt x="0" y="109"/>
                    <a:pt x="0" y="244"/>
                  </a:cubicBezTo>
                  <a:cubicBezTo>
                    <a:pt x="0" y="345"/>
                    <a:pt x="61" y="432"/>
                    <a:pt x="149" y="469"/>
                  </a:cubicBezTo>
                  <a:cubicBezTo>
                    <a:pt x="293" y="410"/>
                    <a:pt x="409" y="296"/>
                    <a:pt x="471" y="153"/>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43" name="Oval 30"/>
            <p:cNvSpPr>
              <a:spLocks noChangeArrowheads="1"/>
            </p:cNvSpPr>
            <p:nvPr/>
          </p:nvSpPr>
          <p:spPr bwMode="auto">
            <a:xfrm>
              <a:off x="2540899" y="1675625"/>
              <a:ext cx="493546" cy="496329"/>
            </a:xfrm>
            <a:prstGeom prst="ellipse">
              <a:avLst/>
            </a:prstGeom>
            <a:solidFill>
              <a:schemeClr val="accent2">
                <a:alpha val="70000"/>
              </a:schemeClr>
            </a:solidFill>
            <a:ln>
              <a:noFill/>
            </a:ln>
          </p:spPr>
          <p:txBody>
            <a:bodyPr vert="horz" wrap="square" lIns="91440" tIns="45720" rIns="91440" bIns="45720" numCol="1" anchor="t" anchorCtr="0" compatLnSpc="1"/>
            <a:lstStyle/>
            <a:p>
              <a:endParaRPr lang="zh-CN" altLang="en-US"/>
            </a:p>
          </p:txBody>
        </p:sp>
        <p:sp>
          <p:nvSpPr>
            <p:cNvPr id="44" name="Oval 11"/>
            <p:cNvSpPr>
              <a:spLocks noChangeArrowheads="1"/>
            </p:cNvSpPr>
            <p:nvPr/>
          </p:nvSpPr>
          <p:spPr bwMode="auto">
            <a:xfrm>
              <a:off x="1833627" y="2696302"/>
              <a:ext cx="557332" cy="556080"/>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45" name="Oval 11"/>
            <p:cNvSpPr>
              <a:spLocks noChangeArrowheads="1"/>
            </p:cNvSpPr>
            <p:nvPr/>
          </p:nvSpPr>
          <p:spPr bwMode="auto">
            <a:xfrm>
              <a:off x="2226489" y="2491874"/>
              <a:ext cx="249471" cy="248912"/>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grpSp>
      <p:sp>
        <p:nvSpPr>
          <p:cNvPr id="2" name="文本框 1"/>
          <p:cNvSpPr txBox="1"/>
          <p:nvPr/>
        </p:nvSpPr>
        <p:spPr>
          <a:xfrm>
            <a:off x="1947255" y="1245103"/>
            <a:ext cx="4968552" cy="646331"/>
          </a:xfrm>
          <a:prstGeom prst="rect">
            <a:avLst/>
          </a:prstGeom>
          <a:noFill/>
        </p:spPr>
        <p:txBody>
          <a:bodyPr wrap="square" rtlCol="0">
            <a:spAutoFit/>
          </a:bodyPr>
          <a:lstStyle/>
          <a:p>
            <a:pPr algn="ctr"/>
            <a:r>
              <a:rPr lang="zh-CN" altLang="en-US" sz="3600" dirty="0">
                <a:latin typeface="宋体" pitchFamily="2" charset="-122"/>
                <a:ea typeface="宋体" pitchFamily="2" charset="-122"/>
              </a:rPr>
              <a:t>第</a:t>
            </a:r>
            <a:r>
              <a:rPr lang="en-US" altLang="zh-CN" sz="3600" dirty="0">
                <a:latin typeface="Times New Roman" pitchFamily="18" charset="0"/>
                <a:ea typeface="宋体" pitchFamily="2" charset="-122"/>
                <a:cs typeface="Times New Roman" pitchFamily="18" charset="0"/>
              </a:rPr>
              <a:t>1</a:t>
            </a:r>
            <a:r>
              <a:rPr lang="zh-CN" altLang="en-US" sz="3600" dirty="0">
                <a:latin typeface="宋体" pitchFamily="2" charset="-122"/>
                <a:ea typeface="宋体" pitchFamily="2" charset="-122"/>
              </a:rPr>
              <a:t>章 风险管理基础</a:t>
            </a: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b="1" dirty="0">
                <a:latin typeface="宋体" pitchFamily="2" charset="-122"/>
                <a:ea typeface="宋体" pitchFamily="2" charset="-122"/>
              </a:rPr>
              <a:t>思考</a:t>
            </a:r>
          </a:p>
        </p:txBody>
      </p:sp>
      <p:sp>
        <p:nvSpPr>
          <p:cNvPr id="3" name="内容占位符 2"/>
          <p:cNvSpPr>
            <a:spLocks noGrp="1"/>
          </p:cNvSpPr>
          <p:nvPr>
            <p:ph idx="1"/>
          </p:nvPr>
        </p:nvSpPr>
        <p:spPr>
          <a:xfrm>
            <a:off x="457200" y="1199780"/>
            <a:ext cx="4114800" cy="3393425"/>
          </a:xfrm>
        </p:spPr>
        <p:txBody>
          <a:bodyPr>
            <a:normAutofit/>
          </a:bodyPr>
          <a:lstStyle/>
          <a:p>
            <a:r>
              <a:rPr lang="zh-CN" altLang="en-US" sz="2400" dirty="0">
                <a:latin typeface="宋体" pitchFamily="2" charset="-122"/>
                <a:ea typeface="宋体" pitchFamily="2" charset="-122"/>
              </a:rPr>
              <a:t>现实中哪些风险现象？</a:t>
            </a:r>
            <a:endParaRPr lang="en-US" altLang="zh-CN" sz="2400" dirty="0">
              <a:latin typeface="宋体" pitchFamily="2" charset="-122"/>
              <a:ea typeface="宋体" pitchFamily="2" charset="-122"/>
            </a:endParaRPr>
          </a:p>
          <a:p>
            <a:r>
              <a:rPr lang="zh-CN" altLang="en-US" sz="2400" dirty="0">
                <a:latin typeface="宋体" pitchFamily="2" charset="-122"/>
                <a:ea typeface="宋体" pitchFamily="2" charset="-122"/>
              </a:rPr>
              <a:t>你认为什么是风险？</a:t>
            </a:r>
            <a:endParaRPr lang="en-US" altLang="zh-CN" sz="2400" dirty="0">
              <a:latin typeface="宋体" pitchFamily="2" charset="-122"/>
              <a:ea typeface="宋体" pitchFamily="2" charset="-122"/>
            </a:endParaRPr>
          </a:p>
          <a:p>
            <a:r>
              <a:rPr lang="zh-CN" altLang="en-US" sz="2400" dirty="0">
                <a:latin typeface="宋体" pitchFamily="2" charset="-122"/>
                <a:ea typeface="宋体" pitchFamily="2" charset="-122"/>
              </a:rPr>
              <a:t>如何衡量风险？</a:t>
            </a:r>
          </a:p>
          <a:p>
            <a:endParaRPr lang="zh-CN" altLang="en-US" dirty="0"/>
          </a:p>
        </p:txBody>
      </p:sp>
      <p:pic>
        <p:nvPicPr>
          <p:cNvPr id="4" name="图片 3"/>
          <p:cNvPicPr>
            <a:picLocks noChangeAspect="1"/>
          </p:cNvPicPr>
          <p:nvPr/>
        </p:nvPicPr>
        <p:blipFill rotWithShape="1">
          <a:blip r:embed="rId2" cstate="print"/>
          <a:srcRect l="6075" t="5666" b="7345"/>
          <a:stretch>
            <a:fillRect/>
          </a:stretch>
        </p:blipFill>
        <p:spPr>
          <a:xfrm>
            <a:off x="5292080" y="1130796"/>
            <a:ext cx="3050567" cy="33284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椭圆 28">
            <a:extLst>
              <a:ext uri="{FF2B5EF4-FFF2-40B4-BE49-F238E27FC236}">
                <a16:creationId xmlns:a16="http://schemas.microsoft.com/office/drawing/2014/main" id="{D9013EC6-9E38-4A41-8BF3-B86672308EE1}"/>
              </a:ext>
            </a:extLst>
          </p:cNvPr>
          <p:cNvSpPr/>
          <p:nvPr/>
        </p:nvSpPr>
        <p:spPr>
          <a:xfrm>
            <a:off x="3586866" y="3300825"/>
            <a:ext cx="383553" cy="465386"/>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椭圆 49">
            <a:extLst>
              <a:ext uri="{FF2B5EF4-FFF2-40B4-BE49-F238E27FC236}">
                <a16:creationId xmlns:a16="http://schemas.microsoft.com/office/drawing/2014/main" id="{83653C10-50C8-45CA-8476-D9E59A8AD1DE}"/>
              </a:ext>
            </a:extLst>
          </p:cNvPr>
          <p:cNvSpPr/>
          <p:nvPr/>
        </p:nvSpPr>
        <p:spPr>
          <a:xfrm>
            <a:off x="3580059" y="2745011"/>
            <a:ext cx="383553" cy="430887"/>
          </a:xfrm>
          <a:prstGeom prst="ellipse">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椭圆 27"/>
          <p:cNvSpPr/>
          <p:nvPr/>
        </p:nvSpPr>
        <p:spPr>
          <a:xfrm>
            <a:off x="3529597" y="1657812"/>
            <a:ext cx="383553" cy="430887"/>
          </a:xfrm>
          <a:prstGeom prst="ellipse">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3487240" y="1111359"/>
            <a:ext cx="382949" cy="465387"/>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3516534" y="528047"/>
            <a:ext cx="382949" cy="465386"/>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8" name="组合 47"/>
          <p:cNvGrpSpPr/>
          <p:nvPr/>
        </p:nvGrpSpPr>
        <p:grpSpPr>
          <a:xfrm>
            <a:off x="179512" y="914772"/>
            <a:ext cx="2664296" cy="3391249"/>
            <a:chOff x="1078816" y="964066"/>
            <a:chExt cx="2222812" cy="2923236"/>
          </a:xfrm>
        </p:grpSpPr>
        <p:sp>
          <p:nvSpPr>
            <p:cNvPr id="54" name="Freeform 7"/>
            <p:cNvSpPr/>
            <p:nvPr/>
          </p:nvSpPr>
          <p:spPr bwMode="auto">
            <a:xfrm>
              <a:off x="1078816" y="2540257"/>
              <a:ext cx="696716" cy="1019561"/>
            </a:xfrm>
            <a:custGeom>
              <a:avLst/>
              <a:gdLst>
                <a:gd name="T0" fmla="*/ 94 w 375"/>
                <a:gd name="T1" fmla="*/ 0 h 549"/>
                <a:gd name="T2" fmla="*/ 11 w 375"/>
                <a:gd name="T3" fmla="*/ 12 h 549"/>
                <a:gd name="T4" fmla="*/ 0 w 375"/>
                <a:gd name="T5" fmla="*/ 127 h 549"/>
                <a:gd name="T6" fmla="*/ 174 w 375"/>
                <a:gd name="T7" fmla="*/ 549 h 549"/>
                <a:gd name="T8" fmla="*/ 375 w 375"/>
                <a:gd name="T9" fmla="*/ 280 h 549"/>
                <a:gd name="T10" fmla="*/ 94 w 375"/>
                <a:gd name="T11" fmla="*/ 0 h 549"/>
              </a:gdLst>
              <a:ahLst/>
              <a:cxnLst>
                <a:cxn ang="0">
                  <a:pos x="T0" y="T1"/>
                </a:cxn>
                <a:cxn ang="0">
                  <a:pos x="T2" y="T3"/>
                </a:cxn>
                <a:cxn ang="0">
                  <a:pos x="T4" y="T5"/>
                </a:cxn>
                <a:cxn ang="0">
                  <a:pos x="T6" y="T7"/>
                </a:cxn>
                <a:cxn ang="0">
                  <a:pos x="T8" y="T9"/>
                </a:cxn>
                <a:cxn ang="0">
                  <a:pos x="T10" y="T11"/>
                </a:cxn>
              </a:cxnLst>
              <a:rect l="0" t="0" r="r" b="b"/>
              <a:pathLst>
                <a:path w="375" h="549">
                  <a:moveTo>
                    <a:pt x="94" y="0"/>
                  </a:moveTo>
                  <a:cubicBezTo>
                    <a:pt x="65" y="0"/>
                    <a:pt x="37" y="4"/>
                    <a:pt x="11" y="12"/>
                  </a:cubicBezTo>
                  <a:cubicBezTo>
                    <a:pt x="3" y="49"/>
                    <a:pt x="0" y="87"/>
                    <a:pt x="0" y="127"/>
                  </a:cubicBezTo>
                  <a:cubicBezTo>
                    <a:pt x="0" y="291"/>
                    <a:pt x="66" y="441"/>
                    <a:pt x="174" y="549"/>
                  </a:cubicBezTo>
                  <a:cubicBezTo>
                    <a:pt x="290" y="514"/>
                    <a:pt x="375" y="407"/>
                    <a:pt x="375" y="280"/>
                  </a:cubicBezTo>
                  <a:cubicBezTo>
                    <a:pt x="375" y="125"/>
                    <a:pt x="249" y="0"/>
                    <a:pt x="94" y="0"/>
                  </a:cubicBezTo>
                  <a:close/>
                </a:path>
              </a:pathLst>
            </a:cu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60" name="Freeform 8"/>
            <p:cNvSpPr/>
            <p:nvPr/>
          </p:nvSpPr>
          <p:spPr bwMode="auto">
            <a:xfrm>
              <a:off x="1088093" y="2231327"/>
              <a:ext cx="600234" cy="615077"/>
            </a:xfrm>
            <a:custGeom>
              <a:avLst/>
              <a:gdLst>
                <a:gd name="T0" fmla="*/ 158 w 323"/>
                <a:gd name="T1" fmla="*/ 0 h 331"/>
                <a:gd name="T2" fmla="*/ 51 w 323"/>
                <a:gd name="T3" fmla="*/ 38 h 331"/>
                <a:gd name="T4" fmla="*/ 0 w 323"/>
                <a:gd name="T5" fmla="*/ 216 h 331"/>
                <a:gd name="T6" fmla="*/ 158 w 323"/>
                <a:gd name="T7" fmla="*/ 331 h 331"/>
                <a:gd name="T8" fmla="*/ 323 w 323"/>
                <a:gd name="T9" fmla="*/ 166 h 331"/>
                <a:gd name="T10" fmla="*/ 158 w 323"/>
                <a:gd name="T11" fmla="*/ 0 h 331"/>
              </a:gdLst>
              <a:ahLst/>
              <a:cxnLst>
                <a:cxn ang="0">
                  <a:pos x="T0" y="T1"/>
                </a:cxn>
                <a:cxn ang="0">
                  <a:pos x="T2" y="T3"/>
                </a:cxn>
                <a:cxn ang="0">
                  <a:pos x="T4" y="T5"/>
                </a:cxn>
                <a:cxn ang="0">
                  <a:pos x="T6" y="T7"/>
                </a:cxn>
                <a:cxn ang="0">
                  <a:pos x="T8" y="T9"/>
                </a:cxn>
                <a:cxn ang="0">
                  <a:pos x="T10" y="T11"/>
                </a:cxn>
              </a:cxnLst>
              <a:rect l="0" t="0" r="r" b="b"/>
              <a:pathLst>
                <a:path w="323" h="331">
                  <a:moveTo>
                    <a:pt x="158" y="0"/>
                  </a:moveTo>
                  <a:cubicBezTo>
                    <a:pt x="117" y="0"/>
                    <a:pt x="80" y="14"/>
                    <a:pt x="51" y="38"/>
                  </a:cubicBezTo>
                  <a:cubicBezTo>
                    <a:pt x="25" y="94"/>
                    <a:pt x="8" y="153"/>
                    <a:pt x="0" y="216"/>
                  </a:cubicBezTo>
                  <a:cubicBezTo>
                    <a:pt x="21" y="283"/>
                    <a:pt x="84" y="331"/>
                    <a:pt x="158" y="331"/>
                  </a:cubicBezTo>
                  <a:cubicBezTo>
                    <a:pt x="249" y="331"/>
                    <a:pt x="323" y="257"/>
                    <a:pt x="323" y="166"/>
                  </a:cubicBezTo>
                  <a:cubicBezTo>
                    <a:pt x="323" y="74"/>
                    <a:pt x="249" y="0"/>
                    <a:pt x="158" y="0"/>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61" name="Oval 9"/>
            <p:cNvSpPr>
              <a:spLocks noChangeArrowheads="1"/>
            </p:cNvSpPr>
            <p:nvPr/>
          </p:nvSpPr>
          <p:spPr bwMode="auto">
            <a:xfrm>
              <a:off x="1530616" y="2179723"/>
              <a:ext cx="506964" cy="507925"/>
            </a:xfrm>
            <a:prstGeom prst="ellipse">
              <a:avLst/>
            </a:prstGeom>
            <a:solidFill>
              <a:schemeClr val="accent5">
                <a:alpha val="70000"/>
              </a:schemeClr>
            </a:solidFill>
            <a:ln>
              <a:noFill/>
            </a:ln>
          </p:spPr>
          <p:txBody>
            <a:bodyPr vert="horz" wrap="square" lIns="91440" tIns="45720" rIns="91440" bIns="45720" numCol="1" anchor="t" anchorCtr="0" compatLnSpc="1"/>
            <a:lstStyle/>
            <a:p>
              <a:endParaRPr lang="zh-CN" altLang="en-US"/>
            </a:p>
          </p:txBody>
        </p:sp>
        <p:sp>
          <p:nvSpPr>
            <p:cNvPr id="62" name="Oval 10"/>
            <p:cNvSpPr>
              <a:spLocks noChangeArrowheads="1"/>
            </p:cNvSpPr>
            <p:nvPr/>
          </p:nvSpPr>
          <p:spPr bwMode="auto">
            <a:xfrm>
              <a:off x="2050137" y="1993832"/>
              <a:ext cx="576113" cy="574257"/>
            </a:xfrm>
            <a:prstGeom prst="ellipse">
              <a:avLst/>
            </a:pr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63" name="Oval 11"/>
            <p:cNvSpPr>
              <a:spLocks noChangeArrowheads="1"/>
            </p:cNvSpPr>
            <p:nvPr/>
          </p:nvSpPr>
          <p:spPr bwMode="auto">
            <a:xfrm>
              <a:off x="1688327" y="1950229"/>
              <a:ext cx="413762" cy="412834"/>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64" name="Oval 12"/>
            <p:cNvSpPr>
              <a:spLocks noChangeArrowheads="1"/>
            </p:cNvSpPr>
            <p:nvPr/>
          </p:nvSpPr>
          <p:spPr bwMode="auto">
            <a:xfrm>
              <a:off x="1955510" y="1555021"/>
              <a:ext cx="256050" cy="256050"/>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65" name="Oval 13"/>
            <p:cNvSpPr>
              <a:spLocks noChangeArrowheads="1"/>
            </p:cNvSpPr>
            <p:nvPr/>
          </p:nvSpPr>
          <p:spPr bwMode="auto">
            <a:xfrm>
              <a:off x="2389682" y="1158887"/>
              <a:ext cx="86278" cy="87205"/>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66" name="Oval 14"/>
            <p:cNvSpPr>
              <a:spLocks noChangeArrowheads="1"/>
            </p:cNvSpPr>
            <p:nvPr/>
          </p:nvSpPr>
          <p:spPr bwMode="auto">
            <a:xfrm>
              <a:off x="1532470" y="1755408"/>
              <a:ext cx="85350" cy="85350"/>
            </a:xfrm>
            <a:prstGeom prst="ellipse">
              <a:avLst/>
            </a:pr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67" name="Oval 15"/>
            <p:cNvSpPr>
              <a:spLocks noChangeArrowheads="1"/>
            </p:cNvSpPr>
            <p:nvPr/>
          </p:nvSpPr>
          <p:spPr bwMode="auto">
            <a:xfrm>
              <a:off x="2068691" y="1905698"/>
              <a:ext cx="87205" cy="88133"/>
            </a:xfrm>
            <a:prstGeom prst="ellipse">
              <a:avLst/>
            </a:prstGeom>
            <a:solidFill>
              <a:schemeClr val="accent1">
                <a:alpha val="80000"/>
              </a:schemeClr>
            </a:solidFill>
            <a:ln>
              <a:noFill/>
            </a:ln>
          </p:spPr>
          <p:txBody>
            <a:bodyPr vert="horz" wrap="square" lIns="91440" tIns="45720" rIns="91440" bIns="45720" numCol="1" anchor="t" anchorCtr="0" compatLnSpc="1"/>
            <a:lstStyle/>
            <a:p>
              <a:endParaRPr lang="zh-CN" altLang="en-US"/>
            </a:p>
          </p:txBody>
        </p:sp>
        <p:sp>
          <p:nvSpPr>
            <p:cNvPr id="68" name="Freeform 16"/>
            <p:cNvSpPr/>
            <p:nvPr/>
          </p:nvSpPr>
          <p:spPr bwMode="auto">
            <a:xfrm>
              <a:off x="1673483" y="1653359"/>
              <a:ext cx="376653" cy="377581"/>
            </a:xfrm>
            <a:custGeom>
              <a:avLst/>
              <a:gdLst>
                <a:gd name="T0" fmla="*/ 201 w 203"/>
                <a:gd name="T1" fmla="*/ 98 h 203"/>
                <a:gd name="T2" fmla="*/ 105 w 203"/>
                <a:gd name="T3" fmla="*/ 201 h 203"/>
                <a:gd name="T4" fmla="*/ 1 w 203"/>
                <a:gd name="T5" fmla="*/ 105 h 203"/>
                <a:gd name="T6" fmla="*/ 98 w 203"/>
                <a:gd name="T7" fmla="*/ 1 h 203"/>
                <a:gd name="T8" fmla="*/ 201 w 203"/>
                <a:gd name="T9" fmla="*/ 98 h 203"/>
              </a:gdLst>
              <a:ahLst/>
              <a:cxnLst>
                <a:cxn ang="0">
                  <a:pos x="T0" y="T1"/>
                </a:cxn>
                <a:cxn ang="0">
                  <a:pos x="T2" y="T3"/>
                </a:cxn>
                <a:cxn ang="0">
                  <a:pos x="T4" y="T5"/>
                </a:cxn>
                <a:cxn ang="0">
                  <a:pos x="T6" y="T7"/>
                </a:cxn>
                <a:cxn ang="0">
                  <a:pos x="T8" y="T9"/>
                </a:cxn>
              </a:cxnLst>
              <a:rect l="0" t="0" r="r" b="b"/>
              <a:pathLst>
                <a:path w="203" h="203">
                  <a:moveTo>
                    <a:pt x="201" y="98"/>
                  </a:moveTo>
                  <a:cubicBezTo>
                    <a:pt x="203" y="153"/>
                    <a:pt x="160" y="200"/>
                    <a:pt x="105" y="201"/>
                  </a:cubicBezTo>
                  <a:cubicBezTo>
                    <a:pt x="49" y="203"/>
                    <a:pt x="3" y="160"/>
                    <a:pt x="1" y="105"/>
                  </a:cubicBezTo>
                  <a:cubicBezTo>
                    <a:pt x="0" y="49"/>
                    <a:pt x="43" y="3"/>
                    <a:pt x="98" y="1"/>
                  </a:cubicBezTo>
                  <a:cubicBezTo>
                    <a:pt x="153" y="0"/>
                    <a:pt x="200" y="43"/>
                    <a:pt x="201" y="98"/>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69" name="Oval 17"/>
            <p:cNvSpPr>
              <a:spLocks noChangeArrowheads="1"/>
            </p:cNvSpPr>
            <p:nvPr/>
          </p:nvSpPr>
          <p:spPr bwMode="auto">
            <a:xfrm>
              <a:off x="1504639" y="1901988"/>
              <a:ext cx="141013" cy="143796"/>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70" name="Oval 18"/>
            <p:cNvSpPr>
              <a:spLocks noChangeArrowheads="1"/>
            </p:cNvSpPr>
            <p:nvPr/>
          </p:nvSpPr>
          <p:spPr bwMode="auto">
            <a:xfrm>
              <a:off x="2167029" y="964066"/>
              <a:ext cx="142869" cy="142868"/>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71" name="Oval 19"/>
            <p:cNvSpPr>
              <a:spLocks noChangeArrowheads="1"/>
            </p:cNvSpPr>
            <p:nvPr/>
          </p:nvSpPr>
          <p:spPr bwMode="auto">
            <a:xfrm>
              <a:off x="2276500" y="1307321"/>
              <a:ext cx="312641" cy="312641"/>
            </a:xfrm>
            <a:prstGeom prst="ellipse">
              <a:avLst/>
            </a:pr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72" name="Oval 20"/>
            <p:cNvSpPr>
              <a:spLocks noChangeArrowheads="1"/>
            </p:cNvSpPr>
            <p:nvPr/>
          </p:nvSpPr>
          <p:spPr bwMode="auto">
            <a:xfrm>
              <a:off x="2276500" y="1816638"/>
              <a:ext cx="312641" cy="314496"/>
            </a:xfrm>
            <a:prstGeom prst="ellipse">
              <a:avLst/>
            </a:prstGeom>
            <a:solidFill>
              <a:schemeClr val="accent3">
                <a:alpha val="70000"/>
              </a:schemeClr>
            </a:solidFill>
            <a:ln>
              <a:noFill/>
            </a:ln>
          </p:spPr>
          <p:txBody>
            <a:bodyPr vert="horz" wrap="square" lIns="91440" tIns="45720" rIns="91440" bIns="45720" numCol="1" anchor="t" anchorCtr="0" compatLnSpc="1"/>
            <a:lstStyle/>
            <a:p>
              <a:endParaRPr lang="zh-CN" altLang="en-US" dirty="0"/>
            </a:p>
          </p:txBody>
        </p:sp>
        <p:sp>
          <p:nvSpPr>
            <p:cNvPr id="73" name="Oval 21"/>
            <p:cNvSpPr>
              <a:spLocks noChangeArrowheads="1"/>
            </p:cNvSpPr>
            <p:nvPr/>
          </p:nvSpPr>
          <p:spPr bwMode="auto">
            <a:xfrm>
              <a:off x="2754274" y="1514202"/>
              <a:ext cx="141013" cy="141013"/>
            </a:xfrm>
            <a:prstGeom prst="ellipse">
              <a:avLst/>
            </a:pr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74" name="Freeform 22"/>
            <p:cNvSpPr/>
            <p:nvPr/>
          </p:nvSpPr>
          <p:spPr bwMode="auto">
            <a:xfrm>
              <a:off x="2947240" y="2064338"/>
              <a:ext cx="348822" cy="600233"/>
            </a:xfrm>
            <a:custGeom>
              <a:avLst/>
              <a:gdLst>
                <a:gd name="T0" fmla="*/ 0 w 188"/>
                <a:gd name="T1" fmla="*/ 132 h 323"/>
                <a:gd name="T2" fmla="*/ 188 w 188"/>
                <a:gd name="T3" fmla="*/ 323 h 323"/>
                <a:gd name="T4" fmla="*/ 53 w 188"/>
                <a:gd name="T5" fmla="*/ 0 h 323"/>
                <a:gd name="T6" fmla="*/ 0 w 188"/>
                <a:gd name="T7" fmla="*/ 132 h 323"/>
              </a:gdLst>
              <a:ahLst/>
              <a:cxnLst>
                <a:cxn ang="0">
                  <a:pos x="T0" y="T1"/>
                </a:cxn>
                <a:cxn ang="0">
                  <a:pos x="T2" y="T3"/>
                </a:cxn>
                <a:cxn ang="0">
                  <a:pos x="T4" y="T5"/>
                </a:cxn>
                <a:cxn ang="0">
                  <a:pos x="T6" y="T7"/>
                </a:cxn>
              </a:cxnLst>
              <a:rect l="0" t="0" r="r" b="b"/>
              <a:pathLst>
                <a:path w="188" h="323">
                  <a:moveTo>
                    <a:pt x="0" y="132"/>
                  </a:moveTo>
                  <a:cubicBezTo>
                    <a:pt x="0" y="237"/>
                    <a:pt x="84" y="321"/>
                    <a:pt x="188" y="323"/>
                  </a:cubicBezTo>
                  <a:cubicBezTo>
                    <a:pt x="176" y="201"/>
                    <a:pt x="127" y="89"/>
                    <a:pt x="53" y="0"/>
                  </a:cubicBezTo>
                  <a:cubicBezTo>
                    <a:pt x="20" y="34"/>
                    <a:pt x="0" y="81"/>
                    <a:pt x="0" y="132"/>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75" name="Freeform 23"/>
            <p:cNvSpPr/>
            <p:nvPr/>
          </p:nvSpPr>
          <p:spPr bwMode="auto">
            <a:xfrm>
              <a:off x="2563165" y="2261014"/>
              <a:ext cx="738463" cy="894319"/>
            </a:xfrm>
            <a:custGeom>
              <a:avLst/>
              <a:gdLst>
                <a:gd name="T0" fmla="*/ 0 w 398"/>
                <a:gd name="T1" fmla="*/ 241 h 481"/>
                <a:gd name="T2" fmla="*/ 241 w 398"/>
                <a:gd name="T3" fmla="*/ 481 h 481"/>
                <a:gd name="T4" fmla="*/ 375 w 398"/>
                <a:gd name="T5" fmla="*/ 440 h 481"/>
                <a:gd name="T6" fmla="*/ 398 w 398"/>
                <a:gd name="T7" fmla="*/ 277 h 481"/>
                <a:gd name="T8" fmla="*/ 342 w 398"/>
                <a:gd name="T9" fmla="*/ 22 h 481"/>
                <a:gd name="T10" fmla="*/ 241 w 398"/>
                <a:gd name="T11" fmla="*/ 0 h 481"/>
                <a:gd name="T12" fmla="*/ 0 w 398"/>
                <a:gd name="T13" fmla="*/ 241 h 481"/>
              </a:gdLst>
              <a:ahLst/>
              <a:cxnLst>
                <a:cxn ang="0">
                  <a:pos x="T0" y="T1"/>
                </a:cxn>
                <a:cxn ang="0">
                  <a:pos x="T2" y="T3"/>
                </a:cxn>
                <a:cxn ang="0">
                  <a:pos x="T4" y="T5"/>
                </a:cxn>
                <a:cxn ang="0">
                  <a:pos x="T6" y="T7"/>
                </a:cxn>
                <a:cxn ang="0">
                  <a:pos x="T8" y="T9"/>
                </a:cxn>
                <a:cxn ang="0">
                  <a:pos x="T10" y="T11"/>
                </a:cxn>
                <a:cxn ang="0">
                  <a:pos x="T12" y="T13"/>
                </a:cxn>
              </a:cxnLst>
              <a:rect l="0" t="0" r="r" b="b"/>
              <a:pathLst>
                <a:path w="398" h="481">
                  <a:moveTo>
                    <a:pt x="0" y="241"/>
                  </a:moveTo>
                  <a:cubicBezTo>
                    <a:pt x="0" y="374"/>
                    <a:pt x="108" y="481"/>
                    <a:pt x="241" y="481"/>
                  </a:cubicBezTo>
                  <a:cubicBezTo>
                    <a:pt x="291" y="481"/>
                    <a:pt x="337" y="466"/>
                    <a:pt x="375" y="440"/>
                  </a:cubicBezTo>
                  <a:cubicBezTo>
                    <a:pt x="390" y="388"/>
                    <a:pt x="398" y="333"/>
                    <a:pt x="398" y="277"/>
                  </a:cubicBezTo>
                  <a:cubicBezTo>
                    <a:pt x="398" y="186"/>
                    <a:pt x="378" y="100"/>
                    <a:pt x="342" y="22"/>
                  </a:cubicBezTo>
                  <a:cubicBezTo>
                    <a:pt x="311" y="8"/>
                    <a:pt x="277" y="0"/>
                    <a:pt x="241" y="0"/>
                  </a:cubicBezTo>
                  <a:cubicBezTo>
                    <a:pt x="108" y="0"/>
                    <a:pt x="0" y="108"/>
                    <a:pt x="0" y="241"/>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76" name="Freeform 24"/>
            <p:cNvSpPr/>
            <p:nvPr/>
          </p:nvSpPr>
          <p:spPr bwMode="auto">
            <a:xfrm>
              <a:off x="2574297" y="2261014"/>
              <a:ext cx="415618" cy="355316"/>
            </a:xfrm>
            <a:custGeom>
              <a:avLst/>
              <a:gdLst>
                <a:gd name="T0" fmla="*/ 0 w 224"/>
                <a:gd name="T1" fmla="*/ 188 h 191"/>
                <a:gd name="T2" fmla="*/ 33 w 224"/>
                <a:gd name="T3" fmla="*/ 191 h 191"/>
                <a:gd name="T4" fmla="*/ 224 w 224"/>
                <a:gd name="T5" fmla="*/ 0 h 191"/>
                <a:gd name="T6" fmla="*/ 0 w 224"/>
                <a:gd name="T7" fmla="*/ 188 h 191"/>
              </a:gdLst>
              <a:ahLst/>
              <a:cxnLst>
                <a:cxn ang="0">
                  <a:pos x="T0" y="T1"/>
                </a:cxn>
                <a:cxn ang="0">
                  <a:pos x="T2" y="T3"/>
                </a:cxn>
                <a:cxn ang="0">
                  <a:pos x="T4" y="T5"/>
                </a:cxn>
                <a:cxn ang="0">
                  <a:pos x="T6" y="T7"/>
                </a:cxn>
              </a:cxnLst>
              <a:rect l="0" t="0" r="r" b="b"/>
              <a:pathLst>
                <a:path w="224" h="191">
                  <a:moveTo>
                    <a:pt x="0" y="188"/>
                  </a:moveTo>
                  <a:cubicBezTo>
                    <a:pt x="11" y="190"/>
                    <a:pt x="22" y="191"/>
                    <a:pt x="33" y="191"/>
                  </a:cubicBezTo>
                  <a:cubicBezTo>
                    <a:pt x="138" y="191"/>
                    <a:pt x="224" y="106"/>
                    <a:pt x="224" y="0"/>
                  </a:cubicBezTo>
                  <a:cubicBezTo>
                    <a:pt x="114" y="5"/>
                    <a:pt x="23" y="84"/>
                    <a:pt x="0" y="188"/>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77" name="Freeform 25"/>
            <p:cNvSpPr/>
            <p:nvPr/>
          </p:nvSpPr>
          <p:spPr bwMode="auto">
            <a:xfrm>
              <a:off x="2840364" y="3083913"/>
              <a:ext cx="420165" cy="581208"/>
            </a:xfrm>
            <a:custGeom>
              <a:avLst/>
              <a:gdLst>
                <a:gd name="T0" fmla="*/ 224 w 224"/>
                <a:gd name="T1" fmla="*/ 0 h 310"/>
                <a:gd name="T2" fmla="*/ 0 w 224"/>
                <a:gd name="T3" fmla="*/ 240 h 310"/>
                <a:gd name="T4" fmla="*/ 11 w 224"/>
                <a:gd name="T5" fmla="*/ 310 h 310"/>
                <a:gd name="T6" fmla="*/ 224 w 224"/>
                <a:gd name="T7" fmla="*/ 0 h 310"/>
              </a:gdLst>
              <a:ahLst/>
              <a:cxnLst>
                <a:cxn ang="0">
                  <a:pos x="T0" y="T1"/>
                </a:cxn>
                <a:cxn ang="0">
                  <a:pos x="T2" y="T3"/>
                </a:cxn>
                <a:cxn ang="0">
                  <a:pos x="T4" y="T5"/>
                </a:cxn>
                <a:cxn ang="0">
                  <a:pos x="T6" y="T7"/>
                </a:cxn>
              </a:cxnLst>
              <a:rect l="0" t="0" r="r" b="b"/>
              <a:pathLst>
                <a:path w="224" h="310">
                  <a:moveTo>
                    <a:pt x="224" y="0"/>
                  </a:moveTo>
                  <a:cubicBezTo>
                    <a:pt x="99" y="9"/>
                    <a:pt x="0" y="113"/>
                    <a:pt x="0" y="240"/>
                  </a:cubicBezTo>
                  <a:cubicBezTo>
                    <a:pt x="0" y="265"/>
                    <a:pt x="4" y="288"/>
                    <a:pt x="11" y="310"/>
                  </a:cubicBezTo>
                  <a:cubicBezTo>
                    <a:pt x="112" y="233"/>
                    <a:pt x="187" y="125"/>
                    <a:pt x="224" y="0"/>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78" name="Freeform 26"/>
            <p:cNvSpPr/>
            <p:nvPr/>
          </p:nvSpPr>
          <p:spPr bwMode="auto">
            <a:xfrm>
              <a:off x="1104792" y="3017103"/>
              <a:ext cx="615077" cy="753306"/>
            </a:xfrm>
            <a:custGeom>
              <a:avLst/>
              <a:gdLst>
                <a:gd name="T0" fmla="*/ 22 w 331"/>
                <a:gd name="T1" fmla="*/ 0 h 405"/>
                <a:gd name="T2" fmla="*/ 0 w 331"/>
                <a:gd name="T3" fmla="*/ 0 h 405"/>
                <a:gd name="T4" fmla="*/ 316 w 331"/>
                <a:gd name="T5" fmla="*/ 405 h 405"/>
                <a:gd name="T6" fmla="*/ 331 w 331"/>
                <a:gd name="T7" fmla="*/ 309 h 405"/>
                <a:gd name="T8" fmla="*/ 22 w 331"/>
                <a:gd name="T9" fmla="*/ 0 h 405"/>
              </a:gdLst>
              <a:ahLst/>
              <a:cxnLst>
                <a:cxn ang="0">
                  <a:pos x="T0" y="T1"/>
                </a:cxn>
                <a:cxn ang="0">
                  <a:pos x="T2" y="T3"/>
                </a:cxn>
                <a:cxn ang="0">
                  <a:pos x="T4" y="T5"/>
                </a:cxn>
                <a:cxn ang="0">
                  <a:pos x="T6" y="T7"/>
                </a:cxn>
                <a:cxn ang="0">
                  <a:pos x="T8" y="T9"/>
                </a:cxn>
              </a:cxnLst>
              <a:rect l="0" t="0" r="r" b="b"/>
              <a:pathLst>
                <a:path w="331" h="405">
                  <a:moveTo>
                    <a:pt x="22" y="0"/>
                  </a:moveTo>
                  <a:cubicBezTo>
                    <a:pt x="14" y="0"/>
                    <a:pt x="7" y="0"/>
                    <a:pt x="0" y="0"/>
                  </a:cubicBezTo>
                  <a:cubicBezTo>
                    <a:pt x="40" y="178"/>
                    <a:pt x="158" y="325"/>
                    <a:pt x="316" y="405"/>
                  </a:cubicBezTo>
                  <a:cubicBezTo>
                    <a:pt x="326" y="375"/>
                    <a:pt x="331" y="343"/>
                    <a:pt x="331" y="309"/>
                  </a:cubicBezTo>
                  <a:cubicBezTo>
                    <a:pt x="331" y="138"/>
                    <a:pt x="193" y="0"/>
                    <a:pt x="22" y="0"/>
                  </a:cubicBezTo>
                  <a:close/>
                </a:path>
              </a:pathLst>
            </a:cu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79" name="Freeform 27"/>
            <p:cNvSpPr/>
            <p:nvPr/>
          </p:nvSpPr>
          <p:spPr bwMode="auto">
            <a:xfrm>
              <a:off x="1406301" y="2974428"/>
              <a:ext cx="1229226" cy="912874"/>
            </a:xfrm>
            <a:custGeom>
              <a:avLst/>
              <a:gdLst>
                <a:gd name="T0" fmla="*/ 331 w 662"/>
                <a:gd name="T1" fmla="*/ 0 h 491"/>
                <a:gd name="T2" fmla="*/ 0 w 662"/>
                <a:gd name="T3" fmla="*/ 317 h 491"/>
                <a:gd name="T4" fmla="*/ 422 w 662"/>
                <a:gd name="T5" fmla="*/ 491 h 491"/>
                <a:gd name="T6" fmla="*/ 639 w 662"/>
                <a:gd name="T7" fmla="*/ 451 h 491"/>
                <a:gd name="T8" fmla="*/ 662 w 662"/>
                <a:gd name="T9" fmla="*/ 331 h 491"/>
                <a:gd name="T10" fmla="*/ 331 w 662"/>
                <a:gd name="T11" fmla="*/ 0 h 491"/>
              </a:gdLst>
              <a:ahLst/>
              <a:cxnLst>
                <a:cxn ang="0">
                  <a:pos x="T0" y="T1"/>
                </a:cxn>
                <a:cxn ang="0">
                  <a:pos x="T2" y="T3"/>
                </a:cxn>
                <a:cxn ang="0">
                  <a:pos x="T4" y="T5"/>
                </a:cxn>
                <a:cxn ang="0">
                  <a:pos x="T6" y="T7"/>
                </a:cxn>
                <a:cxn ang="0">
                  <a:pos x="T8" y="T9"/>
                </a:cxn>
                <a:cxn ang="0">
                  <a:pos x="T10" y="T11"/>
                </a:cxn>
              </a:cxnLst>
              <a:rect l="0" t="0" r="r" b="b"/>
              <a:pathLst>
                <a:path w="662" h="491">
                  <a:moveTo>
                    <a:pt x="331" y="0"/>
                  </a:moveTo>
                  <a:cubicBezTo>
                    <a:pt x="153" y="0"/>
                    <a:pt x="7" y="141"/>
                    <a:pt x="0" y="317"/>
                  </a:cubicBezTo>
                  <a:cubicBezTo>
                    <a:pt x="108" y="425"/>
                    <a:pt x="258" y="491"/>
                    <a:pt x="422" y="491"/>
                  </a:cubicBezTo>
                  <a:cubicBezTo>
                    <a:pt x="499" y="491"/>
                    <a:pt x="572" y="477"/>
                    <a:pt x="639" y="451"/>
                  </a:cubicBezTo>
                  <a:cubicBezTo>
                    <a:pt x="654" y="414"/>
                    <a:pt x="662" y="373"/>
                    <a:pt x="662" y="331"/>
                  </a:cubicBezTo>
                  <a:cubicBezTo>
                    <a:pt x="662" y="148"/>
                    <a:pt x="514" y="0"/>
                    <a:pt x="331" y="0"/>
                  </a:cubicBezTo>
                  <a:close/>
                </a:path>
              </a:pathLst>
            </a:cu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80" name="Freeform 28"/>
            <p:cNvSpPr/>
            <p:nvPr/>
          </p:nvSpPr>
          <p:spPr bwMode="auto">
            <a:xfrm>
              <a:off x="2335874" y="2933609"/>
              <a:ext cx="874838" cy="872054"/>
            </a:xfrm>
            <a:custGeom>
              <a:avLst/>
              <a:gdLst>
                <a:gd name="T0" fmla="*/ 471 w 471"/>
                <a:gd name="T1" fmla="*/ 153 h 469"/>
                <a:gd name="T2" fmla="*/ 244 w 471"/>
                <a:gd name="T3" fmla="*/ 0 h 469"/>
                <a:gd name="T4" fmla="*/ 0 w 471"/>
                <a:gd name="T5" fmla="*/ 244 h 469"/>
                <a:gd name="T6" fmla="*/ 149 w 471"/>
                <a:gd name="T7" fmla="*/ 469 h 469"/>
                <a:gd name="T8" fmla="*/ 471 w 471"/>
                <a:gd name="T9" fmla="*/ 153 h 469"/>
              </a:gdLst>
              <a:ahLst/>
              <a:cxnLst>
                <a:cxn ang="0">
                  <a:pos x="T0" y="T1"/>
                </a:cxn>
                <a:cxn ang="0">
                  <a:pos x="T2" y="T3"/>
                </a:cxn>
                <a:cxn ang="0">
                  <a:pos x="T4" y="T5"/>
                </a:cxn>
                <a:cxn ang="0">
                  <a:pos x="T6" y="T7"/>
                </a:cxn>
                <a:cxn ang="0">
                  <a:pos x="T8" y="T9"/>
                </a:cxn>
              </a:cxnLst>
              <a:rect l="0" t="0" r="r" b="b"/>
              <a:pathLst>
                <a:path w="471" h="469">
                  <a:moveTo>
                    <a:pt x="471" y="153"/>
                  </a:moveTo>
                  <a:cubicBezTo>
                    <a:pt x="435" y="63"/>
                    <a:pt x="347" y="0"/>
                    <a:pt x="244" y="0"/>
                  </a:cubicBezTo>
                  <a:cubicBezTo>
                    <a:pt x="109" y="0"/>
                    <a:pt x="0" y="109"/>
                    <a:pt x="0" y="244"/>
                  </a:cubicBezTo>
                  <a:cubicBezTo>
                    <a:pt x="0" y="345"/>
                    <a:pt x="61" y="432"/>
                    <a:pt x="149" y="469"/>
                  </a:cubicBezTo>
                  <a:cubicBezTo>
                    <a:pt x="293" y="410"/>
                    <a:pt x="409" y="296"/>
                    <a:pt x="471" y="153"/>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81" name="Oval 30"/>
            <p:cNvSpPr>
              <a:spLocks noChangeArrowheads="1"/>
            </p:cNvSpPr>
            <p:nvPr/>
          </p:nvSpPr>
          <p:spPr bwMode="auto">
            <a:xfrm>
              <a:off x="2540899" y="1675625"/>
              <a:ext cx="493546" cy="496329"/>
            </a:xfrm>
            <a:prstGeom prst="ellipse">
              <a:avLst/>
            </a:prstGeom>
            <a:solidFill>
              <a:schemeClr val="accent2">
                <a:alpha val="70000"/>
              </a:schemeClr>
            </a:solidFill>
            <a:ln>
              <a:noFill/>
            </a:ln>
          </p:spPr>
          <p:txBody>
            <a:bodyPr vert="horz" wrap="square" lIns="91440" tIns="45720" rIns="91440" bIns="45720" numCol="1" anchor="t" anchorCtr="0" compatLnSpc="1"/>
            <a:lstStyle/>
            <a:p>
              <a:endParaRPr lang="zh-CN" altLang="en-US"/>
            </a:p>
          </p:txBody>
        </p:sp>
        <p:sp>
          <p:nvSpPr>
            <p:cNvPr id="82" name="Oval 11"/>
            <p:cNvSpPr>
              <a:spLocks noChangeArrowheads="1"/>
            </p:cNvSpPr>
            <p:nvPr/>
          </p:nvSpPr>
          <p:spPr bwMode="auto">
            <a:xfrm>
              <a:off x="1833627" y="2696302"/>
              <a:ext cx="557332" cy="556080"/>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83" name="Oval 11"/>
            <p:cNvSpPr>
              <a:spLocks noChangeArrowheads="1"/>
            </p:cNvSpPr>
            <p:nvPr/>
          </p:nvSpPr>
          <p:spPr bwMode="auto">
            <a:xfrm>
              <a:off x="2226489" y="2491874"/>
              <a:ext cx="249471" cy="248912"/>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grpSp>
      <p:sp>
        <p:nvSpPr>
          <p:cNvPr id="84" name="椭圆 83"/>
          <p:cNvSpPr/>
          <p:nvPr/>
        </p:nvSpPr>
        <p:spPr>
          <a:xfrm>
            <a:off x="827584" y="2354932"/>
            <a:ext cx="1354104" cy="1329083"/>
          </a:xfrm>
          <a:prstGeom prst="ellipse">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TextBox 28"/>
          <p:cNvSpPr txBox="1"/>
          <p:nvPr/>
        </p:nvSpPr>
        <p:spPr>
          <a:xfrm>
            <a:off x="1043608" y="2786980"/>
            <a:ext cx="864096" cy="492443"/>
          </a:xfrm>
          <a:prstGeom prst="rect">
            <a:avLst/>
          </a:prstGeom>
          <a:noFill/>
        </p:spPr>
        <p:txBody>
          <a:bodyPr wrap="square" lIns="0" tIns="0" rIns="0" bIns="0" rtlCol="0">
            <a:spAutoFit/>
          </a:bodyPr>
          <a:lstStyle/>
          <a:p>
            <a:pPr algn="dist"/>
            <a:r>
              <a:rPr lang="zh-CN" altLang="en-US" sz="2000" dirty="0">
                <a:ln w="6350">
                  <a:noFill/>
                </a:ln>
                <a:solidFill>
                  <a:schemeClr val="accent1"/>
                </a:solidFill>
                <a:latin typeface="微软雅黑" pitchFamily="34" charset="-122"/>
                <a:ea typeface="微软雅黑" pitchFamily="34" charset="-122"/>
              </a:rPr>
              <a:t>目录  </a:t>
            </a:r>
            <a:endParaRPr lang="en-US" altLang="zh-CN" sz="2000" dirty="0">
              <a:ln w="6350">
                <a:noFill/>
              </a:ln>
              <a:solidFill>
                <a:schemeClr val="accent1"/>
              </a:solidFill>
              <a:latin typeface="微软雅黑" pitchFamily="34" charset="-122"/>
              <a:ea typeface="微软雅黑" pitchFamily="34" charset="-122"/>
            </a:endParaRPr>
          </a:p>
          <a:p>
            <a:pPr algn="dist"/>
            <a:r>
              <a:rPr lang="en-US" altLang="zh-CN" sz="1200" dirty="0">
                <a:ln w="6350">
                  <a:noFill/>
                </a:ln>
                <a:solidFill>
                  <a:schemeClr val="bg1">
                    <a:lumMod val="50000"/>
                  </a:schemeClr>
                </a:solidFill>
                <a:latin typeface="微软雅黑" pitchFamily="34" charset="-122"/>
                <a:ea typeface="微软雅黑" pitchFamily="34" charset="-122"/>
                <a:cs typeface="Arial" pitchFamily="34" charset="0"/>
              </a:rPr>
              <a:t>CONTENTS</a:t>
            </a:r>
            <a:endParaRPr lang="zh-CN" altLang="en-US" sz="1200" dirty="0">
              <a:ln w="6350">
                <a:noFill/>
              </a:ln>
              <a:solidFill>
                <a:schemeClr val="bg1">
                  <a:lumMod val="50000"/>
                </a:schemeClr>
              </a:solidFill>
              <a:latin typeface="微软雅黑" pitchFamily="34" charset="-122"/>
              <a:ea typeface="微软雅黑" pitchFamily="34" charset="-122"/>
              <a:cs typeface="Arial" pitchFamily="34" charset="0"/>
            </a:endParaRPr>
          </a:p>
        </p:txBody>
      </p:sp>
      <p:sp>
        <p:nvSpPr>
          <p:cNvPr id="90" name="Freeform 13"/>
          <p:cNvSpPr>
            <a:spLocks noEditPoints="1"/>
          </p:cNvSpPr>
          <p:nvPr/>
        </p:nvSpPr>
        <p:spPr bwMode="auto">
          <a:xfrm>
            <a:off x="4744933" y="1067057"/>
            <a:ext cx="229234" cy="190370"/>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1" name="矩形 90"/>
          <p:cNvSpPr/>
          <p:nvPr/>
        </p:nvSpPr>
        <p:spPr>
          <a:xfrm>
            <a:off x="4067944" y="1609677"/>
            <a:ext cx="3005951" cy="430887"/>
          </a:xfrm>
          <a:prstGeom prst="rect">
            <a:avLst/>
          </a:prstGeom>
        </p:spPr>
        <p:txBody>
          <a:bodyPr wrap="none">
            <a:spAutoFit/>
          </a:bodyPr>
          <a:lstStyle/>
          <a:p>
            <a:pPr>
              <a:defRPr/>
            </a:pPr>
            <a:r>
              <a:rPr kumimoji="1" lang="zh-CN" altLang="en-US" sz="2200" dirty="0">
                <a:ln w="6350">
                  <a:noFill/>
                </a:ln>
                <a:latin typeface="宋体" pitchFamily="2" charset="-122"/>
                <a:ea typeface="宋体" pitchFamily="2" charset="-122"/>
                <a:sym typeface="+mn-ea"/>
              </a:rPr>
              <a:t>风险管理的流程和方法</a:t>
            </a:r>
            <a:endParaRPr lang="zh-CN" altLang="en-US" sz="2200" dirty="0">
              <a:ln w="6350">
                <a:noFill/>
              </a:ln>
              <a:latin typeface="宋体" pitchFamily="2" charset="-122"/>
              <a:ea typeface="宋体" pitchFamily="2" charset="-122"/>
            </a:endParaRPr>
          </a:p>
        </p:txBody>
      </p:sp>
      <p:sp>
        <p:nvSpPr>
          <p:cNvPr id="92" name="矩形 91"/>
          <p:cNvSpPr/>
          <p:nvPr/>
        </p:nvSpPr>
        <p:spPr>
          <a:xfrm>
            <a:off x="4067944" y="1087624"/>
            <a:ext cx="3005951" cy="430887"/>
          </a:xfrm>
          <a:prstGeom prst="rect">
            <a:avLst/>
          </a:prstGeom>
        </p:spPr>
        <p:txBody>
          <a:bodyPr wrap="none">
            <a:spAutoFit/>
          </a:bodyPr>
          <a:lstStyle/>
          <a:p>
            <a:pPr>
              <a:defRPr/>
            </a:pPr>
            <a:r>
              <a:rPr kumimoji="1" lang="zh-CN" altLang="en-US" sz="2200" dirty="0">
                <a:latin typeface="宋体" pitchFamily="2" charset="-122"/>
                <a:ea typeface="宋体" pitchFamily="2" charset="-122"/>
                <a:sym typeface="+mn-ea"/>
              </a:rPr>
              <a:t>风险、损失与不确定性</a:t>
            </a:r>
            <a:endParaRPr lang="zh-CN" altLang="en-US" sz="2200" dirty="0">
              <a:ln w="6350">
                <a:noFill/>
              </a:ln>
              <a:solidFill>
                <a:schemeClr val="bg1">
                  <a:lumMod val="50000"/>
                </a:schemeClr>
              </a:solidFill>
              <a:latin typeface="宋体" pitchFamily="2" charset="-122"/>
              <a:ea typeface="宋体" pitchFamily="2" charset="-122"/>
            </a:endParaRPr>
          </a:p>
        </p:txBody>
      </p:sp>
      <p:sp>
        <p:nvSpPr>
          <p:cNvPr id="95" name="矩形 94"/>
          <p:cNvSpPr/>
          <p:nvPr/>
        </p:nvSpPr>
        <p:spPr>
          <a:xfrm>
            <a:off x="4067944" y="528047"/>
            <a:ext cx="2159566" cy="430887"/>
          </a:xfrm>
          <a:prstGeom prst="rect">
            <a:avLst/>
          </a:prstGeom>
        </p:spPr>
        <p:txBody>
          <a:bodyPr wrap="none">
            <a:spAutoFit/>
          </a:bodyPr>
          <a:lstStyle/>
          <a:p>
            <a:r>
              <a:rPr kumimoji="1" lang="zh-CN" altLang="en-US" sz="2200" dirty="0">
                <a:ln w="6350">
                  <a:noFill/>
                </a:ln>
                <a:latin typeface="宋体" pitchFamily="2" charset="-122"/>
                <a:ea typeface="宋体" pitchFamily="2" charset="-122"/>
                <a:sym typeface="+mn-ea"/>
              </a:rPr>
              <a:t>风险与金融风险</a:t>
            </a:r>
            <a:endParaRPr lang="zh-CN" altLang="en-US" sz="2200" dirty="0">
              <a:ln w="6350">
                <a:noFill/>
              </a:ln>
              <a:latin typeface="宋体" pitchFamily="2" charset="-122"/>
              <a:ea typeface="宋体" pitchFamily="2" charset="-122"/>
            </a:endParaRPr>
          </a:p>
        </p:txBody>
      </p:sp>
      <p:sp>
        <p:nvSpPr>
          <p:cNvPr id="43" name="椭圆 28"/>
          <p:cNvSpPr/>
          <p:nvPr/>
        </p:nvSpPr>
        <p:spPr>
          <a:xfrm>
            <a:off x="3555917" y="2191199"/>
            <a:ext cx="383553" cy="465386"/>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90"/>
          <p:cNvSpPr/>
          <p:nvPr/>
        </p:nvSpPr>
        <p:spPr>
          <a:xfrm>
            <a:off x="4067944" y="2139488"/>
            <a:ext cx="2723823" cy="430887"/>
          </a:xfrm>
          <a:prstGeom prst="rect">
            <a:avLst/>
          </a:prstGeom>
        </p:spPr>
        <p:txBody>
          <a:bodyPr wrap="none">
            <a:spAutoFit/>
          </a:bodyPr>
          <a:lstStyle/>
          <a:p>
            <a:pPr>
              <a:defRPr/>
            </a:pPr>
            <a:r>
              <a:rPr kumimoji="1" lang="zh-CN" altLang="en-US" sz="2200" dirty="0">
                <a:latin typeface="宋体" pitchFamily="2" charset="-122"/>
                <a:ea typeface="宋体" pitchFamily="2" charset="-122"/>
                <a:sym typeface="+mn-ea"/>
              </a:rPr>
              <a:t>风险管理方法的演变</a:t>
            </a:r>
            <a:endParaRPr lang="zh-CN" altLang="en-US" sz="2200" dirty="0">
              <a:ln w="6350">
                <a:noFill/>
              </a:ln>
              <a:solidFill>
                <a:schemeClr val="bg1">
                  <a:lumMod val="50000"/>
                </a:schemeClr>
              </a:solidFill>
              <a:latin typeface="宋体" pitchFamily="2" charset="-122"/>
              <a:ea typeface="宋体" pitchFamily="2" charset="-122"/>
            </a:endParaRPr>
          </a:p>
        </p:txBody>
      </p:sp>
      <p:sp>
        <p:nvSpPr>
          <p:cNvPr id="3" name="文本框 2"/>
          <p:cNvSpPr txBox="1"/>
          <p:nvPr/>
        </p:nvSpPr>
        <p:spPr>
          <a:xfrm>
            <a:off x="3409664" y="534964"/>
            <a:ext cx="559188" cy="430887"/>
          </a:xfrm>
          <a:prstGeom prst="rect">
            <a:avLst/>
          </a:prstGeom>
          <a:noFill/>
        </p:spPr>
        <p:txBody>
          <a:bodyPr wrap="square" rtlCol="0">
            <a:spAutoFit/>
          </a:bodyPr>
          <a:lstStyle/>
          <a:p>
            <a:r>
              <a:rPr lang="en-US" altLang="zh-CN" sz="2200" dirty="0">
                <a:latin typeface="Times New Roman" pitchFamily="18" charset="0"/>
                <a:cs typeface="Times New Roman" pitchFamily="18" charset="0"/>
              </a:rPr>
              <a:t>1.1</a:t>
            </a:r>
            <a:endParaRPr lang="zh-CN" altLang="en-US" sz="2200" dirty="0">
              <a:latin typeface="Times New Roman" pitchFamily="18" charset="0"/>
              <a:cs typeface="Times New Roman" pitchFamily="18" charset="0"/>
            </a:endParaRPr>
          </a:p>
        </p:txBody>
      </p:sp>
      <p:sp>
        <p:nvSpPr>
          <p:cNvPr id="51" name="文本框 50"/>
          <p:cNvSpPr txBox="1"/>
          <p:nvPr/>
        </p:nvSpPr>
        <p:spPr>
          <a:xfrm>
            <a:off x="3386404" y="1108967"/>
            <a:ext cx="584015" cy="430887"/>
          </a:xfrm>
          <a:prstGeom prst="rect">
            <a:avLst/>
          </a:prstGeom>
          <a:noFill/>
        </p:spPr>
        <p:txBody>
          <a:bodyPr wrap="square" rtlCol="0">
            <a:spAutoFit/>
          </a:bodyPr>
          <a:lstStyle/>
          <a:p>
            <a:r>
              <a:rPr lang="en-US" altLang="zh-CN" sz="2200" dirty="0">
                <a:latin typeface="Times New Roman" pitchFamily="18" charset="0"/>
                <a:cs typeface="Times New Roman" pitchFamily="18" charset="0"/>
              </a:rPr>
              <a:t>1.2</a:t>
            </a:r>
            <a:endParaRPr lang="zh-CN" altLang="en-US" sz="2200" dirty="0">
              <a:latin typeface="Times New Roman" pitchFamily="18" charset="0"/>
              <a:cs typeface="Times New Roman" pitchFamily="18" charset="0"/>
            </a:endParaRPr>
          </a:p>
        </p:txBody>
      </p:sp>
      <p:sp>
        <p:nvSpPr>
          <p:cNvPr id="44" name="文本框 43"/>
          <p:cNvSpPr txBox="1"/>
          <p:nvPr/>
        </p:nvSpPr>
        <p:spPr>
          <a:xfrm>
            <a:off x="3443487" y="1646048"/>
            <a:ext cx="584015" cy="430887"/>
          </a:xfrm>
          <a:prstGeom prst="rect">
            <a:avLst/>
          </a:prstGeom>
          <a:noFill/>
        </p:spPr>
        <p:txBody>
          <a:bodyPr wrap="square" rtlCol="0">
            <a:spAutoFit/>
          </a:bodyPr>
          <a:lstStyle/>
          <a:p>
            <a:r>
              <a:rPr lang="en-US" altLang="zh-CN" sz="2200" dirty="0">
                <a:latin typeface="Times New Roman" pitchFamily="18" charset="0"/>
                <a:cs typeface="Times New Roman" pitchFamily="18" charset="0"/>
              </a:rPr>
              <a:t>1.3</a:t>
            </a:r>
            <a:endParaRPr lang="zh-CN" altLang="en-US" sz="2200" dirty="0">
              <a:latin typeface="Times New Roman" pitchFamily="18" charset="0"/>
              <a:cs typeface="Times New Roman" pitchFamily="18" charset="0"/>
            </a:endParaRPr>
          </a:p>
        </p:txBody>
      </p:sp>
      <p:sp>
        <p:nvSpPr>
          <p:cNvPr id="45" name="文本框 44"/>
          <p:cNvSpPr txBox="1"/>
          <p:nvPr/>
        </p:nvSpPr>
        <p:spPr>
          <a:xfrm>
            <a:off x="3455687" y="2212432"/>
            <a:ext cx="584015" cy="430887"/>
          </a:xfrm>
          <a:prstGeom prst="rect">
            <a:avLst/>
          </a:prstGeom>
          <a:noFill/>
        </p:spPr>
        <p:txBody>
          <a:bodyPr wrap="square" rtlCol="0">
            <a:spAutoFit/>
          </a:bodyPr>
          <a:lstStyle/>
          <a:p>
            <a:r>
              <a:rPr lang="en-US" altLang="zh-CN" sz="2200" dirty="0">
                <a:latin typeface="Times New Roman" pitchFamily="18" charset="0"/>
                <a:cs typeface="Times New Roman" pitchFamily="18" charset="0"/>
              </a:rPr>
              <a:t>1.4</a:t>
            </a:r>
            <a:endParaRPr lang="zh-CN" altLang="en-US" sz="2200" dirty="0">
              <a:latin typeface="Times New Roman" pitchFamily="18" charset="0"/>
              <a:cs typeface="Times New Roman" pitchFamily="18" charset="0"/>
            </a:endParaRPr>
          </a:p>
        </p:txBody>
      </p:sp>
      <p:sp>
        <p:nvSpPr>
          <p:cNvPr id="49" name="文本框 48">
            <a:extLst>
              <a:ext uri="{FF2B5EF4-FFF2-40B4-BE49-F238E27FC236}">
                <a16:creationId xmlns:a16="http://schemas.microsoft.com/office/drawing/2014/main" id="{56E629D7-6AD4-4A19-863F-155667AC36DD}"/>
              </a:ext>
            </a:extLst>
          </p:cNvPr>
          <p:cNvSpPr txBox="1"/>
          <p:nvPr/>
        </p:nvSpPr>
        <p:spPr>
          <a:xfrm>
            <a:off x="3492938" y="2720901"/>
            <a:ext cx="584015" cy="430887"/>
          </a:xfrm>
          <a:prstGeom prst="rect">
            <a:avLst/>
          </a:prstGeom>
          <a:noFill/>
        </p:spPr>
        <p:txBody>
          <a:bodyPr wrap="square" rtlCol="0">
            <a:spAutoFit/>
          </a:bodyPr>
          <a:lstStyle/>
          <a:p>
            <a:r>
              <a:rPr lang="en-US" altLang="zh-CN" sz="2200" dirty="0">
                <a:latin typeface="Times New Roman" pitchFamily="18" charset="0"/>
                <a:cs typeface="Times New Roman" pitchFamily="18" charset="0"/>
              </a:rPr>
              <a:t>1.5</a:t>
            </a:r>
            <a:endParaRPr lang="zh-CN" altLang="en-US" sz="2200" dirty="0">
              <a:latin typeface="Times New Roman" pitchFamily="18" charset="0"/>
              <a:cs typeface="Times New Roman" pitchFamily="18" charset="0"/>
            </a:endParaRPr>
          </a:p>
        </p:txBody>
      </p:sp>
      <p:sp>
        <p:nvSpPr>
          <p:cNvPr id="52" name="矩形 90">
            <a:extLst>
              <a:ext uri="{FF2B5EF4-FFF2-40B4-BE49-F238E27FC236}">
                <a16:creationId xmlns:a16="http://schemas.microsoft.com/office/drawing/2014/main" id="{8586C80D-210B-456A-B78D-519F72FF374C}"/>
              </a:ext>
            </a:extLst>
          </p:cNvPr>
          <p:cNvSpPr/>
          <p:nvPr/>
        </p:nvSpPr>
        <p:spPr>
          <a:xfrm>
            <a:off x="4076953" y="2672086"/>
            <a:ext cx="3005951" cy="430887"/>
          </a:xfrm>
          <a:prstGeom prst="rect">
            <a:avLst/>
          </a:prstGeom>
        </p:spPr>
        <p:txBody>
          <a:bodyPr wrap="none">
            <a:spAutoFit/>
          </a:bodyPr>
          <a:lstStyle/>
          <a:p>
            <a:pPr>
              <a:defRPr/>
            </a:pPr>
            <a:r>
              <a:rPr kumimoji="1" lang="zh-CN" altLang="en-US" sz="2200" dirty="0">
                <a:latin typeface="宋体" pitchFamily="2" charset="-122"/>
                <a:ea typeface="宋体" pitchFamily="2" charset="-122"/>
                <a:sym typeface="+mn-ea"/>
              </a:rPr>
              <a:t>金融机构的功能和分类</a:t>
            </a:r>
            <a:endParaRPr lang="zh-CN" altLang="en-US" sz="2200" dirty="0">
              <a:ln w="6350">
                <a:noFill/>
              </a:ln>
              <a:solidFill>
                <a:schemeClr val="bg1">
                  <a:lumMod val="50000"/>
                </a:schemeClr>
              </a:solidFill>
              <a:latin typeface="宋体" pitchFamily="2" charset="-122"/>
              <a:ea typeface="宋体" pitchFamily="2" charset="-122"/>
            </a:endParaRPr>
          </a:p>
        </p:txBody>
      </p:sp>
      <p:sp>
        <p:nvSpPr>
          <p:cNvPr id="53" name="文本框 52">
            <a:extLst>
              <a:ext uri="{FF2B5EF4-FFF2-40B4-BE49-F238E27FC236}">
                <a16:creationId xmlns:a16="http://schemas.microsoft.com/office/drawing/2014/main" id="{3418883C-657F-4D9B-BA5F-3064A871F796}"/>
              </a:ext>
            </a:extLst>
          </p:cNvPr>
          <p:cNvSpPr txBox="1"/>
          <p:nvPr/>
        </p:nvSpPr>
        <p:spPr>
          <a:xfrm>
            <a:off x="3499779" y="3274589"/>
            <a:ext cx="584015" cy="430887"/>
          </a:xfrm>
          <a:prstGeom prst="rect">
            <a:avLst/>
          </a:prstGeom>
          <a:noFill/>
        </p:spPr>
        <p:txBody>
          <a:bodyPr wrap="square" rtlCol="0">
            <a:spAutoFit/>
          </a:bodyPr>
          <a:lstStyle/>
          <a:p>
            <a:r>
              <a:rPr lang="en-US" altLang="zh-CN" sz="2200" dirty="0">
                <a:latin typeface="Times New Roman" pitchFamily="18" charset="0"/>
                <a:cs typeface="Times New Roman" pitchFamily="18" charset="0"/>
              </a:rPr>
              <a:t>1.6</a:t>
            </a:r>
            <a:endParaRPr lang="zh-CN" altLang="en-US" sz="2200" dirty="0">
              <a:latin typeface="Times New Roman" pitchFamily="18" charset="0"/>
              <a:cs typeface="Times New Roman" pitchFamily="18" charset="0"/>
            </a:endParaRPr>
          </a:p>
        </p:txBody>
      </p:sp>
      <p:sp>
        <p:nvSpPr>
          <p:cNvPr id="56" name="矩形 90">
            <a:extLst>
              <a:ext uri="{FF2B5EF4-FFF2-40B4-BE49-F238E27FC236}">
                <a16:creationId xmlns:a16="http://schemas.microsoft.com/office/drawing/2014/main" id="{172EED6F-557B-4935-818D-58F93BFA3127}"/>
              </a:ext>
            </a:extLst>
          </p:cNvPr>
          <p:cNvSpPr/>
          <p:nvPr/>
        </p:nvSpPr>
        <p:spPr>
          <a:xfrm>
            <a:off x="4083794" y="3271962"/>
            <a:ext cx="3005951" cy="430887"/>
          </a:xfrm>
          <a:prstGeom prst="rect">
            <a:avLst/>
          </a:prstGeom>
        </p:spPr>
        <p:txBody>
          <a:bodyPr wrap="none">
            <a:spAutoFit/>
          </a:bodyPr>
          <a:lstStyle/>
          <a:p>
            <a:pPr>
              <a:defRPr/>
            </a:pPr>
            <a:r>
              <a:rPr kumimoji="1" lang="zh-CN" altLang="en-US" sz="2200" dirty="0">
                <a:latin typeface="宋体" pitchFamily="2" charset="-122"/>
                <a:ea typeface="宋体" pitchFamily="2" charset="-122"/>
                <a:sym typeface="+mn-ea"/>
              </a:rPr>
              <a:t>银行业的主要风险类型</a:t>
            </a:r>
            <a:endParaRPr lang="zh-CN" altLang="en-US" sz="2200" dirty="0">
              <a:ln w="6350">
                <a:noFill/>
              </a:ln>
              <a:solidFill>
                <a:schemeClr val="bg1">
                  <a:lumMod val="50000"/>
                </a:schemeClr>
              </a:solidFill>
              <a:latin typeface="宋体" pitchFamily="2" charset="-122"/>
              <a:ea typeface="宋体" pitchFamily="2" charset="-122"/>
            </a:endParaRPr>
          </a:p>
        </p:txBody>
      </p:sp>
      <p:sp>
        <p:nvSpPr>
          <p:cNvPr id="57" name="椭圆 56">
            <a:extLst>
              <a:ext uri="{FF2B5EF4-FFF2-40B4-BE49-F238E27FC236}">
                <a16:creationId xmlns:a16="http://schemas.microsoft.com/office/drawing/2014/main" id="{C58518F9-F488-4EFF-AB0D-516E44908769}"/>
              </a:ext>
            </a:extLst>
          </p:cNvPr>
          <p:cNvSpPr/>
          <p:nvPr/>
        </p:nvSpPr>
        <p:spPr>
          <a:xfrm>
            <a:off x="3591088" y="3918381"/>
            <a:ext cx="383553" cy="430887"/>
          </a:xfrm>
          <a:prstGeom prst="ellipse">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F06EE204-D38B-4DE8-9AEC-B226A363BF1A}"/>
              </a:ext>
            </a:extLst>
          </p:cNvPr>
          <p:cNvSpPr txBox="1"/>
          <p:nvPr/>
        </p:nvSpPr>
        <p:spPr>
          <a:xfrm>
            <a:off x="3499779" y="3886385"/>
            <a:ext cx="584015" cy="430887"/>
          </a:xfrm>
          <a:prstGeom prst="rect">
            <a:avLst/>
          </a:prstGeom>
          <a:noFill/>
        </p:spPr>
        <p:txBody>
          <a:bodyPr wrap="square" rtlCol="0">
            <a:spAutoFit/>
          </a:bodyPr>
          <a:lstStyle/>
          <a:p>
            <a:r>
              <a:rPr lang="en-US" altLang="zh-CN" sz="2200" dirty="0">
                <a:latin typeface="Times New Roman" pitchFamily="18" charset="0"/>
                <a:cs typeface="Times New Roman" pitchFamily="18" charset="0"/>
              </a:rPr>
              <a:t>1.7</a:t>
            </a:r>
            <a:endParaRPr lang="zh-CN" altLang="en-US" sz="2200" dirty="0">
              <a:latin typeface="Times New Roman" pitchFamily="18" charset="0"/>
              <a:cs typeface="Times New Roman" pitchFamily="18" charset="0"/>
            </a:endParaRPr>
          </a:p>
        </p:txBody>
      </p:sp>
      <p:sp>
        <p:nvSpPr>
          <p:cNvPr id="59" name="矩形 90">
            <a:extLst>
              <a:ext uri="{FF2B5EF4-FFF2-40B4-BE49-F238E27FC236}">
                <a16:creationId xmlns:a16="http://schemas.microsoft.com/office/drawing/2014/main" id="{4ABD4714-3F67-4603-AE3E-2E553B291D77}"/>
              </a:ext>
            </a:extLst>
          </p:cNvPr>
          <p:cNvSpPr/>
          <p:nvPr/>
        </p:nvSpPr>
        <p:spPr>
          <a:xfrm>
            <a:off x="4151067" y="3899109"/>
            <a:ext cx="2441694" cy="430887"/>
          </a:xfrm>
          <a:prstGeom prst="rect">
            <a:avLst/>
          </a:prstGeom>
        </p:spPr>
        <p:txBody>
          <a:bodyPr wrap="none">
            <a:spAutoFit/>
          </a:bodyPr>
          <a:lstStyle/>
          <a:p>
            <a:pPr>
              <a:defRPr/>
            </a:pPr>
            <a:r>
              <a:rPr kumimoji="1" lang="zh-CN" altLang="en-US" sz="2200" dirty="0">
                <a:latin typeface="宋体" pitchFamily="2" charset="-122"/>
                <a:ea typeface="宋体" pitchFamily="2" charset="-122"/>
                <a:sym typeface="+mn-ea"/>
              </a:rPr>
              <a:t>评估风险管理过程</a:t>
            </a:r>
            <a:endParaRPr lang="zh-CN" altLang="en-US" sz="2200" dirty="0">
              <a:ln w="6350">
                <a:noFill/>
              </a:ln>
              <a:solidFill>
                <a:schemeClr val="bg1">
                  <a:lumMod val="50000"/>
                </a:schemeClr>
              </a:solidFill>
              <a:latin typeface="宋体" pitchFamily="2" charset="-122"/>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4043803" y="1181686"/>
            <a:ext cx="1056394" cy="1389270"/>
            <a:chOff x="3995936" y="1676400"/>
            <a:chExt cx="1056394" cy="1389270"/>
          </a:xfrm>
        </p:grpSpPr>
        <p:grpSp>
          <p:nvGrpSpPr>
            <p:cNvPr id="22" name="组合 21"/>
            <p:cNvGrpSpPr/>
            <p:nvPr/>
          </p:nvGrpSpPr>
          <p:grpSpPr>
            <a:xfrm>
              <a:off x="3995936" y="1676400"/>
              <a:ext cx="1056394" cy="1389270"/>
              <a:chOff x="1078816" y="964066"/>
              <a:chExt cx="2222812" cy="2923236"/>
            </a:xfrm>
          </p:grpSpPr>
          <p:sp>
            <p:nvSpPr>
              <p:cNvPr id="24" name="Freeform 7"/>
              <p:cNvSpPr/>
              <p:nvPr/>
            </p:nvSpPr>
            <p:spPr bwMode="auto">
              <a:xfrm>
                <a:off x="1078816" y="2540257"/>
                <a:ext cx="696716" cy="1019561"/>
              </a:xfrm>
              <a:custGeom>
                <a:avLst/>
                <a:gdLst>
                  <a:gd name="T0" fmla="*/ 94 w 375"/>
                  <a:gd name="T1" fmla="*/ 0 h 549"/>
                  <a:gd name="T2" fmla="*/ 11 w 375"/>
                  <a:gd name="T3" fmla="*/ 12 h 549"/>
                  <a:gd name="T4" fmla="*/ 0 w 375"/>
                  <a:gd name="T5" fmla="*/ 127 h 549"/>
                  <a:gd name="T6" fmla="*/ 174 w 375"/>
                  <a:gd name="T7" fmla="*/ 549 h 549"/>
                  <a:gd name="T8" fmla="*/ 375 w 375"/>
                  <a:gd name="T9" fmla="*/ 280 h 549"/>
                  <a:gd name="T10" fmla="*/ 94 w 375"/>
                  <a:gd name="T11" fmla="*/ 0 h 549"/>
                </a:gdLst>
                <a:ahLst/>
                <a:cxnLst>
                  <a:cxn ang="0">
                    <a:pos x="T0" y="T1"/>
                  </a:cxn>
                  <a:cxn ang="0">
                    <a:pos x="T2" y="T3"/>
                  </a:cxn>
                  <a:cxn ang="0">
                    <a:pos x="T4" y="T5"/>
                  </a:cxn>
                  <a:cxn ang="0">
                    <a:pos x="T6" y="T7"/>
                  </a:cxn>
                  <a:cxn ang="0">
                    <a:pos x="T8" y="T9"/>
                  </a:cxn>
                  <a:cxn ang="0">
                    <a:pos x="T10" y="T11"/>
                  </a:cxn>
                </a:cxnLst>
                <a:rect l="0" t="0" r="r" b="b"/>
                <a:pathLst>
                  <a:path w="375" h="549">
                    <a:moveTo>
                      <a:pt x="94" y="0"/>
                    </a:moveTo>
                    <a:cubicBezTo>
                      <a:pt x="65" y="0"/>
                      <a:pt x="37" y="4"/>
                      <a:pt x="11" y="12"/>
                    </a:cubicBezTo>
                    <a:cubicBezTo>
                      <a:pt x="3" y="49"/>
                      <a:pt x="0" y="87"/>
                      <a:pt x="0" y="127"/>
                    </a:cubicBezTo>
                    <a:cubicBezTo>
                      <a:pt x="0" y="291"/>
                      <a:pt x="66" y="441"/>
                      <a:pt x="174" y="549"/>
                    </a:cubicBezTo>
                    <a:cubicBezTo>
                      <a:pt x="290" y="514"/>
                      <a:pt x="375" y="407"/>
                      <a:pt x="375" y="280"/>
                    </a:cubicBezTo>
                    <a:cubicBezTo>
                      <a:pt x="375" y="125"/>
                      <a:pt x="249" y="0"/>
                      <a:pt x="94" y="0"/>
                    </a:cubicBezTo>
                    <a:close/>
                  </a:path>
                </a:pathLst>
              </a:cu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25" name="Freeform 8"/>
              <p:cNvSpPr/>
              <p:nvPr/>
            </p:nvSpPr>
            <p:spPr bwMode="auto">
              <a:xfrm>
                <a:off x="1088093" y="2231327"/>
                <a:ext cx="600234" cy="615077"/>
              </a:xfrm>
              <a:custGeom>
                <a:avLst/>
                <a:gdLst>
                  <a:gd name="T0" fmla="*/ 158 w 323"/>
                  <a:gd name="T1" fmla="*/ 0 h 331"/>
                  <a:gd name="T2" fmla="*/ 51 w 323"/>
                  <a:gd name="T3" fmla="*/ 38 h 331"/>
                  <a:gd name="T4" fmla="*/ 0 w 323"/>
                  <a:gd name="T5" fmla="*/ 216 h 331"/>
                  <a:gd name="T6" fmla="*/ 158 w 323"/>
                  <a:gd name="T7" fmla="*/ 331 h 331"/>
                  <a:gd name="T8" fmla="*/ 323 w 323"/>
                  <a:gd name="T9" fmla="*/ 166 h 331"/>
                  <a:gd name="T10" fmla="*/ 158 w 323"/>
                  <a:gd name="T11" fmla="*/ 0 h 331"/>
                </a:gdLst>
                <a:ahLst/>
                <a:cxnLst>
                  <a:cxn ang="0">
                    <a:pos x="T0" y="T1"/>
                  </a:cxn>
                  <a:cxn ang="0">
                    <a:pos x="T2" y="T3"/>
                  </a:cxn>
                  <a:cxn ang="0">
                    <a:pos x="T4" y="T5"/>
                  </a:cxn>
                  <a:cxn ang="0">
                    <a:pos x="T6" y="T7"/>
                  </a:cxn>
                  <a:cxn ang="0">
                    <a:pos x="T8" y="T9"/>
                  </a:cxn>
                  <a:cxn ang="0">
                    <a:pos x="T10" y="T11"/>
                  </a:cxn>
                </a:cxnLst>
                <a:rect l="0" t="0" r="r" b="b"/>
                <a:pathLst>
                  <a:path w="323" h="331">
                    <a:moveTo>
                      <a:pt x="158" y="0"/>
                    </a:moveTo>
                    <a:cubicBezTo>
                      <a:pt x="117" y="0"/>
                      <a:pt x="80" y="14"/>
                      <a:pt x="51" y="38"/>
                    </a:cubicBezTo>
                    <a:cubicBezTo>
                      <a:pt x="25" y="94"/>
                      <a:pt x="8" y="153"/>
                      <a:pt x="0" y="216"/>
                    </a:cubicBezTo>
                    <a:cubicBezTo>
                      <a:pt x="21" y="283"/>
                      <a:pt x="84" y="331"/>
                      <a:pt x="158" y="331"/>
                    </a:cubicBezTo>
                    <a:cubicBezTo>
                      <a:pt x="249" y="331"/>
                      <a:pt x="323" y="257"/>
                      <a:pt x="323" y="166"/>
                    </a:cubicBezTo>
                    <a:cubicBezTo>
                      <a:pt x="323" y="74"/>
                      <a:pt x="249" y="0"/>
                      <a:pt x="158" y="0"/>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26" name="Oval 9"/>
              <p:cNvSpPr>
                <a:spLocks noChangeArrowheads="1"/>
              </p:cNvSpPr>
              <p:nvPr/>
            </p:nvSpPr>
            <p:spPr bwMode="auto">
              <a:xfrm>
                <a:off x="1530616" y="2179723"/>
                <a:ext cx="506964" cy="507925"/>
              </a:xfrm>
              <a:prstGeom prst="ellipse">
                <a:avLst/>
              </a:prstGeom>
              <a:solidFill>
                <a:schemeClr val="accent5">
                  <a:alpha val="70000"/>
                </a:schemeClr>
              </a:solidFill>
              <a:ln>
                <a:noFill/>
              </a:ln>
            </p:spPr>
            <p:txBody>
              <a:bodyPr vert="horz" wrap="square" lIns="91440" tIns="45720" rIns="91440" bIns="45720" numCol="1" anchor="t" anchorCtr="0" compatLnSpc="1"/>
              <a:lstStyle/>
              <a:p>
                <a:endParaRPr lang="zh-CN" altLang="en-US"/>
              </a:p>
            </p:txBody>
          </p:sp>
          <p:sp>
            <p:nvSpPr>
              <p:cNvPr id="27" name="Oval 10"/>
              <p:cNvSpPr>
                <a:spLocks noChangeArrowheads="1"/>
              </p:cNvSpPr>
              <p:nvPr/>
            </p:nvSpPr>
            <p:spPr bwMode="auto">
              <a:xfrm>
                <a:off x="2050137" y="1993832"/>
                <a:ext cx="576113" cy="574257"/>
              </a:xfrm>
              <a:prstGeom prst="ellipse">
                <a:avLst/>
              </a:pr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28" name="Oval 11"/>
              <p:cNvSpPr>
                <a:spLocks noChangeArrowheads="1"/>
              </p:cNvSpPr>
              <p:nvPr/>
            </p:nvSpPr>
            <p:spPr bwMode="auto">
              <a:xfrm>
                <a:off x="1688327" y="1950229"/>
                <a:ext cx="413762" cy="412834"/>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29" name="Oval 12"/>
              <p:cNvSpPr>
                <a:spLocks noChangeArrowheads="1"/>
              </p:cNvSpPr>
              <p:nvPr/>
            </p:nvSpPr>
            <p:spPr bwMode="auto">
              <a:xfrm>
                <a:off x="1955510" y="1555021"/>
                <a:ext cx="256050" cy="256050"/>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30" name="Oval 13"/>
              <p:cNvSpPr>
                <a:spLocks noChangeArrowheads="1"/>
              </p:cNvSpPr>
              <p:nvPr/>
            </p:nvSpPr>
            <p:spPr bwMode="auto">
              <a:xfrm>
                <a:off x="2389682" y="1158887"/>
                <a:ext cx="86278" cy="87205"/>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31" name="Oval 14"/>
              <p:cNvSpPr>
                <a:spLocks noChangeArrowheads="1"/>
              </p:cNvSpPr>
              <p:nvPr/>
            </p:nvSpPr>
            <p:spPr bwMode="auto">
              <a:xfrm>
                <a:off x="1532470" y="1755408"/>
                <a:ext cx="85350" cy="85350"/>
              </a:xfrm>
              <a:prstGeom prst="ellipse">
                <a:avLst/>
              </a:pr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32" name="Oval 15"/>
              <p:cNvSpPr>
                <a:spLocks noChangeArrowheads="1"/>
              </p:cNvSpPr>
              <p:nvPr/>
            </p:nvSpPr>
            <p:spPr bwMode="auto">
              <a:xfrm>
                <a:off x="2068691" y="1905698"/>
                <a:ext cx="87205" cy="88133"/>
              </a:xfrm>
              <a:prstGeom prst="ellipse">
                <a:avLst/>
              </a:prstGeom>
              <a:solidFill>
                <a:schemeClr val="accent1">
                  <a:alpha val="80000"/>
                </a:schemeClr>
              </a:solidFill>
              <a:ln>
                <a:noFill/>
              </a:ln>
            </p:spPr>
            <p:txBody>
              <a:bodyPr vert="horz" wrap="square" lIns="91440" tIns="45720" rIns="91440" bIns="45720" numCol="1" anchor="t" anchorCtr="0" compatLnSpc="1"/>
              <a:lstStyle/>
              <a:p>
                <a:endParaRPr lang="zh-CN" altLang="en-US"/>
              </a:p>
            </p:txBody>
          </p:sp>
          <p:sp>
            <p:nvSpPr>
              <p:cNvPr id="33" name="Freeform 16"/>
              <p:cNvSpPr/>
              <p:nvPr/>
            </p:nvSpPr>
            <p:spPr bwMode="auto">
              <a:xfrm>
                <a:off x="1673483" y="1653359"/>
                <a:ext cx="376653" cy="377581"/>
              </a:xfrm>
              <a:custGeom>
                <a:avLst/>
                <a:gdLst>
                  <a:gd name="T0" fmla="*/ 201 w 203"/>
                  <a:gd name="T1" fmla="*/ 98 h 203"/>
                  <a:gd name="T2" fmla="*/ 105 w 203"/>
                  <a:gd name="T3" fmla="*/ 201 h 203"/>
                  <a:gd name="T4" fmla="*/ 1 w 203"/>
                  <a:gd name="T5" fmla="*/ 105 h 203"/>
                  <a:gd name="T6" fmla="*/ 98 w 203"/>
                  <a:gd name="T7" fmla="*/ 1 h 203"/>
                  <a:gd name="T8" fmla="*/ 201 w 203"/>
                  <a:gd name="T9" fmla="*/ 98 h 203"/>
                </a:gdLst>
                <a:ahLst/>
                <a:cxnLst>
                  <a:cxn ang="0">
                    <a:pos x="T0" y="T1"/>
                  </a:cxn>
                  <a:cxn ang="0">
                    <a:pos x="T2" y="T3"/>
                  </a:cxn>
                  <a:cxn ang="0">
                    <a:pos x="T4" y="T5"/>
                  </a:cxn>
                  <a:cxn ang="0">
                    <a:pos x="T6" y="T7"/>
                  </a:cxn>
                  <a:cxn ang="0">
                    <a:pos x="T8" y="T9"/>
                  </a:cxn>
                </a:cxnLst>
                <a:rect l="0" t="0" r="r" b="b"/>
                <a:pathLst>
                  <a:path w="203" h="203">
                    <a:moveTo>
                      <a:pt x="201" y="98"/>
                    </a:moveTo>
                    <a:cubicBezTo>
                      <a:pt x="203" y="153"/>
                      <a:pt x="160" y="200"/>
                      <a:pt x="105" y="201"/>
                    </a:cubicBezTo>
                    <a:cubicBezTo>
                      <a:pt x="49" y="203"/>
                      <a:pt x="3" y="160"/>
                      <a:pt x="1" y="105"/>
                    </a:cubicBezTo>
                    <a:cubicBezTo>
                      <a:pt x="0" y="49"/>
                      <a:pt x="43" y="3"/>
                      <a:pt x="98" y="1"/>
                    </a:cubicBezTo>
                    <a:cubicBezTo>
                      <a:pt x="153" y="0"/>
                      <a:pt x="200" y="43"/>
                      <a:pt x="201" y="98"/>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34" name="Oval 17"/>
              <p:cNvSpPr>
                <a:spLocks noChangeArrowheads="1"/>
              </p:cNvSpPr>
              <p:nvPr/>
            </p:nvSpPr>
            <p:spPr bwMode="auto">
              <a:xfrm>
                <a:off x="1504639" y="1901988"/>
                <a:ext cx="141013" cy="143796"/>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35" name="Oval 18"/>
              <p:cNvSpPr>
                <a:spLocks noChangeArrowheads="1"/>
              </p:cNvSpPr>
              <p:nvPr/>
            </p:nvSpPr>
            <p:spPr bwMode="auto">
              <a:xfrm>
                <a:off x="2167029" y="964066"/>
                <a:ext cx="142869" cy="142868"/>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36" name="Oval 19"/>
              <p:cNvSpPr>
                <a:spLocks noChangeArrowheads="1"/>
              </p:cNvSpPr>
              <p:nvPr/>
            </p:nvSpPr>
            <p:spPr bwMode="auto">
              <a:xfrm>
                <a:off x="2276500" y="1307321"/>
                <a:ext cx="312641" cy="312641"/>
              </a:xfrm>
              <a:prstGeom prst="ellipse">
                <a:avLst/>
              </a:pr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37" name="Oval 20"/>
              <p:cNvSpPr>
                <a:spLocks noChangeArrowheads="1"/>
              </p:cNvSpPr>
              <p:nvPr/>
            </p:nvSpPr>
            <p:spPr bwMode="auto">
              <a:xfrm>
                <a:off x="2276500" y="1816638"/>
                <a:ext cx="312641" cy="314496"/>
              </a:xfrm>
              <a:prstGeom prst="ellipse">
                <a:avLst/>
              </a:pr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38" name="Oval 21"/>
              <p:cNvSpPr>
                <a:spLocks noChangeArrowheads="1"/>
              </p:cNvSpPr>
              <p:nvPr/>
            </p:nvSpPr>
            <p:spPr bwMode="auto">
              <a:xfrm>
                <a:off x="2754274" y="1514202"/>
                <a:ext cx="141013" cy="141013"/>
              </a:xfrm>
              <a:prstGeom prst="ellipse">
                <a:avLst/>
              </a:pr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39" name="Freeform 22"/>
              <p:cNvSpPr/>
              <p:nvPr/>
            </p:nvSpPr>
            <p:spPr bwMode="auto">
              <a:xfrm>
                <a:off x="2947240" y="2064338"/>
                <a:ext cx="348822" cy="600233"/>
              </a:xfrm>
              <a:custGeom>
                <a:avLst/>
                <a:gdLst>
                  <a:gd name="T0" fmla="*/ 0 w 188"/>
                  <a:gd name="T1" fmla="*/ 132 h 323"/>
                  <a:gd name="T2" fmla="*/ 188 w 188"/>
                  <a:gd name="T3" fmla="*/ 323 h 323"/>
                  <a:gd name="T4" fmla="*/ 53 w 188"/>
                  <a:gd name="T5" fmla="*/ 0 h 323"/>
                  <a:gd name="T6" fmla="*/ 0 w 188"/>
                  <a:gd name="T7" fmla="*/ 132 h 323"/>
                </a:gdLst>
                <a:ahLst/>
                <a:cxnLst>
                  <a:cxn ang="0">
                    <a:pos x="T0" y="T1"/>
                  </a:cxn>
                  <a:cxn ang="0">
                    <a:pos x="T2" y="T3"/>
                  </a:cxn>
                  <a:cxn ang="0">
                    <a:pos x="T4" y="T5"/>
                  </a:cxn>
                  <a:cxn ang="0">
                    <a:pos x="T6" y="T7"/>
                  </a:cxn>
                </a:cxnLst>
                <a:rect l="0" t="0" r="r" b="b"/>
                <a:pathLst>
                  <a:path w="188" h="323">
                    <a:moveTo>
                      <a:pt x="0" y="132"/>
                    </a:moveTo>
                    <a:cubicBezTo>
                      <a:pt x="0" y="237"/>
                      <a:pt x="84" y="321"/>
                      <a:pt x="188" y="323"/>
                    </a:cubicBezTo>
                    <a:cubicBezTo>
                      <a:pt x="176" y="201"/>
                      <a:pt x="127" y="89"/>
                      <a:pt x="53" y="0"/>
                    </a:cubicBezTo>
                    <a:cubicBezTo>
                      <a:pt x="20" y="34"/>
                      <a:pt x="0" y="81"/>
                      <a:pt x="0" y="132"/>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40" name="Freeform 23"/>
              <p:cNvSpPr/>
              <p:nvPr/>
            </p:nvSpPr>
            <p:spPr bwMode="auto">
              <a:xfrm>
                <a:off x="2563165" y="2261014"/>
                <a:ext cx="738463" cy="894319"/>
              </a:xfrm>
              <a:custGeom>
                <a:avLst/>
                <a:gdLst>
                  <a:gd name="T0" fmla="*/ 0 w 398"/>
                  <a:gd name="T1" fmla="*/ 241 h 481"/>
                  <a:gd name="T2" fmla="*/ 241 w 398"/>
                  <a:gd name="T3" fmla="*/ 481 h 481"/>
                  <a:gd name="T4" fmla="*/ 375 w 398"/>
                  <a:gd name="T5" fmla="*/ 440 h 481"/>
                  <a:gd name="T6" fmla="*/ 398 w 398"/>
                  <a:gd name="T7" fmla="*/ 277 h 481"/>
                  <a:gd name="T8" fmla="*/ 342 w 398"/>
                  <a:gd name="T9" fmla="*/ 22 h 481"/>
                  <a:gd name="T10" fmla="*/ 241 w 398"/>
                  <a:gd name="T11" fmla="*/ 0 h 481"/>
                  <a:gd name="T12" fmla="*/ 0 w 398"/>
                  <a:gd name="T13" fmla="*/ 241 h 481"/>
                </a:gdLst>
                <a:ahLst/>
                <a:cxnLst>
                  <a:cxn ang="0">
                    <a:pos x="T0" y="T1"/>
                  </a:cxn>
                  <a:cxn ang="0">
                    <a:pos x="T2" y="T3"/>
                  </a:cxn>
                  <a:cxn ang="0">
                    <a:pos x="T4" y="T5"/>
                  </a:cxn>
                  <a:cxn ang="0">
                    <a:pos x="T6" y="T7"/>
                  </a:cxn>
                  <a:cxn ang="0">
                    <a:pos x="T8" y="T9"/>
                  </a:cxn>
                  <a:cxn ang="0">
                    <a:pos x="T10" y="T11"/>
                  </a:cxn>
                  <a:cxn ang="0">
                    <a:pos x="T12" y="T13"/>
                  </a:cxn>
                </a:cxnLst>
                <a:rect l="0" t="0" r="r" b="b"/>
                <a:pathLst>
                  <a:path w="398" h="481">
                    <a:moveTo>
                      <a:pt x="0" y="241"/>
                    </a:moveTo>
                    <a:cubicBezTo>
                      <a:pt x="0" y="374"/>
                      <a:pt x="108" y="481"/>
                      <a:pt x="241" y="481"/>
                    </a:cubicBezTo>
                    <a:cubicBezTo>
                      <a:pt x="291" y="481"/>
                      <a:pt x="337" y="466"/>
                      <a:pt x="375" y="440"/>
                    </a:cubicBezTo>
                    <a:cubicBezTo>
                      <a:pt x="390" y="388"/>
                      <a:pt x="398" y="333"/>
                      <a:pt x="398" y="277"/>
                    </a:cubicBezTo>
                    <a:cubicBezTo>
                      <a:pt x="398" y="186"/>
                      <a:pt x="378" y="100"/>
                      <a:pt x="342" y="22"/>
                    </a:cubicBezTo>
                    <a:cubicBezTo>
                      <a:pt x="311" y="8"/>
                      <a:pt x="277" y="0"/>
                      <a:pt x="241" y="0"/>
                    </a:cubicBezTo>
                    <a:cubicBezTo>
                      <a:pt x="108" y="0"/>
                      <a:pt x="0" y="108"/>
                      <a:pt x="0" y="241"/>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41" name="Freeform 24"/>
              <p:cNvSpPr/>
              <p:nvPr/>
            </p:nvSpPr>
            <p:spPr bwMode="auto">
              <a:xfrm>
                <a:off x="2574297" y="2261014"/>
                <a:ext cx="415618" cy="355316"/>
              </a:xfrm>
              <a:custGeom>
                <a:avLst/>
                <a:gdLst>
                  <a:gd name="T0" fmla="*/ 0 w 224"/>
                  <a:gd name="T1" fmla="*/ 188 h 191"/>
                  <a:gd name="T2" fmla="*/ 33 w 224"/>
                  <a:gd name="T3" fmla="*/ 191 h 191"/>
                  <a:gd name="T4" fmla="*/ 224 w 224"/>
                  <a:gd name="T5" fmla="*/ 0 h 191"/>
                  <a:gd name="T6" fmla="*/ 0 w 224"/>
                  <a:gd name="T7" fmla="*/ 188 h 191"/>
                </a:gdLst>
                <a:ahLst/>
                <a:cxnLst>
                  <a:cxn ang="0">
                    <a:pos x="T0" y="T1"/>
                  </a:cxn>
                  <a:cxn ang="0">
                    <a:pos x="T2" y="T3"/>
                  </a:cxn>
                  <a:cxn ang="0">
                    <a:pos x="T4" y="T5"/>
                  </a:cxn>
                  <a:cxn ang="0">
                    <a:pos x="T6" y="T7"/>
                  </a:cxn>
                </a:cxnLst>
                <a:rect l="0" t="0" r="r" b="b"/>
                <a:pathLst>
                  <a:path w="224" h="191">
                    <a:moveTo>
                      <a:pt x="0" y="188"/>
                    </a:moveTo>
                    <a:cubicBezTo>
                      <a:pt x="11" y="190"/>
                      <a:pt x="22" y="191"/>
                      <a:pt x="33" y="191"/>
                    </a:cubicBezTo>
                    <a:cubicBezTo>
                      <a:pt x="138" y="191"/>
                      <a:pt x="224" y="106"/>
                      <a:pt x="224" y="0"/>
                    </a:cubicBezTo>
                    <a:cubicBezTo>
                      <a:pt x="114" y="5"/>
                      <a:pt x="23" y="84"/>
                      <a:pt x="0" y="188"/>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42" name="Freeform 25"/>
              <p:cNvSpPr/>
              <p:nvPr/>
            </p:nvSpPr>
            <p:spPr bwMode="auto">
              <a:xfrm>
                <a:off x="2840364" y="3083913"/>
                <a:ext cx="420165" cy="581208"/>
              </a:xfrm>
              <a:custGeom>
                <a:avLst/>
                <a:gdLst>
                  <a:gd name="T0" fmla="*/ 224 w 224"/>
                  <a:gd name="T1" fmla="*/ 0 h 310"/>
                  <a:gd name="T2" fmla="*/ 0 w 224"/>
                  <a:gd name="T3" fmla="*/ 240 h 310"/>
                  <a:gd name="T4" fmla="*/ 11 w 224"/>
                  <a:gd name="T5" fmla="*/ 310 h 310"/>
                  <a:gd name="T6" fmla="*/ 224 w 224"/>
                  <a:gd name="T7" fmla="*/ 0 h 310"/>
                </a:gdLst>
                <a:ahLst/>
                <a:cxnLst>
                  <a:cxn ang="0">
                    <a:pos x="T0" y="T1"/>
                  </a:cxn>
                  <a:cxn ang="0">
                    <a:pos x="T2" y="T3"/>
                  </a:cxn>
                  <a:cxn ang="0">
                    <a:pos x="T4" y="T5"/>
                  </a:cxn>
                  <a:cxn ang="0">
                    <a:pos x="T6" y="T7"/>
                  </a:cxn>
                </a:cxnLst>
                <a:rect l="0" t="0" r="r" b="b"/>
                <a:pathLst>
                  <a:path w="224" h="310">
                    <a:moveTo>
                      <a:pt x="224" y="0"/>
                    </a:moveTo>
                    <a:cubicBezTo>
                      <a:pt x="99" y="9"/>
                      <a:pt x="0" y="113"/>
                      <a:pt x="0" y="240"/>
                    </a:cubicBezTo>
                    <a:cubicBezTo>
                      <a:pt x="0" y="265"/>
                      <a:pt x="4" y="288"/>
                      <a:pt x="11" y="310"/>
                    </a:cubicBezTo>
                    <a:cubicBezTo>
                      <a:pt x="112" y="233"/>
                      <a:pt x="187" y="125"/>
                      <a:pt x="224" y="0"/>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43" name="Freeform 26"/>
              <p:cNvSpPr/>
              <p:nvPr/>
            </p:nvSpPr>
            <p:spPr bwMode="auto">
              <a:xfrm>
                <a:off x="1104792" y="3017103"/>
                <a:ext cx="615077" cy="753306"/>
              </a:xfrm>
              <a:custGeom>
                <a:avLst/>
                <a:gdLst>
                  <a:gd name="T0" fmla="*/ 22 w 331"/>
                  <a:gd name="T1" fmla="*/ 0 h 405"/>
                  <a:gd name="T2" fmla="*/ 0 w 331"/>
                  <a:gd name="T3" fmla="*/ 0 h 405"/>
                  <a:gd name="T4" fmla="*/ 316 w 331"/>
                  <a:gd name="T5" fmla="*/ 405 h 405"/>
                  <a:gd name="T6" fmla="*/ 331 w 331"/>
                  <a:gd name="T7" fmla="*/ 309 h 405"/>
                  <a:gd name="T8" fmla="*/ 22 w 331"/>
                  <a:gd name="T9" fmla="*/ 0 h 405"/>
                </a:gdLst>
                <a:ahLst/>
                <a:cxnLst>
                  <a:cxn ang="0">
                    <a:pos x="T0" y="T1"/>
                  </a:cxn>
                  <a:cxn ang="0">
                    <a:pos x="T2" y="T3"/>
                  </a:cxn>
                  <a:cxn ang="0">
                    <a:pos x="T4" y="T5"/>
                  </a:cxn>
                  <a:cxn ang="0">
                    <a:pos x="T6" y="T7"/>
                  </a:cxn>
                  <a:cxn ang="0">
                    <a:pos x="T8" y="T9"/>
                  </a:cxn>
                </a:cxnLst>
                <a:rect l="0" t="0" r="r" b="b"/>
                <a:pathLst>
                  <a:path w="331" h="405">
                    <a:moveTo>
                      <a:pt x="22" y="0"/>
                    </a:moveTo>
                    <a:cubicBezTo>
                      <a:pt x="14" y="0"/>
                      <a:pt x="7" y="0"/>
                      <a:pt x="0" y="0"/>
                    </a:cubicBezTo>
                    <a:cubicBezTo>
                      <a:pt x="40" y="178"/>
                      <a:pt x="158" y="325"/>
                      <a:pt x="316" y="405"/>
                    </a:cubicBezTo>
                    <a:cubicBezTo>
                      <a:pt x="326" y="375"/>
                      <a:pt x="331" y="343"/>
                      <a:pt x="331" y="309"/>
                    </a:cubicBezTo>
                    <a:cubicBezTo>
                      <a:pt x="331" y="138"/>
                      <a:pt x="193" y="0"/>
                      <a:pt x="22" y="0"/>
                    </a:cubicBezTo>
                    <a:close/>
                  </a:path>
                </a:pathLst>
              </a:cu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44" name="Freeform 27"/>
              <p:cNvSpPr/>
              <p:nvPr/>
            </p:nvSpPr>
            <p:spPr bwMode="auto">
              <a:xfrm>
                <a:off x="1406301" y="2974428"/>
                <a:ext cx="1229226" cy="912874"/>
              </a:xfrm>
              <a:custGeom>
                <a:avLst/>
                <a:gdLst>
                  <a:gd name="T0" fmla="*/ 331 w 662"/>
                  <a:gd name="T1" fmla="*/ 0 h 491"/>
                  <a:gd name="T2" fmla="*/ 0 w 662"/>
                  <a:gd name="T3" fmla="*/ 317 h 491"/>
                  <a:gd name="T4" fmla="*/ 422 w 662"/>
                  <a:gd name="T5" fmla="*/ 491 h 491"/>
                  <a:gd name="T6" fmla="*/ 639 w 662"/>
                  <a:gd name="T7" fmla="*/ 451 h 491"/>
                  <a:gd name="T8" fmla="*/ 662 w 662"/>
                  <a:gd name="T9" fmla="*/ 331 h 491"/>
                  <a:gd name="T10" fmla="*/ 331 w 662"/>
                  <a:gd name="T11" fmla="*/ 0 h 491"/>
                </a:gdLst>
                <a:ahLst/>
                <a:cxnLst>
                  <a:cxn ang="0">
                    <a:pos x="T0" y="T1"/>
                  </a:cxn>
                  <a:cxn ang="0">
                    <a:pos x="T2" y="T3"/>
                  </a:cxn>
                  <a:cxn ang="0">
                    <a:pos x="T4" y="T5"/>
                  </a:cxn>
                  <a:cxn ang="0">
                    <a:pos x="T6" y="T7"/>
                  </a:cxn>
                  <a:cxn ang="0">
                    <a:pos x="T8" y="T9"/>
                  </a:cxn>
                  <a:cxn ang="0">
                    <a:pos x="T10" y="T11"/>
                  </a:cxn>
                </a:cxnLst>
                <a:rect l="0" t="0" r="r" b="b"/>
                <a:pathLst>
                  <a:path w="662" h="491">
                    <a:moveTo>
                      <a:pt x="331" y="0"/>
                    </a:moveTo>
                    <a:cubicBezTo>
                      <a:pt x="153" y="0"/>
                      <a:pt x="7" y="141"/>
                      <a:pt x="0" y="317"/>
                    </a:cubicBezTo>
                    <a:cubicBezTo>
                      <a:pt x="108" y="425"/>
                      <a:pt x="258" y="491"/>
                      <a:pt x="422" y="491"/>
                    </a:cubicBezTo>
                    <a:cubicBezTo>
                      <a:pt x="499" y="491"/>
                      <a:pt x="572" y="477"/>
                      <a:pt x="639" y="451"/>
                    </a:cubicBezTo>
                    <a:cubicBezTo>
                      <a:pt x="654" y="414"/>
                      <a:pt x="662" y="373"/>
                      <a:pt x="662" y="331"/>
                    </a:cubicBezTo>
                    <a:cubicBezTo>
                      <a:pt x="662" y="148"/>
                      <a:pt x="514" y="0"/>
                      <a:pt x="331" y="0"/>
                    </a:cubicBezTo>
                    <a:close/>
                  </a:path>
                </a:pathLst>
              </a:cu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45" name="Freeform 28"/>
              <p:cNvSpPr/>
              <p:nvPr/>
            </p:nvSpPr>
            <p:spPr bwMode="auto">
              <a:xfrm>
                <a:off x="2335874" y="2933609"/>
                <a:ext cx="874838" cy="872054"/>
              </a:xfrm>
              <a:custGeom>
                <a:avLst/>
                <a:gdLst>
                  <a:gd name="T0" fmla="*/ 471 w 471"/>
                  <a:gd name="T1" fmla="*/ 153 h 469"/>
                  <a:gd name="T2" fmla="*/ 244 w 471"/>
                  <a:gd name="T3" fmla="*/ 0 h 469"/>
                  <a:gd name="T4" fmla="*/ 0 w 471"/>
                  <a:gd name="T5" fmla="*/ 244 h 469"/>
                  <a:gd name="T6" fmla="*/ 149 w 471"/>
                  <a:gd name="T7" fmla="*/ 469 h 469"/>
                  <a:gd name="T8" fmla="*/ 471 w 471"/>
                  <a:gd name="T9" fmla="*/ 153 h 469"/>
                </a:gdLst>
                <a:ahLst/>
                <a:cxnLst>
                  <a:cxn ang="0">
                    <a:pos x="T0" y="T1"/>
                  </a:cxn>
                  <a:cxn ang="0">
                    <a:pos x="T2" y="T3"/>
                  </a:cxn>
                  <a:cxn ang="0">
                    <a:pos x="T4" y="T5"/>
                  </a:cxn>
                  <a:cxn ang="0">
                    <a:pos x="T6" y="T7"/>
                  </a:cxn>
                  <a:cxn ang="0">
                    <a:pos x="T8" y="T9"/>
                  </a:cxn>
                </a:cxnLst>
                <a:rect l="0" t="0" r="r" b="b"/>
                <a:pathLst>
                  <a:path w="471" h="469">
                    <a:moveTo>
                      <a:pt x="471" y="153"/>
                    </a:moveTo>
                    <a:cubicBezTo>
                      <a:pt x="435" y="63"/>
                      <a:pt x="347" y="0"/>
                      <a:pt x="244" y="0"/>
                    </a:cubicBezTo>
                    <a:cubicBezTo>
                      <a:pt x="109" y="0"/>
                      <a:pt x="0" y="109"/>
                      <a:pt x="0" y="244"/>
                    </a:cubicBezTo>
                    <a:cubicBezTo>
                      <a:pt x="0" y="345"/>
                      <a:pt x="61" y="432"/>
                      <a:pt x="149" y="469"/>
                    </a:cubicBezTo>
                    <a:cubicBezTo>
                      <a:pt x="293" y="410"/>
                      <a:pt x="409" y="296"/>
                      <a:pt x="471" y="153"/>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46" name="Oval 30"/>
              <p:cNvSpPr>
                <a:spLocks noChangeArrowheads="1"/>
              </p:cNvSpPr>
              <p:nvPr/>
            </p:nvSpPr>
            <p:spPr bwMode="auto">
              <a:xfrm>
                <a:off x="2540899" y="1675625"/>
                <a:ext cx="493546" cy="496329"/>
              </a:xfrm>
              <a:prstGeom prst="ellipse">
                <a:avLst/>
              </a:prstGeom>
              <a:solidFill>
                <a:schemeClr val="accent2">
                  <a:alpha val="70000"/>
                </a:schemeClr>
              </a:solidFill>
              <a:ln>
                <a:noFill/>
              </a:ln>
            </p:spPr>
            <p:txBody>
              <a:bodyPr vert="horz" wrap="square" lIns="91440" tIns="45720" rIns="91440" bIns="45720" numCol="1" anchor="t" anchorCtr="0" compatLnSpc="1"/>
              <a:lstStyle/>
              <a:p>
                <a:endParaRPr lang="zh-CN" altLang="en-US"/>
              </a:p>
            </p:txBody>
          </p:sp>
          <p:sp>
            <p:nvSpPr>
              <p:cNvPr id="47" name="Oval 11"/>
              <p:cNvSpPr>
                <a:spLocks noChangeArrowheads="1"/>
              </p:cNvSpPr>
              <p:nvPr/>
            </p:nvSpPr>
            <p:spPr bwMode="auto">
              <a:xfrm>
                <a:off x="1833627" y="2696302"/>
                <a:ext cx="557332" cy="556080"/>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48" name="Oval 11"/>
              <p:cNvSpPr>
                <a:spLocks noChangeArrowheads="1"/>
              </p:cNvSpPr>
              <p:nvPr/>
            </p:nvSpPr>
            <p:spPr bwMode="auto">
              <a:xfrm>
                <a:off x="2226489" y="2491874"/>
                <a:ext cx="249471" cy="248912"/>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grpSp>
        <p:sp>
          <p:nvSpPr>
            <p:cNvPr id="23" name="椭圆 22"/>
            <p:cNvSpPr/>
            <p:nvPr/>
          </p:nvSpPr>
          <p:spPr>
            <a:xfrm>
              <a:off x="4251572" y="2232063"/>
              <a:ext cx="553478" cy="553476"/>
            </a:xfrm>
            <a:prstGeom prst="ellipse">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accent1"/>
                </a:solidFill>
                <a:latin typeface="华文细黑" pitchFamily="2" charset="-122"/>
                <a:ea typeface="华文细黑" pitchFamily="2" charset="-122"/>
              </a:endParaRPr>
            </a:p>
          </p:txBody>
        </p:sp>
      </p:grpSp>
      <p:sp>
        <p:nvSpPr>
          <p:cNvPr id="2" name="矩形 1"/>
          <p:cNvSpPr/>
          <p:nvPr/>
        </p:nvSpPr>
        <p:spPr>
          <a:xfrm>
            <a:off x="2018307" y="2737032"/>
            <a:ext cx="5074757" cy="615553"/>
          </a:xfrm>
          <a:prstGeom prst="rect">
            <a:avLst/>
          </a:prstGeom>
        </p:spPr>
        <p:txBody>
          <a:bodyPr wrap="square">
            <a:spAutoFit/>
          </a:bodyPr>
          <a:lstStyle/>
          <a:p>
            <a:pPr algn="ctr"/>
            <a:r>
              <a:rPr lang="zh-CN" altLang="en-US" sz="3400" b="1" dirty="0">
                <a:solidFill>
                  <a:srgbClr val="009900"/>
                </a:solidFill>
                <a:latin typeface="宋体" pitchFamily="2" charset="-122"/>
                <a:ea typeface="宋体" pitchFamily="2" charset="-122"/>
              </a:rPr>
              <a:t>风险与金融风险</a:t>
            </a:r>
            <a:endParaRPr lang="zh-CN" altLang="en-US" dirty="0">
              <a:latin typeface="宋体" pitchFamily="2" charset="-122"/>
              <a:ea typeface="宋体" pitchFamily="2" charset="-122"/>
            </a:endParaRPr>
          </a:p>
        </p:txBody>
      </p:sp>
      <p:sp>
        <p:nvSpPr>
          <p:cNvPr id="3" name="文本框 2"/>
          <p:cNvSpPr txBox="1"/>
          <p:nvPr/>
        </p:nvSpPr>
        <p:spPr>
          <a:xfrm>
            <a:off x="4324698" y="1824850"/>
            <a:ext cx="659941" cy="369332"/>
          </a:xfrm>
          <a:prstGeom prst="rect">
            <a:avLst/>
          </a:prstGeom>
          <a:noFill/>
        </p:spPr>
        <p:txBody>
          <a:bodyPr wrap="square" rtlCol="0">
            <a:spAutoFit/>
          </a:bodyPr>
          <a:lstStyle/>
          <a:p>
            <a:r>
              <a:rPr lang="en-US" altLang="zh-CN" dirty="0">
                <a:solidFill>
                  <a:schemeClr val="accent1"/>
                </a:solidFill>
                <a:latin typeface="Times New Roman" pitchFamily="18" charset="0"/>
                <a:cs typeface="Times New Roman" pitchFamily="18" charset="0"/>
              </a:rPr>
              <a:t>1.1</a:t>
            </a:r>
            <a:endParaRPr lang="zh-CN" altLang="en-US" dirty="0">
              <a:solidFill>
                <a:schemeClr val="accent1"/>
              </a:solidFill>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7727"/>
            <a:ext cx="8229600" cy="856986"/>
          </a:xfrm>
        </p:spPr>
        <p:txBody>
          <a:bodyPr>
            <a:normAutofit/>
          </a:bodyPr>
          <a:lstStyle/>
          <a:p>
            <a:pPr algn="l"/>
            <a:r>
              <a:rPr lang="zh-CN" altLang="en-US" sz="2800" b="1" dirty="0">
                <a:latin typeface="宋体" pitchFamily="2" charset="-122"/>
                <a:ea typeface="宋体" pitchFamily="2" charset="-122"/>
              </a:rPr>
              <a:t>什么是风险？</a:t>
            </a:r>
          </a:p>
        </p:txBody>
      </p:sp>
      <p:sp>
        <p:nvSpPr>
          <p:cNvPr id="4" name="矩形 3"/>
          <p:cNvSpPr/>
          <p:nvPr/>
        </p:nvSpPr>
        <p:spPr>
          <a:xfrm>
            <a:off x="0" y="380236"/>
            <a:ext cx="395536"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华文细黑" pitchFamily="2" charset="-122"/>
            </a:endParaRPr>
          </a:p>
        </p:txBody>
      </p:sp>
      <p:sp>
        <p:nvSpPr>
          <p:cNvPr id="7" name="内容占位符 6">
            <a:extLst>
              <a:ext uri="{FF2B5EF4-FFF2-40B4-BE49-F238E27FC236}">
                <a16:creationId xmlns:a16="http://schemas.microsoft.com/office/drawing/2014/main" id="{E3FB3D15-8C0F-45DA-ABB7-925A6DE73297}"/>
              </a:ext>
            </a:extLst>
          </p:cNvPr>
          <p:cNvSpPr>
            <a:spLocks noGrp="1"/>
          </p:cNvSpPr>
          <p:nvPr>
            <p:ph idx="1"/>
          </p:nvPr>
        </p:nvSpPr>
        <p:spPr>
          <a:xfrm>
            <a:off x="395536" y="1418828"/>
            <a:ext cx="8229600" cy="2974428"/>
          </a:xfrm>
        </p:spPr>
        <p:txBody>
          <a:bodyPr/>
          <a:lstStyle/>
          <a:p>
            <a:r>
              <a:rPr lang="zh-CN" altLang="en-US" dirty="0"/>
              <a:t>风险的特征</a:t>
            </a:r>
            <a:endParaRPr lang="en-US" altLang="zh-CN" dirty="0"/>
          </a:p>
          <a:p>
            <a:pPr>
              <a:buFont typeface="Wingdings" panose="05000000000000000000" pitchFamily="2" charset="2"/>
              <a:buChar char="ü"/>
            </a:pPr>
            <a:r>
              <a:rPr lang="zh-CN" altLang="en-US" dirty="0">
                <a:latin typeface="+mn-ea"/>
              </a:rPr>
              <a:t>客观性</a:t>
            </a:r>
            <a:endParaRPr lang="en-US" altLang="zh-CN" dirty="0">
              <a:latin typeface="+mn-ea"/>
            </a:endParaRPr>
          </a:p>
          <a:p>
            <a:pPr>
              <a:buFont typeface="Wingdings" panose="05000000000000000000" pitchFamily="2" charset="2"/>
              <a:buChar char="ü"/>
            </a:pPr>
            <a:r>
              <a:rPr lang="zh-CN" altLang="zh-CN" sz="3200" dirty="0">
                <a:effectLst/>
                <a:latin typeface="+mn-ea"/>
                <a:cs typeface="宋体" panose="02010600030101010101" pitchFamily="2" charset="-122"/>
              </a:rPr>
              <a:t>损害性</a:t>
            </a:r>
            <a:endParaRPr lang="en-US" altLang="zh-CN" sz="3200" dirty="0">
              <a:effectLst/>
              <a:latin typeface="+mn-ea"/>
              <a:cs typeface="宋体" panose="02010600030101010101" pitchFamily="2" charset="-122"/>
            </a:endParaRPr>
          </a:p>
          <a:p>
            <a:pPr>
              <a:buFont typeface="Wingdings" panose="05000000000000000000" pitchFamily="2" charset="2"/>
              <a:buChar char="ü"/>
            </a:pPr>
            <a:r>
              <a:rPr lang="zh-CN" altLang="en-US" dirty="0">
                <a:latin typeface="+mn-ea"/>
              </a:rPr>
              <a:t>不确定性</a:t>
            </a: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4043803" y="1181686"/>
            <a:ext cx="1056394" cy="1389270"/>
            <a:chOff x="3995936" y="1676400"/>
            <a:chExt cx="1056394" cy="1389270"/>
          </a:xfrm>
        </p:grpSpPr>
        <p:grpSp>
          <p:nvGrpSpPr>
            <p:cNvPr id="22" name="组合 21"/>
            <p:cNvGrpSpPr/>
            <p:nvPr/>
          </p:nvGrpSpPr>
          <p:grpSpPr>
            <a:xfrm>
              <a:off x="3995936" y="1676400"/>
              <a:ext cx="1056394" cy="1389270"/>
              <a:chOff x="1078816" y="964066"/>
              <a:chExt cx="2222812" cy="2923236"/>
            </a:xfrm>
          </p:grpSpPr>
          <p:sp>
            <p:nvSpPr>
              <p:cNvPr id="24" name="Freeform 7"/>
              <p:cNvSpPr/>
              <p:nvPr/>
            </p:nvSpPr>
            <p:spPr bwMode="auto">
              <a:xfrm>
                <a:off x="1078816" y="2540257"/>
                <a:ext cx="696716" cy="1019561"/>
              </a:xfrm>
              <a:custGeom>
                <a:avLst/>
                <a:gdLst>
                  <a:gd name="T0" fmla="*/ 94 w 375"/>
                  <a:gd name="T1" fmla="*/ 0 h 549"/>
                  <a:gd name="T2" fmla="*/ 11 w 375"/>
                  <a:gd name="T3" fmla="*/ 12 h 549"/>
                  <a:gd name="T4" fmla="*/ 0 w 375"/>
                  <a:gd name="T5" fmla="*/ 127 h 549"/>
                  <a:gd name="T6" fmla="*/ 174 w 375"/>
                  <a:gd name="T7" fmla="*/ 549 h 549"/>
                  <a:gd name="T8" fmla="*/ 375 w 375"/>
                  <a:gd name="T9" fmla="*/ 280 h 549"/>
                  <a:gd name="T10" fmla="*/ 94 w 375"/>
                  <a:gd name="T11" fmla="*/ 0 h 549"/>
                </a:gdLst>
                <a:ahLst/>
                <a:cxnLst>
                  <a:cxn ang="0">
                    <a:pos x="T0" y="T1"/>
                  </a:cxn>
                  <a:cxn ang="0">
                    <a:pos x="T2" y="T3"/>
                  </a:cxn>
                  <a:cxn ang="0">
                    <a:pos x="T4" y="T5"/>
                  </a:cxn>
                  <a:cxn ang="0">
                    <a:pos x="T6" y="T7"/>
                  </a:cxn>
                  <a:cxn ang="0">
                    <a:pos x="T8" y="T9"/>
                  </a:cxn>
                  <a:cxn ang="0">
                    <a:pos x="T10" y="T11"/>
                  </a:cxn>
                </a:cxnLst>
                <a:rect l="0" t="0" r="r" b="b"/>
                <a:pathLst>
                  <a:path w="375" h="549">
                    <a:moveTo>
                      <a:pt x="94" y="0"/>
                    </a:moveTo>
                    <a:cubicBezTo>
                      <a:pt x="65" y="0"/>
                      <a:pt x="37" y="4"/>
                      <a:pt x="11" y="12"/>
                    </a:cubicBezTo>
                    <a:cubicBezTo>
                      <a:pt x="3" y="49"/>
                      <a:pt x="0" y="87"/>
                      <a:pt x="0" y="127"/>
                    </a:cubicBezTo>
                    <a:cubicBezTo>
                      <a:pt x="0" y="291"/>
                      <a:pt x="66" y="441"/>
                      <a:pt x="174" y="549"/>
                    </a:cubicBezTo>
                    <a:cubicBezTo>
                      <a:pt x="290" y="514"/>
                      <a:pt x="375" y="407"/>
                      <a:pt x="375" y="280"/>
                    </a:cubicBezTo>
                    <a:cubicBezTo>
                      <a:pt x="375" y="125"/>
                      <a:pt x="249" y="0"/>
                      <a:pt x="94" y="0"/>
                    </a:cubicBezTo>
                    <a:close/>
                  </a:path>
                </a:pathLst>
              </a:cu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25" name="Freeform 8"/>
              <p:cNvSpPr/>
              <p:nvPr/>
            </p:nvSpPr>
            <p:spPr bwMode="auto">
              <a:xfrm>
                <a:off x="1088093" y="2231327"/>
                <a:ext cx="600234" cy="615077"/>
              </a:xfrm>
              <a:custGeom>
                <a:avLst/>
                <a:gdLst>
                  <a:gd name="T0" fmla="*/ 158 w 323"/>
                  <a:gd name="T1" fmla="*/ 0 h 331"/>
                  <a:gd name="T2" fmla="*/ 51 w 323"/>
                  <a:gd name="T3" fmla="*/ 38 h 331"/>
                  <a:gd name="T4" fmla="*/ 0 w 323"/>
                  <a:gd name="T5" fmla="*/ 216 h 331"/>
                  <a:gd name="T6" fmla="*/ 158 w 323"/>
                  <a:gd name="T7" fmla="*/ 331 h 331"/>
                  <a:gd name="T8" fmla="*/ 323 w 323"/>
                  <a:gd name="T9" fmla="*/ 166 h 331"/>
                  <a:gd name="T10" fmla="*/ 158 w 323"/>
                  <a:gd name="T11" fmla="*/ 0 h 331"/>
                </a:gdLst>
                <a:ahLst/>
                <a:cxnLst>
                  <a:cxn ang="0">
                    <a:pos x="T0" y="T1"/>
                  </a:cxn>
                  <a:cxn ang="0">
                    <a:pos x="T2" y="T3"/>
                  </a:cxn>
                  <a:cxn ang="0">
                    <a:pos x="T4" y="T5"/>
                  </a:cxn>
                  <a:cxn ang="0">
                    <a:pos x="T6" y="T7"/>
                  </a:cxn>
                  <a:cxn ang="0">
                    <a:pos x="T8" y="T9"/>
                  </a:cxn>
                  <a:cxn ang="0">
                    <a:pos x="T10" y="T11"/>
                  </a:cxn>
                </a:cxnLst>
                <a:rect l="0" t="0" r="r" b="b"/>
                <a:pathLst>
                  <a:path w="323" h="331">
                    <a:moveTo>
                      <a:pt x="158" y="0"/>
                    </a:moveTo>
                    <a:cubicBezTo>
                      <a:pt x="117" y="0"/>
                      <a:pt x="80" y="14"/>
                      <a:pt x="51" y="38"/>
                    </a:cubicBezTo>
                    <a:cubicBezTo>
                      <a:pt x="25" y="94"/>
                      <a:pt x="8" y="153"/>
                      <a:pt x="0" y="216"/>
                    </a:cubicBezTo>
                    <a:cubicBezTo>
                      <a:pt x="21" y="283"/>
                      <a:pt x="84" y="331"/>
                      <a:pt x="158" y="331"/>
                    </a:cubicBezTo>
                    <a:cubicBezTo>
                      <a:pt x="249" y="331"/>
                      <a:pt x="323" y="257"/>
                      <a:pt x="323" y="166"/>
                    </a:cubicBezTo>
                    <a:cubicBezTo>
                      <a:pt x="323" y="74"/>
                      <a:pt x="249" y="0"/>
                      <a:pt x="158" y="0"/>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26" name="Oval 9"/>
              <p:cNvSpPr>
                <a:spLocks noChangeArrowheads="1"/>
              </p:cNvSpPr>
              <p:nvPr/>
            </p:nvSpPr>
            <p:spPr bwMode="auto">
              <a:xfrm>
                <a:off x="1530616" y="2179723"/>
                <a:ext cx="506964" cy="507925"/>
              </a:xfrm>
              <a:prstGeom prst="ellipse">
                <a:avLst/>
              </a:prstGeom>
              <a:solidFill>
                <a:schemeClr val="accent5">
                  <a:alpha val="70000"/>
                </a:schemeClr>
              </a:solidFill>
              <a:ln>
                <a:noFill/>
              </a:ln>
            </p:spPr>
            <p:txBody>
              <a:bodyPr vert="horz" wrap="square" lIns="91440" tIns="45720" rIns="91440" bIns="45720" numCol="1" anchor="t" anchorCtr="0" compatLnSpc="1"/>
              <a:lstStyle/>
              <a:p>
                <a:endParaRPr lang="zh-CN" altLang="en-US"/>
              </a:p>
            </p:txBody>
          </p:sp>
          <p:sp>
            <p:nvSpPr>
              <p:cNvPr id="27" name="Oval 10"/>
              <p:cNvSpPr>
                <a:spLocks noChangeArrowheads="1"/>
              </p:cNvSpPr>
              <p:nvPr/>
            </p:nvSpPr>
            <p:spPr bwMode="auto">
              <a:xfrm>
                <a:off x="2050137" y="1993832"/>
                <a:ext cx="576113" cy="574257"/>
              </a:xfrm>
              <a:prstGeom prst="ellipse">
                <a:avLst/>
              </a:pr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28" name="Oval 11"/>
              <p:cNvSpPr>
                <a:spLocks noChangeArrowheads="1"/>
              </p:cNvSpPr>
              <p:nvPr/>
            </p:nvSpPr>
            <p:spPr bwMode="auto">
              <a:xfrm>
                <a:off x="1688327" y="1950229"/>
                <a:ext cx="413762" cy="412834"/>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29" name="Oval 12"/>
              <p:cNvSpPr>
                <a:spLocks noChangeArrowheads="1"/>
              </p:cNvSpPr>
              <p:nvPr/>
            </p:nvSpPr>
            <p:spPr bwMode="auto">
              <a:xfrm>
                <a:off x="1955510" y="1555021"/>
                <a:ext cx="256050" cy="256050"/>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30" name="Oval 13"/>
              <p:cNvSpPr>
                <a:spLocks noChangeArrowheads="1"/>
              </p:cNvSpPr>
              <p:nvPr/>
            </p:nvSpPr>
            <p:spPr bwMode="auto">
              <a:xfrm>
                <a:off x="2389682" y="1158887"/>
                <a:ext cx="86278" cy="87205"/>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31" name="Oval 14"/>
              <p:cNvSpPr>
                <a:spLocks noChangeArrowheads="1"/>
              </p:cNvSpPr>
              <p:nvPr/>
            </p:nvSpPr>
            <p:spPr bwMode="auto">
              <a:xfrm>
                <a:off x="1532470" y="1755408"/>
                <a:ext cx="85350" cy="85350"/>
              </a:xfrm>
              <a:prstGeom prst="ellipse">
                <a:avLst/>
              </a:pr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32" name="Oval 15"/>
              <p:cNvSpPr>
                <a:spLocks noChangeArrowheads="1"/>
              </p:cNvSpPr>
              <p:nvPr/>
            </p:nvSpPr>
            <p:spPr bwMode="auto">
              <a:xfrm>
                <a:off x="2068691" y="1905698"/>
                <a:ext cx="87205" cy="88133"/>
              </a:xfrm>
              <a:prstGeom prst="ellipse">
                <a:avLst/>
              </a:prstGeom>
              <a:solidFill>
                <a:schemeClr val="accent1">
                  <a:alpha val="80000"/>
                </a:schemeClr>
              </a:solidFill>
              <a:ln>
                <a:noFill/>
              </a:ln>
            </p:spPr>
            <p:txBody>
              <a:bodyPr vert="horz" wrap="square" lIns="91440" tIns="45720" rIns="91440" bIns="45720" numCol="1" anchor="t" anchorCtr="0" compatLnSpc="1"/>
              <a:lstStyle/>
              <a:p>
                <a:endParaRPr lang="zh-CN" altLang="en-US"/>
              </a:p>
            </p:txBody>
          </p:sp>
          <p:sp>
            <p:nvSpPr>
              <p:cNvPr id="33" name="Freeform 16"/>
              <p:cNvSpPr/>
              <p:nvPr/>
            </p:nvSpPr>
            <p:spPr bwMode="auto">
              <a:xfrm>
                <a:off x="1673483" y="1653359"/>
                <a:ext cx="376653" cy="377581"/>
              </a:xfrm>
              <a:custGeom>
                <a:avLst/>
                <a:gdLst>
                  <a:gd name="T0" fmla="*/ 201 w 203"/>
                  <a:gd name="T1" fmla="*/ 98 h 203"/>
                  <a:gd name="T2" fmla="*/ 105 w 203"/>
                  <a:gd name="T3" fmla="*/ 201 h 203"/>
                  <a:gd name="T4" fmla="*/ 1 w 203"/>
                  <a:gd name="T5" fmla="*/ 105 h 203"/>
                  <a:gd name="T6" fmla="*/ 98 w 203"/>
                  <a:gd name="T7" fmla="*/ 1 h 203"/>
                  <a:gd name="T8" fmla="*/ 201 w 203"/>
                  <a:gd name="T9" fmla="*/ 98 h 203"/>
                </a:gdLst>
                <a:ahLst/>
                <a:cxnLst>
                  <a:cxn ang="0">
                    <a:pos x="T0" y="T1"/>
                  </a:cxn>
                  <a:cxn ang="0">
                    <a:pos x="T2" y="T3"/>
                  </a:cxn>
                  <a:cxn ang="0">
                    <a:pos x="T4" y="T5"/>
                  </a:cxn>
                  <a:cxn ang="0">
                    <a:pos x="T6" y="T7"/>
                  </a:cxn>
                  <a:cxn ang="0">
                    <a:pos x="T8" y="T9"/>
                  </a:cxn>
                </a:cxnLst>
                <a:rect l="0" t="0" r="r" b="b"/>
                <a:pathLst>
                  <a:path w="203" h="203">
                    <a:moveTo>
                      <a:pt x="201" y="98"/>
                    </a:moveTo>
                    <a:cubicBezTo>
                      <a:pt x="203" y="153"/>
                      <a:pt x="160" y="200"/>
                      <a:pt x="105" y="201"/>
                    </a:cubicBezTo>
                    <a:cubicBezTo>
                      <a:pt x="49" y="203"/>
                      <a:pt x="3" y="160"/>
                      <a:pt x="1" y="105"/>
                    </a:cubicBezTo>
                    <a:cubicBezTo>
                      <a:pt x="0" y="49"/>
                      <a:pt x="43" y="3"/>
                      <a:pt x="98" y="1"/>
                    </a:cubicBezTo>
                    <a:cubicBezTo>
                      <a:pt x="153" y="0"/>
                      <a:pt x="200" y="43"/>
                      <a:pt x="201" y="98"/>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34" name="Oval 17"/>
              <p:cNvSpPr>
                <a:spLocks noChangeArrowheads="1"/>
              </p:cNvSpPr>
              <p:nvPr/>
            </p:nvSpPr>
            <p:spPr bwMode="auto">
              <a:xfrm>
                <a:off x="1504639" y="1901988"/>
                <a:ext cx="141013" cy="143796"/>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35" name="Oval 18"/>
              <p:cNvSpPr>
                <a:spLocks noChangeArrowheads="1"/>
              </p:cNvSpPr>
              <p:nvPr/>
            </p:nvSpPr>
            <p:spPr bwMode="auto">
              <a:xfrm>
                <a:off x="2167029" y="964066"/>
                <a:ext cx="142869" cy="142868"/>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36" name="Oval 19"/>
              <p:cNvSpPr>
                <a:spLocks noChangeArrowheads="1"/>
              </p:cNvSpPr>
              <p:nvPr/>
            </p:nvSpPr>
            <p:spPr bwMode="auto">
              <a:xfrm>
                <a:off x="2276500" y="1307321"/>
                <a:ext cx="312641" cy="312641"/>
              </a:xfrm>
              <a:prstGeom prst="ellipse">
                <a:avLst/>
              </a:pr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37" name="Oval 20"/>
              <p:cNvSpPr>
                <a:spLocks noChangeArrowheads="1"/>
              </p:cNvSpPr>
              <p:nvPr/>
            </p:nvSpPr>
            <p:spPr bwMode="auto">
              <a:xfrm>
                <a:off x="2276500" y="1816638"/>
                <a:ext cx="312641" cy="314496"/>
              </a:xfrm>
              <a:prstGeom prst="ellipse">
                <a:avLst/>
              </a:prstGeom>
              <a:solidFill>
                <a:schemeClr val="accent3">
                  <a:alpha val="70000"/>
                </a:schemeClr>
              </a:solidFill>
              <a:ln>
                <a:noFill/>
              </a:ln>
            </p:spPr>
            <p:txBody>
              <a:bodyPr vert="horz" wrap="square" lIns="91440" tIns="45720" rIns="91440" bIns="45720" numCol="1" anchor="t" anchorCtr="0" compatLnSpc="1"/>
              <a:lstStyle/>
              <a:p>
                <a:endParaRPr lang="zh-CN" altLang="en-US"/>
              </a:p>
            </p:txBody>
          </p:sp>
          <p:sp>
            <p:nvSpPr>
              <p:cNvPr id="38" name="Oval 21"/>
              <p:cNvSpPr>
                <a:spLocks noChangeArrowheads="1"/>
              </p:cNvSpPr>
              <p:nvPr/>
            </p:nvSpPr>
            <p:spPr bwMode="auto">
              <a:xfrm>
                <a:off x="2754274" y="1514202"/>
                <a:ext cx="141013" cy="141013"/>
              </a:xfrm>
              <a:prstGeom prst="ellipse">
                <a:avLst/>
              </a:pr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39" name="Freeform 22"/>
              <p:cNvSpPr/>
              <p:nvPr/>
            </p:nvSpPr>
            <p:spPr bwMode="auto">
              <a:xfrm>
                <a:off x="2947240" y="2064338"/>
                <a:ext cx="348822" cy="600233"/>
              </a:xfrm>
              <a:custGeom>
                <a:avLst/>
                <a:gdLst>
                  <a:gd name="T0" fmla="*/ 0 w 188"/>
                  <a:gd name="T1" fmla="*/ 132 h 323"/>
                  <a:gd name="T2" fmla="*/ 188 w 188"/>
                  <a:gd name="T3" fmla="*/ 323 h 323"/>
                  <a:gd name="T4" fmla="*/ 53 w 188"/>
                  <a:gd name="T5" fmla="*/ 0 h 323"/>
                  <a:gd name="T6" fmla="*/ 0 w 188"/>
                  <a:gd name="T7" fmla="*/ 132 h 323"/>
                </a:gdLst>
                <a:ahLst/>
                <a:cxnLst>
                  <a:cxn ang="0">
                    <a:pos x="T0" y="T1"/>
                  </a:cxn>
                  <a:cxn ang="0">
                    <a:pos x="T2" y="T3"/>
                  </a:cxn>
                  <a:cxn ang="0">
                    <a:pos x="T4" y="T5"/>
                  </a:cxn>
                  <a:cxn ang="0">
                    <a:pos x="T6" y="T7"/>
                  </a:cxn>
                </a:cxnLst>
                <a:rect l="0" t="0" r="r" b="b"/>
                <a:pathLst>
                  <a:path w="188" h="323">
                    <a:moveTo>
                      <a:pt x="0" y="132"/>
                    </a:moveTo>
                    <a:cubicBezTo>
                      <a:pt x="0" y="237"/>
                      <a:pt x="84" y="321"/>
                      <a:pt x="188" y="323"/>
                    </a:cubicBezTo>
                    <a:cubicBezTo>
                      <a:pt x="176" y="201"/>
                      <a:pt x="127" y="89"/>
                      <a:pt x="53" y="0"/>
                    </a:cubicBezTo>
                    <a:cubicBezTo>
                      <a:pt x="20" y="34"/>
                      <a:pt x="0" y="81"/>
                      <a:pt x="0" y="132"/>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40" name="Freeform 23"/>
              <p:cNvSpPr/>
              <p:nvPr/>
            </p:nvSpPr>
            <p:spPr bwMode="auto">
              <a:xfrm>
                <a:off x="2563165" y="2261014"/>
                <a:ext cx="738463" cy="894319"/>
              </a:xfrm>
              <a:custGeom>
                <a:avLst/>
                <a:gdLst>
                  <a:gd name="T0" fmla="*/ 0 w 398"/>
                  <a:gd name="T1" fmla="*/ 241 h 481"/>
                  <a:gd name="T2" fmla="*/ 241 w 398"/>
                  <a:gd name="T3" fmla="*/ 481 h 481"/>
                  <a:gd name="T4" fmla="*/ 375 w 398"/>
                  <a:gd name="T5" fmla="*/ 440 h 481"/>
                  <a:gd name="T6" fmla="*/ 398 w 398"/>
                  <a:gd name="T7" fmla="*/ 277 h 481"/>
                  <a:gd name="T8" fmla="*/ 342 w 398"/>
                  <a:gd name="T9" fmla="*/ 22 h 481"/>
                  <a:gd name="T10" fmla="*/ 241 w 398"/>
                  <a:gd name="T11" fmla="*/ 0 h 481"/>
                  <a:gd name="T12" fmla="*/ 0 w 398"/>
                  <a:gd name="T13" fmla="*/ 241 h 481"/>
                </a:gdLst>
                <a:ahLst/>
                <a:cxnLst>
                  <a:cxn ang="0">
                    <a:pos x="T0" y="T1"/>
                  </a:cxn>
                  <a:cxn ang="0">
                    <a:pos x="T2" y="T3"/>
                  </a:cxn>
                  <a:cxn ang="0">
                    <a:pos x="T4" y="T5"/>
                  </a:cxn>
                  <a:cxn ang="0">
                    <a:pos x="T6" y="T7"/>
                  </a:cxn>
                  <a:cxn ang="0">
                    <a:pos x="T8" y="T9"/>
                  </a:cxn>
                  <a:cxn ang="0">
                    <a:pos x="T10" y="T11"/>
                  </a:cxn>
                  <a:cxn ang="0">
                    <a:pos x="T12" y="T13"/>
                  </a:cxn>
                </a:cxnLst>
                <a:rect l="0" t="0" r="r" b="b"/>
                <a:pathLst>
                  <a:path w="398" h="481">
                    <a:moveTo>
                      <a:pt x="0" y="241"/>
                    </a:moveTo>
                    <a:cubicBezTo>
                      <a:pt x="0" y="374"/>
                      <a:pt x="108" y="481"/>
                      <a:pt x="241" y="481"/>
                    </a:cubicBezTo>
                    <a:cubicBezTo>
                      <a:pt x="291" y="481"/>
                      <a:pt x="337" y="466"/>
                      <a:pt x="375" y="440"/>
                    </a:cubicBezTo>
                    <a:cubicBezTo>
                      <a:pt x="390" y="388"/>
                      <a:pt x="398" y="333"/>
                      <a:pt x="398" y="277"/>
                    </a:cubicBezTo>
                    <a:cubicBezTo>
                      <a:pt x="398" y="186"/>
                      <a:pt x="378" y="100"/>
                      <a:pt x="342" y="22"/>
                    </a:cubicBezTo>
                    <a:cubicBezTo>
                      <a:pt x="311" y="8"/>
                      <a:pt x="277" y="0"/>
                      <a:pt x="241" y="0"/>
                    </a:cubicBezTo>
                    <a:cubicBezTo>
                      <a:pt x="108" y="0"/>
                      <a:pt x="0" y="108"/>
                      <a:pt x="0" y="241"/>
                    </a:cubicBezTo>
                    <a:close/>
                  </a:path>
                </a:pathLst>
              </a:custGeom>
              <a:solidFill>
                <a:schemeClr val="accent1">
                  <a:alpha val="70000"/>
                </a:schemeClr>
              </a:solidFill>
              <a:ln>
                <a:noFill/>
              </a:ln>
            </p:spPr>
            <p:txBody>
              <a:bodyPr vert="horz" wrap="square" lIns="91440" tIns="45720" rIns="91440" bIns="45720" numCol="1" anchor="t" anchorCtr="0" compatLnSpc="1"/>
              <a:lstStyle/>
              <a:p>
                <a:endParaRPr lang="zh-CN" altLang="en-US"/>
              </a:p>
            </p:txBody>
          </p:sp>
          <p:sp>
            <p:nvSpPr>
              <p:cNvPr id="41" name="Freeform 24"/>
              <p:cNvSpPr/>
              <p:nvPr/>
            </p:nvSpPr>
            <p:spPr bwMode="auto">
              <a:xfrm>
                <a:off x="2574297" y="2261014"/>
                <a:ext cx="415618" cy="355316"/>
              </a:xfrm>
              <a:custGeom>
                <a:avLst/>
                <a:gdLst>
                  <a:gd name="T0" fmla="*/ 0 w 224"/>
                  <a:gd name="T1" fmla="*/ 188 h 191"/>
                  <a:gd name="T2" fmla="*/ 33 w 224"/>
                  <a:gd name="T3" fmla="*/ 191 h 191"/>
                  <a:gd name="T4" fmla="*/ 224 w 224"/>
                  <a:gd name="T5" fmla="*/ 0 h 191"/>
                  <a:gd name="T6" fmla="*/ 0 w 224"/>
                  <a:gd name="T7" fmla="*/ 188 h 191"/>
                </a:gdLst>
                <a:ahLst/>
                <a:cxnLst>
                  <a:cxn ang="0">
                    <a:pos x="T0" y="T1"/>
                  </a:cxn>
                  <a:cxn ang="0">
                    <a:pos x="T2" y="T3"/>
                  </a:cxn>
                  <a:cxn ang="0">
                    <a:pos x="T4" y="T5"/>
                  </a:cxn>
                  <a:cxn ang="0">
                    <a:pos x="T6" y="T7"/>
                  </a:cxn>
                </a:cxnLst>
                <a:rect l="0" t="0" r="r" b="b"/>
                <a:pathLst>
                  <a:path w="224" h="191">
                    <a:moveTo>
                      <a:pt x="0" y="188"/>
                    </a:moveTo>
                    <a:cubicBezTo>
                      <a:pt x="11" y="190"/>
                      <a:pt x="22" y="191"/>
                      <a:pt x="33" y="191"/>
                    </a:cubicBezTo>
                    <a:cubicBezTo>
                      <a:pt x="138" y="191"/>
                      <a:pt x="224" y="106"/>
                      <a:pt x="224" y="0"/>
                    </a:cubicBezTo>
                    <a:cubicBezTo>
                      <a:pt x="114" y="5"/>
                      <a:pt x="23" y="84"/>
                      <a:pt x="0" y="188"/>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42" name="Freeform 25"/>
              <p:cNvSpPr/>
              <p:nvPr/>
            </p:nvSpPr>
            <p:spPr bwMode="auto">
              <a:xfrm>
                <a:off x="2840364" y="3083913"/>
                <a:ext cx="420165" cy="581208"/>
              </a:xfrm>
              <a:custGeom>
                <a:avLst/>
                <a:gdLst>
                  <a:gd name="T0" fmla="*/ 224 w 224"/>
                  <a:gd name="T1" fmla="*/ 0 h 310"/>
                  <a:gd name="T2" fmla="*/ 0 w 224"/>
                  <a:gd name="T3" fmla="*/ 240 h 310"/>
                  <a:gd name="T4" fmla="*/ 11 w 224"/>
                  <a:gd name="T5" fmla="*/ 310 h 310"/>
                  <a:gd name="T6" fmla="*/ 224 w 224"/>
                  <a:gd name="T7" fmla="*/ 0 h 310"/>
                </a:gdLst>
                <a:ahLst/>
                <a:cxnLst>
                  <a:cxn ang="0">
                    <a:pos x="T0" y="T1"/>
                  </a:cxn>
                  <a:cxn ang="0">
                    <a:pos x="T2" y="T3"/>
                  </a:cxn>
                  <a:cxn ang="0">
                    <a:pos x="T4" y="T5"/>
                  </a:cxn>
                  <a:cxn ang="0">
                    <a:pos x="T6" y="T7"/>
                  </a:cxn>
                </a:cxnLst>
                <a:rect l="0" t="0" r="r" b="b"/>
                <a:pathLst>
                  <a:path w="224" h="310">
                    <a:moveTo>
                      <a:pt x="224" y="0"/>
                    </a:moveTo>
                    <a:cubicBezTo>
                      <a:pt x="99" y="9"/>
                      <a:pt x="0" y="113"/>
                      <a:pt x="0" y="240"/>
                    </a:cubicBezTo>
                    <a:cubicBezTo>
                      <a:pt x="0" y="265"/>
                      <a:pt x="4" y="288"/>
                      <a:pt x="11" y="310"/>
                    </a:cubicBezTo>
                    <a:cubicBezTo>
                      <a:pt x="112" y="233"/>
                      <a:pt x="187" y="125"/>
                      <a:pt x="224" y="0"/>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43" name="Freeform 26"/>
              <p:cNvSpPr/>
              <p:nvPr/>
            </p:nvSpPr>
            <p:spPr bwMode="auto">
              <a:xfrm>
                <a:off x="1104792" y="3017103"/>
                <a:ext cx="615077" cy="753306"/>
              </a:xfrm>
              <a:custGeom>
                <a:avLst/>
                <a:gdLst>
                  <a:gd name="T0" fmla="*/ 22 w 331"/>
                  <a:gd name="T1" fmla="*/ 0 h 405"/>
                  <a:gd name="T2" fmla="*/ 0 w 331"/>
                  <a:gd name="T3" fmla="*/ 0 h 405"/>
                  <a:gd name="T4" fmla="*/ 316 w 331"/>
                  <a:gd name="T5" fmla="*/ 405 h 405"/>
                  <a:gd name="T6" fmla="*/ 331 w 331"/>
                  <a:gd name="T7" fmla="*/ 309 h 405"/>
                  <a:gd name="T8" fmla="*/ 22 w 331"/>
                  <a:gd name="T9" fmla="*/ 0 h 405"/>
                </a:gdLst>
                <a:ahLst/>
                <a:cxnLst>
                  <a:cxn ang="0">
                    <a:pos x="T0" y="T1"/>
                  </a:cxn>
                  <a:cxn ang="0">
                    <a:pos x="T2" y="T3"/>
                  </a:cxn>
                  <a:cxn ang="0">
                    <a:pos x="T4" y="T5"/>
                  </a:cxn>
                  <a:cxn ang="0">
                    <a:pos x="T6" y="T7"/>
                  </a:cxn>
                  <a:cxn ang="0">
                    <a:pos x="T8" y="T9"/>
                  </a:cxn>
                </a:cxnLst>
                <a:rect l="0" t="0" r="r" b="b"/>
                <a:pathLst>
                  <a:path w="331" h="405">
                    <a:moveTo>
                      <a:pt x="22" y="0"/>
                    </a:moveTo>
                    <a:cubicBezTo>
                      <a:pt x="14" y="0"/>
                      <a:pt x="7" y="0"/>
                      <a:pt x="0" y="0"/>
                    </a:cubicBezTo>
                    <a:cubicBezTo>
                      <a:pt x="40" y="178"/>
                      <a:pt x="158" y="325"/>
                      <a:pt x="316" y="405"/>
                    </a:cubicBezTo>
                    <a:cubicBezTo>
                      <a:pt x="326" y="375"/>
                      <a:pt x="331" y="343"/>
                      <a:pt x="331" y="309"/>
                    </a:cubicBezTo>
                    <a:cubicBezTo>
                      <a:pt x="331" y="138"/>
                      <a:pt x="193" y="0"/>
                      <a:pt x="22" y="0"/>
                    </a:cubicBezTo>
                    <a:close/>
                  </a:path>
                </a:pathLst>
              </a:cu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44" name="Freeform 27"/>
              <p:cNvSpPr/>
              <p:nvPr/>
            </p:nvSpPr>
            <p:spPr bwMode="auto">
              <a:xfrm>
                <a:off x="1406301" y="2974428"/>
                <a:ext cx="1229226" cy="912874"/>
              </a:xfrm>
              <a:custGeom>
                <a:avLst/>
                <a:gdLst>
                  <a:gd name="T0" fmla="*/ 331 w 662"/>
                  <a:gd name="T1" fmla="*/ 0 h 491"/>
                  <a:gd name="T2" fmla="*/ 0 w 662"/>
                  <a:gd name="T3" fmla="*/ 317 h 491"/>
                  <a:gd name="T4" fmla="*/ 422 w 662"/>
                  <a:gd name="T5" fmla="*/ 491 h 491"/>
                  <a:gd name="T6" fmla="*/ 639 w 662"/>
                  <a:gd name="T7" fmla="*/ 451 h 491"/>
                  <a:gd name="T8" fmla="*/ 662 w 662"/>
                  <a:gd name="T9" fmla="*/ 331 h 491"/>
                  <a:gd name="T10" fmla="*/ 331 w 662"/>
                  <a:gd name="T11" fmla="*/ 0 h 491"/>
                </a:gdLst>
                <a:ahLst/>
                <a:cxnLst>
                  <a:cxn ang="0">
                    <a:pos x="T0" y="T1"/>
                  </a:cxn>
                  <a:cxn ang="0">
                    <a:pos x="T2" y="T3"/>
                  </a:cxn>
                  <a:cxn ang="0">
                    <a:pos x="T4" y="T5"/>
                  </a:cxn>
                  <a:cxn ang="0">
                    <a:pos x="T6" y="T7"/>
                  </a:cxn>
                  <a:cxn ang="0">
                    <a:pos x="T8" y="T9"/>
                  </a:cxn>
                  <a:cxn ang="0">
                    <a:pos x="T10" y="T11"/>
                  </a:cxn>
                </a:cxnLst>
                <a:rect l="0" t="0" r="r" b="b"/>
                <a:pathLst>
                  <a:path w="662" h="491">
                    <a:moveTo>
                      <a:pt x="331" y="0"/>
                    </a:moveTo>
                    <a:cubicBezTo>
                      <a:pt x="153" y="0"/>
                      <a:pt x="7" y="141"/>
                      <a:pt x="0" y="317"/>
                    </a:cubicBezTo>
                    <a:cubicBezTo>
                      <a:pt x="108" y="425"/>
                      <a:pt x="258" y="491"/>
                      <a:pt x="422" y="491"/>
                    </a:cubicBezTo>
                    <a:cubicBezTo>
                      <a:pt x="499" y="491"/>
                      <a:pt x="572" y="477"/>
                      <a:pt x="639" y="451"/>
                    </a:cubicBezTo>
                    <a:cubicBezTo>
                      <a:pt x="654" y="414"/>
                      <a:pt x="662" y="373"/>
                      <a:pt x="662" y="331"/>
                    </a:cubicBezTo>
                    <a:cubicBezTo>
                      <a:pt x="662" y="148"/>
                      <a:pt x="514" y="0"/>
                      <a:pt x="331" y="0"/>
                    </a:cubicBezTo>
                    <a:close/>
                  </a:path>
                </a:pathLst>
              </a:custGeom>
              <a:solidFill>
                <a:schemeClr val="accent6">
                  <a:alpha val="70000"/>
                </a:schemeClr>
              </a:solidFill>
              <a:ln>
                <a:noFill/>
              </a:ln>
            </p:spPr>
            <p:txBody>
              <a:bodyPr vert="horz" wrap="square" lIns="91440" tIns="45720" rIns="91440" bIns="45720" numCol="1" anchor="t" anchorCtr="0" compatLnSpc="1"/>
              <a:lstStyle/>
              <a:p>
                <a:endParaRPr lang="zh-CN" altLang="en-US"/>
              </a:p>
            </p:txBody>
          </p:sp>
          <p:sp>
            <p:nvSpPr>
              <p:cNvPr id="45" name="Freeform 28"/>
              <p:cNvSpPr/>
              <p:nvPr/>
            </p:nvSpPr>
            <p:spPr bwMode="auto">
              <a:xfrm>
                <a:off x="2335874" y="2933609"/>
                <a:ext cx="874838" cy="872054"/>
              </a:xfrm>
              <a:custGeom>
                <a:avLst/>
                <a:gdLst>
                  <a:gd name="T0" fmla="*/ 471 w 471"/>
                  <a:gd name="T1" fmla="*/ 153 h 469"/>
                  <a:gd name="T2" fmla="*/ 244 w 471"/>
                  <a:gd name="T3" fmla="*/ 0 h 469"/>
                  <a:gd name="T4" fmla="*/ 0 w 471"/>
                  <a:gd name="T5" fmla="*/ 244 h 469"/>
                  <a:gd name="T6" fmla="*/ 149 w 471"/>
                  <a:gd name="T7" fmla="*/ 469 h 469"/>
                  <a:gd name="T8" fmla="*/ 471 w 471"/>
                  <a:gd name="T9" fmla="*/ 153 h 469"/>
                </a:gdLst>
                <a:ahLst/>
                <a:cxnLst>
                  <a:cxn ang="0">
                    <a:pos x="T0" y="T1"/>
                  </a:cxn>
                  <a:cxn ang="0">
                    <a:pos x="T2" y="T3"/>
                  </a:cxn>
                  <a:cxn ang="0">
                    <a:pos x="T4" y="T5"/>
                  </a:cxn>
                  <a:cxn ang="0">
                    <a:pos x="T6" y="T7"/>
                  </a:cxn>
                  <a:cxn ang="0">
                    <a:pos x="T8" y="T9"/>
                  </a:cxn>
                </a:cxnLst>
                <a:rect l="0" t="0" r="r" b="b"/>
                <a:pathLst>
                  <a:path w="471" h="469">
                    <a:moveTo>
                      <a:pt x="471" y="153"/>
                    </a:moveTo>
                    <a:cubicBezTo>
                      <a:pt x="435" y="63"/>
                      <a:pt x="347" y="0"/>
                      <a:pt x="244" y="0"/>
                    </a:cubicBezTo>
                    <a:cubicBezTo>
                      <a:pt x="109" y="0"/>
                      <a:pt x="0" y="109"/>
                      <a:pt x="0" y="244"/>
                    </a:cubicBezTo>
                    <a:cubicBezTo>
                      <a:pt x="0" y="345"/>
                      <a:pt x="61" y="432"/>
                      <a:pt x="149" y="469"/>
                    </a:cubicBezTo>
                    <a:cubicBezTo>
                      <a:pt x="293" y="410"/>
                      <a:pt x="409" y="296"/>
                      <a:pt x="471" y="153"/>
                    </a:cubicBezTo>
                    <a:close/>
                  </a:path>
                </a:pathLst>
              </a:custGeom>
              <a:solidFill>
                <a:srgbClr val="00A0E9">
                  <a:alpha val="70000"/>
                </a:srgbClr>
              </a:solidFill>
              <a:ln>
                <a:noFill/>
              </a:ln>
            </p:spPr>
            <p:txBody>
              <a:bodyPr vert="horz" wrap="square" lIns="91440" tIns="45720" rIns="91440" bIns="45720" numCol="1" anchor="t" anchorCtr="0" compatLnSpc="1"/>
              <a:lstStyle/>
              <a:p>
                <a:endParaRPr lang="zh-CN" altLang="en-US"/>
              </a:p>
            </p:txBody>
          </p:sp>
          <p:sp>
            <p:nvSpPr>
              <p:cNvPr id="46" name="Oval 30"/>
              <p:cNvSpPr>
                <a:spLocks noChangeArrowheads="1"/>
              </p:cNvSpPr>
              <p:nvPr/>
            </p:nvSpPr>
            <p:spPr bwMode="auto">
              <a:xfrm>
                <a:off x="2540899" y="1675625"/>
                <a:ext cx="493546" cy="496329"/>
              </a:xfrm>
              <a:prstGeom prst="ellipse">
                <a:avLst/>
              </a:prstGeom>
              <a:solidFill>
                <a:schemeClr val="accent2">
                  <a:alpha val="70000"/>
                </a:schemeClr>
              </a:solidFill>
              <a:ln>
                <a:noFill/>
              </a:ln>
            </p:spPr>
            <p:txBody>
              <a:bodyPr vert="horz" wrap="square" lIns="91440" tIns="45720" rIns="91440" bIns="45720" numCol="1" anchor="t" anchorCtr="0" compatLnSpc="1"/>
              <a:lstStyle/>
              <a:p>
                <a:endParaRPr lang="zh-CN" altLang="en-US"/>
              </a:p>
            </p:txBody>
          </p:sp>
          <p:sp>
            <p:nvSpPr>
              <p:cNvPr id="47" name="Oval 11"/>
              <p:cNvSpPr>
                <a:spLocks noChangeArrowheads="1"/>
              </p:cNvSpPr>
              <p:nvPr/>
            </p:nvSpPr>
            <p:spPr bwMode="auto">
              <a:xfrm>
                <a:off x="1833627" y="2696302"/>
                <a:ext cx="557332" cy="556080"/>
              </a:xfrm>
              <a:prstGeom prst="ellipse">
                <a:avLst/>
              </a:pr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48" name="Oval 11"/>
              <p:cNvSpPr>
                <a:spLocks noChangeArrowheads="1"/>
              </p:cNvSpPr>
              <p:nvPr/>
            </p:nvSpPr>
            <p:spPr bwMode="auto">
              <a:xfrm>
                <a:off x="2226489" y="2491874"/>
                <a:ext cx="249471" cy="248912"/>
              </a:xfrm>
              <a:prstGeom prst="ellipse">
                <a:avLst/>
              </a:prstGeom>
              <a:solidFill>
                <a:srgbClr val="00A0E9">
                  <a:alpha val="70000"/>
                </a:srgbClr>
              </a:solidFill>
              <a:ln>
                <a:noFill/>
              </a:ln>
            </p:spPr>
            <p:txBody>
              <a:bodyPr vert="horz" wrap="square" lIns="91440" tIns="45720" rIns="91440" bIns="45720" numCol="1" anchor="t" anchorCtr="0" compatLnSpc="1"/>
              <a:lstStyle/>
              <a:p>
                <a:endParaRPr lang="zh-CN" altLang="en-US"/>
              </a:p>
            </p:txBody>
          </p:sp>
        </p:grpSp>
        <p:sp>
          <p:nvSpPr>
            <p:cNvPr id="23" name="椭圆 22"/>
            <p:cNvSpPr/>
            <p:nvPr/>
          </p:nvSpPr>
          <p:spPr>
            <a:xfrm>
              <a:off x="4251572" y="2232063"/>
              <a:ext cx="553478" cy="553476"/>
            </a:xfrm>
            <a:prstGeom prst="ellipse">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accent1"/>
                </a:solidFill>
                <a:latin typeface="华文细黑" pitchFamily="2" charset="-122"/>
                <a:ea typeface="华文细黑" pitchFamily="2" charset="-122"/>
              </a:endParaRPr>
            </a:p>
          </p:txBody>
        </p:sp>
      </p:grpSp>
      <p:sp>
        <p:nvSpPr>
          <p:cNvPr id="2" name="矩形 1"/>
          <p:cNvSpPr/>
          <p:nvPr/>
        </p:nvSpPr>
        <p:spPr>
          <a:xfrm>
            <a:off x="1766671" y="2714695"/>
            <a:ext cx="5578029" cy="615553"/>
          </a:xfrm>
          <a:prstGeom prst="rect">
            <a:avLst/>
          </a:prstGeom>
        </p:spPr>
        <p:txBody>
          <a:bodyPr wrap="square">
            <a:spAutoFit/>
          </a:bodyPr>
          <a:lstStyle/>
          <a:p>
            <a:pPr algn="ctr"/>
            <a:r>
              <a:rPr lang="zh-CN" altLang="en-US" sz="3400" b="1" dirty="0">
                <a:solidFill>
                  <a:srgbClr val="009900"/>
                </a:solidFill>
                <a:latin typeface="宋体" pitchFamily="2" charset="-122"/>
                <a:ea typeface="宋体" pitchFamily="2" charset="-122"/>
              </a:rPr>
              <a:t>风险、损失与不确定性</a:t>
            </a:r>
          </a:p>
        </p:txBody>
      </p:sp>
      <p:sp>
        <p:nvSpPr>
          <p:cNvPr id="3" name="文本框 2"/>
          <p:cNvSpPr txBox="1"/>
          <p:nvPr/>
        </p:nvSpPr>
        <p:spPr>
          <a:xfrm>
            <a:off x="4324698" y="1824850"/>
            <a:ext cx="659941" cy="369332"/>
          </a:xfrm>
          <a:prstGeom prst="rect">
            <a:avLst/>
          </a:prstGeom>
          <a:noFill/>
        </p:spPr>
        <p:txBody>
          <a:bodyPr wrap="square" rtlCol="0">
            <a:spAutoFit/>
          </a:bodyPr>
          <a:lstStyle/>
          <a:p>
            <a:r>
              <a:rPr lang="en-US" altLang="zh-CN" dirty="0">
                <a:solidFill>
                  <a:schemeClr val="accent1"/>
                </a:solidFill>
                <a:latin typeface="Times New Roman" pitchFamily="18" charset="0"/>
                <a:cs typeface="Times New Roman" pitchFamily="18" charset="0"/>
              </a:rPr>
              <a:t>1.2</a:t>
            </a:r>
            <a:endParaRPr lang="zh-CN" altLang="en-US" dirty="0">
              <a:solidFill>
                <a:schemeClr val="accent1"/>
              </a:solidFill>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9852" y="914772"/>
            <a:ext cx="8229600" cy="3819448"/>
          </a:xfrm>
        </p:spPr>
        <p:txBody>
          <a:bodyPr>
            <a:normAutofit/>
          </a:bodyPr>
          <a:lstStyle/>
          <a:p>
            <a:r>
              <a:rPr lang="zh-CN" altLang="en-US" dirty="0">
                <a:latin typeface="宋体" pitchFamily="2" charset="-122"/>
                <a:ea typeface="宋体" pitchFamily="2" charset="-122"/>
              </a:rPr>
              <a:t>风险与损失</a:t>
            </a:r>
            <a:endParaRPr lang="en-US" altLang="zh-CN" dirty="0">
              <a:latin typeface="宋体" pitchFamily="2" charset="-122"/>
              <a:ea typeface="宋体" pitchFamily="2" charset="-122"/>
            </a:endParaRPr>
          </a:p>
          <a:p>
            <a:endParaRPr lang="en-US" altLang="zh-CN" dirty="0">
              <a:latin typeface="宋体" pitchFamily="2" charset="-122"/>
              <a:ea typeface="宋体" pitchFamily="2" charset="-122"/>
            </a:endParaRPr>
          </a:p>
          <a:p>
            <a:pPr marL="0" indent="0">
              <a:buNone/>
            </a:pPr>
            <a:endParaRPr lang="en-US" altLang="zh-CN" dirty="0">
              <a:latin typeface="宋体" pitchFamily="2" charset="-122"/>
              <a:ea typeface="宋体" pitchFamily="2" charset="-122"/>
            </a:endParaRPr>
          </a:p>
          <a:p>
            <a:r>
              <a:rPr lang="zh-CN" altLang="en-US" dirty="0">
                <a:latin typeface="宋体" pitchFamily="2" charset="-122"/>
                <a:ea typeface="宋体" pitchFamily="2" charset="-122"/>
              </a:rPr>
              <a:t>风险和不确定性</a:t>
            </a:r>
          </a:p>
        </p:txBody>
      </p:sp>
      <p:sp>
        <p:nvSpPr>
          <p:cNvPr id="5" name="矩形 4"/>
          <p:cNvSpPr/>
          <p:nvPr/>
        </p:nvSpPr>
        <p:spPr>
          <a:xfrm>
            <a:off x="0" y="410716"/>
            <a:ext cx="395536"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华文细黑"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4043803" y="1181686"/>
            <a:ext cx="1056394" cy="1389270"/>
            <a:chOff x="3995936" y="1676400"/>
            <a:chExt cx="1056394" cy="1389270"/>
          </a:xfrm>
        </p:grpSpPr>
        <p:grpSp>
          <p:nvGrpSpPr>
            <p:cNvPr id="22" name="组合 21"/>
            <p:cNvGrpSpPr/>
            <p:nvPr/>
          </p:nvGrpSpPr>
          <p:grpSpPr>
            <a:xfrm>
              <a:off x="3995936" y="1676400"/>
              <a:ext cx="1056394" cy="1389270"/>
              <a:chOff x="1078816" y="964066"/>
              <a:chExt cx="2222812" cy="2923236"/>
            </a:xfrm>
          </p:grpSpPr>
          <p:sp>
            <p:nvSpPr>
              <p:cNvPr id="24" name="Freeform 7"/>
              <p:cNvSpPr/>
              <p:nvPr/>
            </p:nvSpPr>
            <p:spPr bwMode="auto">
              <a:xfrm>
                <a:off x="1078816" y="2540257"/>
                <a:ext cx="696716" cy="1019561"/>
              </a:xfrm>
              <a:custGeom>
                <a:avLst/>
                <a:gdLst>
                  <a:gd name="T0" fmla="*/ 94 w 375"/>
                  <a:gd name="T1" fmla="*/ 0 h 549"/>
                  <a:gd name="T2" fmla="*/ 11 w 375"/>
                  <a:gd name="T3" fmla="*/ 12 h 549"/>
                  <a:gd name="T4" fmla="*/ 0 w 375"/>
                  <a:gd name="T5" fmla="*/ 127 h 549"/>
                  <a:gd name="T6" fmla="*/ 174 w 375"/>
                  <a:gd name="T7" fmla="*/ 549 h 549"/>
                  <a:gd name="T8" fmla="*/ 375 w 375"/>
                  <a:gd name="T9" fmla="*/ 280 h 549"/>
                  <a:gd name="T10" fmla="*/ 94 w 375"/>
                  <a:gd name="T11" fmla="*/ 0 h 549"/>
                </a:gdLst>
                <a:ahLst/>
                <a:cxnLst>
                  <a:cxn ang="0">
                    <a:pos x="T0" y="T1"/>
                  </a:cxn>
                  <a:cxn ang="0">
                    <a:pos x="T2" y="T3"/>
                  </a:cxn>
                  <a:cxn ang="0">
                    <a:pos x="T4" y="T5"/>
                  </a:cxn>
                  <a:cxn ang="0">
                    <a:pos x="T6" y="T7"/>
                  </a:cxn>
                  <a:cxn ang="0">
                    <a:pos x="T8" y="T9"/>
                  </a:cxn>
                  <a:cxn ang="0">
                    <a:pos x="T10" y="T11"/>
                  </a:cxn>
                </a:cxnLst>
                <a:rect l="0" t="0" r="r" b="b"/>
                <a:pathLst>
                  <a:path w="375" h="549">
                    <a:moveTo>
                      <a:pt x="94" y="0"/>
                    </a:moveTo>
                    <a:cubicBezTo>
                      <a:pt x="65" y="0"/>
                      <a:pt x="37" y="4"/>
                      <a:pt x="11" y="12"/>
                    </a:cubicBezTo>
                    <a:cubicBezTo>
                      <a:pt x="3" y="49"/>
                      <a:pt x="0" y="87"/>
                      <a:pt x="0" y="127"/>
                    </a:cubicBezTo>
                    <a:cubicBezTo>
                      <a:pt x="0" y="291"/>
                      <a:pt x="66" y="441"/>
                      <a:pt x="174" y="549"/>
                    </a:cubicBezTo>
                    <a:cubicBezTo>
                      <a:pt x="290" y="514"/>
                      <a:pt x="375" y="407"/>
                      <a:pt x="375" y="280"/>
                    </a:cubicBezTo>
                    <a:cubicBezTo>
                      <a:pt x="375" y="125"/>
                      <a:pt x="249" y="0"/>
                      <a:pt x="94" y="0"/>
                    </a:cubicBezTo>
                    <a:close/>
                  </a:path>
                </a:pathLst>
              </a:cu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5" name="Freeform 8"/>
              <p:cNvSpPr/>
              <p:nvPr/>
            </p:nvSpPr>
            <p:spPr bwMode="auto">
              <a:xfrm>
                <a:off x="1088093" y="2231327"/>
                <a:ext cx="600234" cy="615077"/>
              </a:xfrm>
              <a:custGeom>
                <a:avLst/>
                <a:gdLst>
                  <a:gd name="T0" fmla="*/ 158 w 323"/>
                  <a:gd name="T1" fmla="*/ 0 h 331"/>
                  <a:gd name="T2" fmla="*/ 51 w 323"/>
                  <a:gd name="T3" fmla="*/ 38 h 331"/>
                  <a:gd name="T4" fmla="*/ 0 w 323"/>
                  <a:gd name="T5" fmla="*/ 216 h 331"/>
                  <a:gd name="T6" fmla="*/ 158 w 323"/>
                  <a:gd name="T7" fmla="*/ 331 h 331"/>
                  <a:gd name="T8" fmla="*/ 323 w 323"/>
                  <a:gd name="T9" fmla="*/ 166 h 331"/>
                  <a:gd name="T10" fmla="*/ 158 w 323"/>
                  <a:gd name="T11" fmla="*/ 0 h 331"/>
                </a:gdLst>
                <a:ahLst/>
                <a:cxnLst>
                  <a:cxn ang="0">
                    <a:pos x="T0" y="T1"/>
                  </a:cxn>
                  <a:cxn ang="0">
                    <a:pos x="T2" y="T3"/>
                  </a:cxn>
                  <a:cxn ang="0">
                    <a:pos x="T4" y="T5"/>
                  </a:cxn>
                  <a:cxn ang="0">
                    <a:pos x="T6" y="T7"/>
                  </a:cxn>
                  <a:cxn ang="0">
                    <a:pos x="T8" y="T9"/>
                  </a:cxn>
                  <a:cxn ang="0">
                    <a:pos x="T10" y="T11"/>
                  </a:cxn>
                </a:cxnLst>
                <a:rect l="0" t="0" r="r" b="b"/>
                <a:pathLst>
                  <a:path w="323" h="331">
                    <a:moveTo>
                      <a:pt x="158" y="0"/>
                    </a:moveTo>
                    <a:cubicBezTo>
                      <a:pt x="117" y="0"/>
                      <a:pt x="80" y="14"/>
                      <a:pt x="51" y="38"/>
                    </a:cubicBezTo>
                    <a:cubicBezTo>
                      <a:pt x="25" y="94"/>
                      <a:pt x="8" y="153"/>
                      <a:pt x="0" y="216"/>
                    </a:cubicBezTo>
                    <a:cubicBezTo>
                      <a:pt x="21" y="283"/>
                      <a:pt x="84" y="331"/>
                      <a:pt x="158" y="331"/>
                    </a:cubicBezTo>
                    <a:cubicBezTo>
                      <a:pt x="249" y="331"/>
                      <a:pt x="323" y="257"/>
                      <a:pt x="323" y="166"/>
                    </a:cubicBezTo>
                    <a:cubicBezTo>
                      <a:pt x="323" y="74"/>
                      <a:pt x="249" y="0"/>
                      <a:pt x="158" y="0"/>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6" name="Oval 9"/>
              <p:cNvSpPr>
                <a:spLocks noChangeArrowheads="1"/>
              </p:cNvSpPr>
              <p:nvPr/>
            </p:nvSpPr>
            <p:spPr bwMode="auto">
              <a:xfrm>
                <a:off x="1530616" y="2179723"/>
                <a:ext cx="506964" cy="507925"/>
              </a:xfrm>
              <a:prstGeom prst="ellipse">
                <a:avLst/>
              </a:prstGeom>
              <a:solidFill>
                <a:schemeClr val="accent5">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7" name="Oval 10"/>
              <p:cNvSpPr>
                <a:spLocks noChangeArrowheads="1"/>
              </p:cNvSpPr>
              <p:nvPr/>
            </p:nvSpPr>
            <p:spPr bwMode="auto">
              <a:xfrm>
                <a:off x="2050137" y="1993832"/>
                <a:ext cx="576113" cy="574257"/>
              </a:xfrm>
              <a:prstGeom prst="ellipse">
                <a:avLst/>
              </a:pr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8" name="Oval 11"/>
              <p:cNvSpPr>
                <a:spLocks noChangeArrowheads="1"/>
              </p:cNvSpPr>
              <p:nvPr/>
            </p:nvSpPr>
            <p:spPr bwMode="auto">
              <a:xfrm>
                <a:off x="1688327" y="1950229"/>
                <a:ext cx="413762" cy="412834"/>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9" name="Oval 12"/>
              <p:cNvSpPr>
                <a:spLocks noChangeArrowheads="1"/>
              </p:cNvSpPr>
              <p:nvPr/>
            </p:nvSpPr>
            <p:spPr bwMode="auto">
              <a:xfrm>
                <a:off x="1955510" y="1555021"/>
                <a:ext cx="256050" cy="256050"/>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0" name="Oval 13"/>
              <p:cNvSpPr>
                <a:spLocks noChangeArrowheads="1"/>
              </p:cNvSpPr>
              <p:nvPr/>
            </p:nvSpPr>
            <p:spPr bwMode="auto">
              <a:xfrm>
                <a:off x="2389682" y="1158887"/>
                <a:ext cx="86278" cy="87205"/>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1" name="Oval 14"/>
              <p:cNvSpPr>
                <a:spLocks noChangeArrowheads="1"/>
              </p:cNvSpPr>
              <p:nvPr/>
            </p:nvSpPr>
            <p:spPr bwMode="auto">
              <a:xfrm>
                <a:off x="1532470" y="1755408"/>
                <a:ext cx="85350" cy="85350"/>
              </a:xfrm>
              <a:prstGeom prst="ellipse">
                <a:avLst/>
              </a:pr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2" name="Oval 15"/>
              <p:cNvSpPr>
                <a:spLocks noChangeArrowheads="1"/>
              </p:cNvSpPr>
              <p:nvPr/>
            </p:nvSpPr>
            <p:spPr bwMode="auto">
              <a:xfrm>
                <a:off x="2068691" y="1905698"/>
                <a:ext cx="87205" cy="88133"/>
              </a:xfrm>
              <a:prstGeom prst="ellipse">
                <a:avLst/>
              </a:prstGeom>
              <a:solidFill>
                <a:schemeClr val="accent1">
                  <a:alpha val="8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3" name="Freeform 16"/>
              <p:cNvSpPr/>
              <p:nvPr/>
            </p:nvSpPr>
            <p:spPr bwMode="auto">
              <a:xfrm>
                <a:off x="1673483" y="1653359"/>
                <a:ext cx="376653" cy="377581"/>
              </a:xfrm>
              <a:custGeom>
                <a:avLst/>
                <a:gdLst>
                  <a:gd name="T0" fmla="*/ 201 w 203"/>
                  <a:gd name="T1" fmla="*/ 98 h 203"/>
                  <a:gd name="T2" fmla="*/ 105 w 203"/>
                  <a:gd name="T3" fmla="*/ 201 h 203"/>
                  <a:gd name="T4" fmla="*/ 1 w 203"/>
                  <a:gd name="T5" fmla="*/ 105 h 203"/>
                  <a:gd name="T6" fmla="*/ 98 w 203"/>
                  <a:gd name="T7" fmla="*/ 1 h 203"/>
                  <a:gd name="T8" fmla="*/ 201 w 203"/>
                  <a:gd name="T9" fmla="*/ 98 h 203"/>
                </a:gdLst>
                <a:ahLst/>
                <a:cxnLst>
                  <a:cxn ang="0">
                    <a:pos x="T0" y="T1"/>
                  </a:cxn>
                  <a:cxn ang="0">
                    <a:pos x="T2" y="T3"/>
                  </a:cxn>
                  <a:cxn ang="0">
                    <a:pos x="T4" y="T5"/>
                  </a:cxn>
                  <a:cxn ang="0">
                    <a:pos x="T6" y="T7"/>
                  </a:cxn>
                  <a:cxn ang="0">
                    <a:pos x="T8" y="T9"/>
                  </a:cxn>
                </a:cxnLst>
                <a:rect l="0" t="0" r="r" b="b"/>
                <a:pathLst>
                  <a:path w="203" h="203">
                    <a:moveTo>
                      <a:pt x="201" y="98"/>
                    </a:moveTo>
                    <a:cubicBezTo>
                      <a:pt x="203" y="153"/>
                      <a:pt x="160" y="200"/>
                      <a:pt x="105" y="201"/>
                    </a:cubicBezTo>
                    <a:cubicBezTo>
                      <a:pt x="49" y="203"/>
                      <a:pt x="3" y="160"/>
                      <a:pt x="1" y="105"/>
                    </a:cubicBezTo>
                    <a:cubicBezTo>
                      <a:pt x="0" y="49"/>
                      <a:pt x="43" y="3"/>
                      <a:pt x="98" y="1"/>
                    </a:cubicBezTo>
                    <a:cubicBezTo>
                      <a:pt x="153" y="0"/>
                      <a:pt x="200" y="43"/>
                      <a:pt x="201" y="98"/>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4" name="Oval 17"/>
              <p:cNvSpPr>
                <a:spLocks noChangeArrowheads="1"/>
              </p:cNvSpPr>
              <p:nvPr/>
            </p:nvSpPr>
            <p:spPr bwMode="auto">
              <a:xfrm>
                <a:off x="1504639" y="1901988"/>
                <a:ext cx="141013" cy="143796"/>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5" name="Oval 18"/>
              <p:cNvSpPr>
                <a:spLocks noChangeArrowheads="1"/>
              </p:cNvSpPr>
              <p:nvPr/>
            </p:nvSpPr>
            <p:spPr bwMode="auto">
              <a:xfrm>
                <a:off x="2167029" y="964066"/>
                <a:ext cx="142869" cy="142868"/>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6" name="Oval 19"/>
              <p:cNvSpPr>
                <a:spLocks noChangeArrowheads="1"/>
              </p:cNvSpPr>
              <p:nvPr/>
            </p:nvSpPr>
            <p:spPr bwMode="auto">
              <a:xfrm>
                <a:off x="2276500" y="1307321"/>
                <a:ext cx="312641" cy="312641"/>
              </a:xfrm>
              <a:prstGeom prst="ellipse">
                <a:avLst/>
              </a:pr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7" name="Oval 20"/>
              <p:cNvSpPr>
                <a:spLocks noChangeArrowheads="1"/>
              </p:cNvSpPr>
              <p:nvPr/>
            </p:nvSpPr>
            <p:spPr bwMode="auto">
              <a:xfrm>
                <a:off x="2276500" y="1816638"/>
                <a:ext cx="312641" cy="314496"/>
              </a:xfrm>
              <a:prstGeom prst="ellipse">
                <a:avLst/>
              </a:pr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8" name="Oval 21"/>
              <p:cNvSpPr>
                <a:spLocks noChangeArrowheads="1"/>
              </p:cNvSpPr>
              <p:nvPr/>
            </p:nvSpPr>
            <p:spPr bwMode="auto">
              <a:xfrm>
                <a:off x="2754274" y="1514202"/>
                <a:ext cx="141013" cy="141013"/>
              </a:xfrm>
              <a:prstGeom prst="ellipse">
                <a:avLst/>
              </a:pr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9" name="Freeform 22"/>
              <p:cNvSpPr/>
              <p:nvPr/>
            </p:nvSpPr>
            <p:spPr bwMode="auto">
              <a:xfrm>
                <a:off x="2947240" y="2064338"/>
                <a:ext cx="348822" cy="600233"/>
              </a:xfrm>
              <a:custGeom>
                <a:avLst/>
                <a:gdLst>
                  <a:gd name="T0" fmla="*/ 0 w 188"/>
                  <a:gd name="T1" fmla="*/ 132 h 323"/>
                  <a:gd name="T2" fmla="*/ 188 w 188"/>
                  <a:gd name="T3" fmla="*/ 323 h 323"/>
                  <a:gd name="T4" fmla="*/ 53 w 188"/>
                  <a:gd name="T5" fmla="*/ 0 h 323"/>
                  <a:gd name="T6" fmla="*/ 0 w 188"/>
                  <a:gd name="T7" fmla="*/ 132 h 323"/>
                </a:gdLst>
                <a:ahLst/>
                <a:cxnLst>
                  <a:cxn ang="0">
                    <a:pos x="T0" y="T1"/>
                  </a:cxn>
                  <a:cxn ang="0">
                    <a:pos x="T2" y="T3"/>
                  </a:cxn>
                  <a:cxn ang="0">
                    <a:pos x="T4" y="T5"/>
                  </a:cxn>
                  <a:cxn ang="0">
                    <a:pos x="T6" y="T7"/>
                  </a:cxn>
                </a:cxnLst>
                <a:rect l="0" t="0" r="r" b="b"/>
                <a:pathLst>
                  <a:path w="188" h="323">
                    <a:moveTo>
                      <a:pt x="0" y="132"/>
                    </a:moveTo>
                    <a:cubicBezTo>
                      <a:pt x="0" y="237"/>
                      <a:pt x="84" y="321"/>
                      <a:pt x="188" y="323"/>
                    </a:cubicBezTo>
                    <a:cubicBezTo>
                      <a:pt x="176" y="201"/>
                      <a:pt x="127" y="89"/>
                      <a:pt x="53" y="0"/>
                    </a:cubicBezTo>
                    <a:cubicBezTo>
                      <a:pt x="20" y="34"/>
                      <a:pt x="0" y="81"/>
                      <a:pt x="0" y="132"/>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0" name="Freeform 23"/>
              <p:cNvSpPr/>
              <p:nvPr/>
            </p:nvSpPr>
            <p:spPr bwMode="auto">
              <a:xfrm>
                <a:off x="2563165" y="2261014"/>
                <a:ext cx="738463" cy="894319"/>
              </a:xfrm>
              <a:custGeom>
                <a:avLst/>
                <a:gdLst>
                  <a:gd name="T0" fmla="*/ 0 w 398"/>
                  <a:gd name="T1" fmla="*/ 241 h 481"/>
                  <a:gd name="T2" fmla="*/ 241 w 398"/>
                  <a:gd name="T3" fmla="*/ 481 h 481"/>
                  <a:gd name="T4" fmla="*/ 375 w 398"/>
                  <a:gd name="T5" fmla="*/ 440 h 481"/>
                  <a:gd name="T6" fmla="*/ 398 w 398"/>
                  <a:gd name="T7" fmla="*/ 277 h 481"/>
                  <a:gd name="T8" fmla="*/ 342 w 398"/>
                  <a:gd name="T9" fmla="*/ 22 h 481"/>
                  <a:gd name="T10" fmla="*/ 241 w 398"/>
                  <a:gd name="T11" fmla="*/ 0 h 481"/>
                  <a:gd name="T12" fmla="*/ 0 w 398"/>
                  <a:gd name="T13" fmla="*/ 241 h 481"/>
                </a:gdLst>
                <a:ahLst/>
                <a:cxnLst>
                  <a:cxn ang="0">
                    <a:pos x="T0" y="T1"/>
                  </a:cxn>
                  <a:cxn ang="0">
                    <a:pos x="T2" y="T3"/>
                  </a:cxn>
                  <a:cxn ang="0">
                    <a:pos x="T4" y="T5"/>
                  </a:cxn>
                  <a:cxn ang="0">
                    <a:pos x="T6" y="T7"/>
                  </a:cxn>
                  <a:cxn ang="0">
                    <a:pos x="T8" y="T9"/>
                  </a:cxn>
                  <a:cxn ang="0">
                    <a:pos x="T10" y="T11"/>
                  </a:cxn>
                  <a:cxn ang="0">
                    <a:pos x="T12" y="T13"/>
                  </a:cxn>
                </a:cxnLst>
                <a:rect l="0" t="0" r="r" b="b"/>
                <a:pathLst>
                  <a:path w="398" h="481">
                    <a:moveTo>
                      <a:pt x="0" y="241"/>
                    </a:moveTo>
                    <a:cubicBezTo>
                      <a:pt x="0" y="374"/>
                      <a:pt x="108" y="481"/>
                      <a:pt x="241" y="481"/>
                    </a:cubicBezTo>
                    <a:cubicBezTo>
                      <a:pt x="291" y="481"/>
                      <a:pt x="337" y="466"/>
                      <a:pt x="375" y="440"/>
                    </a:cubicBezTo>
                    <a:cubicBezTo>
                      <a:pt x="390" y="388"/>
                      <a:pt x="398" y="333"/>
                      <a:pt x="398" y="277"/>
                    </a:cubicBezTo>
                    <a:cubicBezTo>
                      <a:pt x="398" y="186"/>
                      <a:pt x="378" y="100"/>
                      <a:pt x="342" y="22"/>
                    </a:cubicBezTo>
                    <a:cubicBezTo>
                      <a:pt x="311" y="8"/>
                      <a:pt x="277" y="0"/>
                      <a:pt x="241" y="0"/>
                    </a:cubicBezTo>
                    <a:cubicBezTo>
                      <a:pt x="108" y="0"/>
                      <a:pt x="0" y="108"/>
                      <a:pt x="0" y="241"/>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1" name="Freeform 24"/>
              <p:cNvSpPr/>
              <p:nvPr/>
            </p:nvSpPr>
            <p:spPr bwMode="auto">
              <a:xfrm>
                <a:off x="2574297" y="2261014"/>
                <a:ext cx="415618" cy="355316"/>
              </a:xfrm>
              <a:custGeom>
                <a:avLst/>
                <a:gdLst>
                  <a:gd name="T0" fmla="*/ 0 w 224"/>
                  <a:gd name="T1" fmla="*/ 188 h 191"/>
                  <a:gd name="T2" fmla="*/ 33 w 224"/>
                  <a:gd name="T3" fmla="*/ 191 h 191"/>
                  <a:gd name="T4" fmla="*/ 224 w 224"/>
                  <a:gd name="T5" fmla="*/ 0 h 191"/>
                  <a:gd name="T6" fmla="*/ 0 w 224"/>
                  <a:gd name="T7" fmla="*/ 188 h 191"/>
                </a:gdLst>
                <a:ahLst/>
                <a:cxnLst>
                  <a:cxn ang="0">
                    <a:pos x="T0" y="T1"/>
                  </a:cxn>
                  <a:cxn ang="0">
                    <a:pos x="T2" y="T3"/>
                  </a:cxn>
                  <a:cxn ang="0">
                    <a:pos x="T4" y="T5"/>
                  </a:cxn>
                  <a:cxn ang="0">
                    <a:pos x="T6" y="T7"/>
                  </a:cxn>
                </a:cxnLst>
                <a:rect l="0" t="0" r="r" b="b"/>
                <a:pathLst>
                  <a:path w="224" h="191">
                    <a:moveTo>
                      <a:pt x="0" y="188"/>
                    </a:moveTo>
                    <a:cubicBezTo>
                      <a:pt x="11" y="190"/>
                      <a:pt x="22" y="191"/>
                      <a:pt x="33" y="191"/>
                    </a:cubicBezTo>
                    <a:cubicBezTo>
                      <a:pt x="138" y="191"/>
                      <a:pt x="224" y="106"/>
                      <a:pt x="224" y="0"/>
                    </a:cubicBezTo>
                    <a:cubicBezTo>
                      <a:pt x="114" y="5"/>
                      <a:pt x="23" y="84"/>
                      <a:pt x="0" y="188"/>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2" name="Freeform 25"/>
              <p:cNvSpPr/>
              <p:nvPr/>
            </p:nvSpPr>
            <p:spPr bwMode="auto">
              <a:xfrm>
                <a:off x="2840364" y="3083913"/>
                <a:ext cx="420165" cy="581208"/>
              </a:xfrm>
              <a:custGeom>
                <a:avLst/>
                <a:gdLst>
                  <a:gd name="T0" fmla="*/ 224 w 224"/>
                  <a:gd name="T1" fmla="*/ 0 h 310"/>
                  <a:gd name="T2" fmla="*/ 0 w 224"/>
                  <a:gd name="T3" fmla="*/ 240 h 310"/>
                  <a:gd name="T4" fmla="*/ 11 w 224"/>
                  <a:gd name="T5" fmla="*/ 310 h 310"/>
                  <a:gd name="T6" fmla="*/ 224 w 224"/>
                  <a:gd name="T7" fmla="*/ 0 h 310"/>
                </a:gdLst>
                <a:ahLst/>
                <a:cxnLst>
                  <a:cxn ang="0">
                    <a:pos x="T0" y="T1"/>
                  </a:cxn>
                  <a:cxn ang="0">
                    <a:pos x="T2" y="T3"/>
                  </a:cxn>
                  <a:cxn ang="0">
                    <a:pos x="T4" y="T5"/>
                  </a:cxn>
                  <a:cxn ang="0">
                    <a:pos x="T6" y="T7"/>
                  </a:cxn>
                </a:cxnLst>
                <a:rect l="0" t="0" r="r" b="b"/>
                <a:pathLst>
                  <a:path w="224" h="310">
                    <a:moveTo>
                      <a:pt x="224" y="0"/>
                    </a:moveTo>
                    <a:cubicBezTo>
                      <a:pt x="99" y="9"/>
                      <a:pt x="0" y="113"/>
                      <a:pt x="0" y="240"/>
                    </a:cubicBezTo>
                    <a:cubicBezTo>
                      <a:pt x="0" y="265"/>
                      <a:pt x="4" y="288"/>
                      <a:pt x="11" y="310"/>
                    </a:cubicBezTo>
                    <a:cubicBezTo>
                      <a:pt x="112" y="233"/>
                      <a:pt x="187" y="125"/>
                      <a:pt x="224" y="0"/>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3" name="Freeform 26"/>
              <p:cNvSpPr/>
              <p:nvPr/>
            </p:nvSpPr>
            <p:spPr bwMode="auto">
              <a:xfrm>
                <a:off x="1104792" y="3017103"/>
                <a:ext cx="615077" cy="753306"/>
              </a:xfrm>
              <a:custGeom>
                <a:avLst/>
                <a:gdLst>
                  <a:gd name="T0" fmla="*/ 22 w 331"/>
                  <a:gd name="T1" fmla="*/ 0 h 405"/>
                  <a:gd name="T2" fmla="*/ 0 w 331"/>
                  <a:gd name="T3" fmla="*/ 0 h 405"/>
                  <a:gd name="T4" fmla="*/ 316 w 331"/>
                  <a:gd name="T5" fmla="*/ 405 h 405"/>
                  <a:gd name="T6" fmla="*/ 331 w 331"/>
                  <a:gd name="T7" fmla="*/ 309 h 405"/>
                  <a:gd name="T8" fmla="*/ 22 w 331"/>
                  <a:gd name="T9" fmla="*/ 0 h 405"/>
                </a:gdLst>
                <a:ahLst/>
                <a:cxnLst>
                  <a:cxn ang="0">
                    <a:pos x="T0" y="T1"/>
                  </a:cxn>
                  <a:cxn ang="0">
                    <a:pos x="T2" y="T3"/>
                  </a:cxn>
                  <a:cxn ang="0">
                    <a:pos x="T4" y="T5"/>
                  </a:cxn>
                  <a:cxn ang="0">
                    <a:pos x="T6" y="T7"/>
                  </a:cxn>
                  <a:cxn ang="0">
                    <a:pos x="T8" y="T9"/>
                  </a:cxn>
                </a:cxnLst>
                <a:rect l="0" t="0" r="r" b="b"/>
                <a:pathLst>
                  <a:path w="331" h="405">
                    <a:moveTo>
                      <a:pt x="22" y="0"/>
                    </a:moveTo>
                    <a:cubicBezTo>
                      <a:pt x="14" y="0"/>
                      <a:pt x="7" y="0"/>
                      <a:pt x="0" y="0"/>
                    </a:cubicBezTo>
                    <a:cubicBezTo>
                      <a:pt x="40" y="178"/>
                      <a:pt x="158" y="325"/>
                      <a:pt x="316" y="405"/>
                    </a:cubicBezTo>
                    <a:cubicBezTo>
                      <a:pt x="326" y="375"/>
                      <a:pt x="331" y="343"/>
                      <a:pt x="331" y="309"/>
                    </a:cubicBezTo>
                    <a:cubicBezTo>
                      <a:pt x="331" y="138"/>
                      <a:pt x="193" y="0"/>
                      <a:pt x="22" y="0"/>
                    </a:cubicBezTo>
                    <a:close/>
                  </a:path>
                </a:pathLst>
              </a:cu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4" name="Freeform 27"/>
              <p:cNvSpPr/>
              <p:nvPr/>
            </p:nvSpPr>
            <p:spPr bwMode="auto">
              <a:xfrm>
                <a:off x="1406301" y="2974428"/>
                <a:ext cx="1229226" cy="912874"/>
              </a:xfrm>
              <a:custGeom>
                <a:avLst/>
                <a:gdLst>
                  <a:gd name="T0" fmla="*/ 331 w 662"/>
                  <a:gd name="T1" fmla="*/ 0 h 491"/>
                  <a:gd name="T2" fmla="*/ 0 w 662"/>
                  <a:gd name="T3" fmla="*/ 317 h 491"/>
                  <a:gd name="T4" fmla="*/ 422 w 662"/>
                  <a:gd name="T5" fmla="*/ 491 h 491"/>
                  <a:gd name="T6" fmla="*/ 639 w 662"/>
                  <a:gd name="T7" fmla="*/ 451 h 491"/>
                  <a:gd name="T8" fmla="*/ 662 w 662"/>
                  <a:gd name="T9" fmla="*/ 331 h 491"/>
                  <a:gd name="T10" fmla="*/ 331 w 662"/>
                  <a:gd name="T11" fmla="*/ 0 h 491"/>
                </a:gdLst>
                <a:ahLst/>
                <a:cxnLst>
                  <a:cxn ang="0">
                    <a:pos x="T0" y="T1"/>
                  </a:cxn>
                  <a:cxn ang="0">
                    <a:pos x="T2" y="T3"/>
                  </a:cxn>
                  <a:cxn ang="0">
                    <a:pos x="T4" y="T5"/>
                  </a:cxn>
                  <a:cxn ang="0">
                    <a:pos x="T6" y="T7"/>
                  </a:cxn>
                  <a:cxn ang="0">
                    <a:pos x="T8" y="T9"/>
                  </a:cxn>
                  <a:cxn ang="0">
                    <a:pos x="T10" y="T11"/>
                  </a:cxn>
                </a:cxnLst>
                <a:rect l="0" t="0" r="r" b="b"/>
                <a:pathLst>
                  <a:path w="662" h="491">
                    <a:moveTo>
                      <a:pt x="331" y="0"/>
                    </a:moveTo>
                    <a:cubicBezTo>
                      <a:pt x="153" y="0"/>
                      <a:pt x="7" y="141"/>
                      <a:pt x="0" y="317"/>
                    </a:cubicBezTo>
                    <a:cubicBezTo>
                      <a:pt x="108" y="425"/>
                      <a:pt x="258" y="491"/>
                      <a:pt x="422" y="491"/>
                    </a:cubicBezTo>
                    <a:cubicBezTo>
                      <a:pt x="499" y="491"/>
                      <a:pt x="572" y="477"/>
                      <a:pt x="639" y="451"/>
                    </a:cubicBezTo>
                    <a:cubicBezTo>
                      <a:pt x="654" y="414"/>
                      <a:pt x="662" y="373"/>
                      <a:pt x="662" y="331"/>
                    </a:cubicBezTo>
                    <a:cubicBezTo>
                      <a:pt x="662" y="148"/>
                      <a:pt x="514" y="0"/>
                      <a:pt x="331" y="0"/>
                    </a:cubicBezTo>
                    <a:close/>
                  </a:path>
                </a:pathLst>
              </a:cu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5" name="Freeform 28"/>
              <p:cNvSpPr/>
              <p:nvPr/>
            </p:nvSpPr>
            <p:spPr bwMode="auto">
              <a:xfrm>
                <a:off x="2335874" y="2933609"/>
                <a:ext cx="874838" cy="872054"/>
              </a:xfrm>
              <a:custGeom>
                <a:avLst/>
                <a:gdLst>
                  <a:gd name="T0" fmla="*/ 471 w 471"/>
                  <a:gd name="T1" fmla="*/ 153 h 469"/>
                  <a:gd name="T2" fmla="*/ 244 w 471"/>
                  <a:gd name="T3" fmla="*/ 0 h 469"/>
                  <a:gd name="T4" fmla="*/ 0 w 471"/>
                  <a:gd name="T5" fmla="*/ 244 h 469"/>
                  <a:gd name="T6" fmla="*/ 149 w 471"/>
                  <a:gd name="T7" fmla="*/ 469 h 469"/>
                  <a:gd name="T8" fmla="*/ 471 w 471"/>
                  <a:gd name="T9" fmla="*/ 153 h 469"/>
                </a:gdLst>
                <a:ahLst/>
                <a:cxnLst>
                  <a:cxn ang="0">
                    <a:pos x="T0" y="T1"/>
                  </a:cxn>
                  <a:cxn ang="0">
                    <a:pos x="T2" y="T3"/>
                  </a:cxn>
                  <a:cxn ang="0">
                    <a:pos x="T4" y="T5"/>
                  </a:cxn>
                  <a:cxn ang="0">
                    <a:pos x="T6" y="T7"/>
                  </a:cxn>
                  <a:cxn ang="0">
                    <a:pos x="T8" y="T9"/>
                  </a:cxn>
                </a:cxnLst>
                <a:rect l="0" t="0" r="r" b="b"/>
                <a:pathLst>
                  <a:path w="471" h="469">
                    <a:moveTo>
                      <a:pt x="471" y="153"/>
                    </a:moveTo>
                    <a:cubicBezTo>
                      <a:pt x="435" y="63"/>
                      <a:pt x="347" y="0"/>
                      <a:pt x="244" y="0"/>
                    </a:cubicBezTo>
                    <a:cubicBezTo>
                      <a:pt x="109" y="0"/>
                      <a:pt x="0" y="109"/>
                      <a:pt x="0" y="244"/>
                    </a:cubicBezTo>
                    <a:cubicBezTo>
                      <a:pt x="0" y="345"/>
                      <a:pt x="61" y="432"/>
                      <a:pt x="149" y="469"/>
                    </a:cubicBezTo>
                    <a:cubicBezTo>
                      <a:pt x="293" y="410"/>
                      <a:pt x="409" y="296"/>
                      <a:pt x="471" y="153"/>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6" name="Oval 30"/>
              <p:cNvSpPr>
                <a:spLocks noChangeArrowheads="1"/>
              </p:cNvSpPr>
              <p:nvPr/>
            </p:nvSpPr>
            <p:spPr bwMode="auto">
              <a:xfrm>
                <a:off x="2540899" y="1675625"/>
                <a:ext cx="493546" cy="496329"/>
              </a:xfrm>
              <a:prstGeom prst="ellipse">
                <a:avLst/>
              </a:prstGeom>
              <a:solidFill>
                <a:schemeClr val="accent2">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7" name="Oval 11"/>
              <p:cNvSpPr>
                <a:spLocks noChangeArrowheads="1"/>
              </p:cNvSpPr>
              <p:nvPr/>
            </p:nvSpPr>
            <p:spPr bwMode="auto">
              <a:xfrm>
                <a:off x="1833627" y="2696302"/>
                <a:ext cx="557332" cy="556080"/>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8" name="Oval 11"/>
              <p:cNvSpPr>
                <a:spLocks noChangeArrowheads="1"/>
              </p:cNvSpPr>
              <p:nvPr/>
            </p:nvSpPr>
            <p:spPr bwMode="auto">
              <a:xfrm>
                <a:off x="2226489" y="2491874"/>
                <a:ext cx="249471" cy="248912"/>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grpSp>
        <p:sp>
          <p:nvSpPr>
            <p:cNvPr id="23" name="椭圆 22"/>
            <p:cNvSpPr/>
            <p:nvPr/>
          </p:nvSpPr>
          <p:spPr>
            <a:xfrm>
              <a:off x="4251572" y="2232063"/>
              <a:ext cx="553478" cy="553476"/>
            </a:xfrm>
            <a:prstGeom prst="ellipse">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9900"/>
                </a:solidFill>
                <a:effectLst/>
                <a:uLnTx/>
                <a:uFillTx/>
                <a:latin typeface="华文细黑" pitchFamily="2" charset="-122"/>
                <a:ea typeface="华文细黑" pitchFamily="2" charset="-122"/>
                <a:cs typeface="+mn-cs"/>
              </a:endParaRPr>
            </a:p>
          </p:txBody>
        </p:sp>
      </p:grpSp>
      <p:sp>
        <p:nvSpPr>
          <p:cNvPr id="2" name="矩形 1"/>
          <p:cNvSpPr/>
          <p:nvPr/>
        </p:nvSpPr>
        <p:spPr>
          <a:xfrm>
            <a:off x="704749" y="2844284"/>
            <a:ext cx="7701873" cy="615553"/>
          </a:xfrm>
          <a:prstGeom prst="rect">
            <a:avLst/>
          </a:prstGeom>
        </p:spPr>
        <p:txBody>
          <a:bodyPr wrap="square">
            <a:spAutoFit/>
          </a:bodyPr>
          <a:lstStyle/>
          <a:p>
            <a:pPr lvl="0" algn="ctr"/>
            <a:r>
              <a:rPr lang="zh-CN" altLang="en-US" sz="3400" b="1" dirty="0">
                <a:solidFill>
                  <a:srgbClr val="009900"/>
                </a:solidFill>
                <a:latin typeface="宋体" pitchFamily="2" charset="-122"/>
                <a:ea typeface="宋体" pitchFamily="2" charset="-122"/>
              </a:rPr>
              <a:t>风险管理的流程和方法</a:t>
            </a:r>
          </a:p>
        </p:txBody>
      </p:sp>
      <p:sp>
        <p:nvSpPr>
          <p:cNvPr id="3" name="文本框 2"/>
          <p:cNvSpPr txBox="1"/>
          <p:nvPr/>
        </p:nvSpPr>
        <p:spPr>
          <a:xfrm>
            <a:off x="4324698" y="1824850"/>
            <a:ext cx="6599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9900"/>
                </a:solidFill>
                <a:effectLst/>
                <a:uLnTx/>
                <a:uFillTx/>
                <a:latin typeface="Times New Roman" pitchFamily="18" charset="0"/>
                <a:ea typeface="华文细黑"/>
                <a:cs typeface="Times New Roman" pitchFamily="18" charset="0"/>
              </a:rPr>
              <a:t>1.3</a:t>
            </a:r>
            <a:endParaRPr kumimoji="0" lang="zh-CN" altLang="en-US" sz="1800" b="0" i="0" u="none" strike="noStrike" kern="1200" cap="none" spc="0" normalizeH="0" baseline="0" noProof="0" dirty="0">
              <a:ln>
                <a:noFill/>
              </a:ln>
              <a:solidFill>
                <a:srgbClr val="009900"/>
              </a:solidFill>
              <a:effectLst/>
              <a:uLnTx/>
              <a:uFillTx/>
              <a:latin typeface="Times New Roman" pitchFamily="18" charset="0"/>
              <a:ea typeface="华文细黑"/>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780865"/>
          </a:xfrm>
        </p:spPr>
        <p:txBody>
          <a:bodyPr>
            <a:normAutofit/>
          </a:bodyPr>
          <a:lstStyle/>
          <a:p>
            <a:pPr algn="l"/>
            <a:r>
              <a:rPr lang="zh-CN" altLang="en-US" sz="2800" b="1" dirty="0">
                <a:latin typeface="宋体" pitchFamily="2" charset="-122"/>
                <a:ea typeface="宋体" pitchFamily="2" charset="-122"/>
              </a:rPr>
              <a:t>风险管理的流程</a:t>
            </a:r>
          </a:p>
        </p:txBody>
      </p:sp>
      <p:sp>
        <p:nvSpPr>
          <p:cNvPr id="5" name="矩形 4"/>
          <p:cNvSpPr/>
          <p:nvPr/>
        </p:nvSpPr>
        <p:spPr>
          <a:xfrm>
            <a:off x="0" y="410716"/>
            <a:ext cx="395536"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华文细黑" pitchFamily="2" charset="-122"/>
            </a:endParaRPr>
          </a:p>
        </p:txBody>
      </p:sp>
      <p:sp>
        <p:nvSpPr>
          <p:cNvPr id="4" name="内容占位符 3">
            <a:extLst>
              <a:ext uri="{FF2B5EF4-FFF2-40B4-BE49-F238E27FC236}">
                <a16:creationId xmlns:a16="http://schemas.microsoft.com/office/drawing/2014/main" id="{ACBC80C4-24A8-4168-86D7-2335586ABD5D}"/>
              </a:ext>
            </a:extLst>
          </p:cNvPr>
          <p:cNvSpPr>
            <a:spLocks noGrp="1"/>
          </p:cNvSpPr>
          <p:nvPr>
            <p:ph idx="1"/>
          </p:nvPr>
        </p:nvSpPr>
        <p:spPr>
          <a:xfrm>
            <a:off x="457200" y="1130796"/>
            <a:ext cx="8229600" cy="3393425"/>
          </a:xfrm>
        </p:spPr>
        <p:txBody>
          <a:bodyPr/>
          <a:lstStyle/>
          <a:p>
            <a:r>
              <a:rPr lang="zh-CN" altLang="en-US" dirty="0"/>
              <a:t>风险管理的流程包括风险识别、风险计量和风险管理等环节。</a:t>
            </a:r>
            <a:endParaRPr lang="en-US" altLang="zh-CN" dirty="0"/>
          </a:p>
          <a:p>
            <a:r>
              <a:rPr lang="zh-CN" altLang="en-US" dirty="0"/>
              <a:t>风险识别是指对经济主体面临的各种潜在的风险因素进行认识、鉴别和分析。</a:t>
            </a:r>
            <a:endParaRPr lang="en-US" altLang="zh-CN" dirty="0"/>
          </a:p>
          <a:p>
            <a:r>
              <a:rPr lang="zh-CN" altLang="en-US" dirty="0"/>
              <a:t>风险计量主要是指采用数量模型对风险进行计算和度量。</a:t>
            </a: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A63634-567F-41F3-9982-5B9ADB43017D}"/>
              </a:ext>
            </a:extLst>
          </p:cNvPr>
          <p:cNvSpPr>
            <a:spLocks noGrp="1"/>
          </p:cNvSpPr>
          <p:nvPr>
            <p:ph type="title"/>
          </p:nvPr>
        </p:nvSpPr>
        <p:spPr/>
        <p:txBody>
          <a:bodyPr/>
          <a:lstStyle/>
          <a:p>
            <a:pPr algn="l"/>
            <a:r>
              <a:rPr lang="zh-CN" altLang="en-US" dirty="0"/>
              <a:t>风险管理方法</a:t>
            </a:r>
          </a:p>
        </p:txBody>
      </p:sp>
      <p:sp>
        <p:nvSpPr>
          <p:cNvPr id="3" name="内容占位符 2">
            <a:extLst>
              <a:ext uri="{FF2B5EF4-FFF2-40B4-BE49-F238E27FC236}">
                <a16:creationId xmlns:a16="http://schemas.microsoft.com/office/drawing/2014/main" id="{4533713C-DC53-4083-8342-A22BCB9DCB75}"/>
              </a:ext>
            </a:extLst>
          </p:cNvPr>
          <p:cNvSpPr>
            <a:spLocks noGrp="1"/>
          </p:cNvSpPr>
          <p:nvPr>
            <p:ph idx="1"/>
          </p:nvPr>
        </p:nvSpPr>
        <p:spPr/>
        <p:txBody>
          <a:bodyPr/>
          <a:lstStyle/>
          <a:p>
            <a:r>
              <a:rPr lang="zh-CN" altLang="en-US" dirty="0"/>
              <a:t>风险管理方法有如下几种：风险规避、风险分散、风险转移、风险对冲和风险补偿。</a:t>
            </a:r>
            <a:endParaRPr lang="en-US" altLang="zh-CN" dirty="0"/>
          </a:p>
          <a:p>
            <a:r>
              <a:rPr lang="zh-CN" altLang="en-US" dirty="0"/>
              <a:t>风险分散是通过多样化投资来分散和降低风险的方法。</a:t>
            </a:r>
          </a:p>
        </p:txBody>
      </p:sp>
    </p:spTree>
    <p:extLst>
      <p:ext uri="{BB962C8B-B14F-4D97-AF65-F5344CB8AC3E}">
        <p14:creationId xmlns:p14="http://schemas.microsoft.com/office/powerpoint/2010/main" val="217834606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B9EF850-E19E-492C-9AEB-D47AB954444C}"/>
              </a:ext>
            </a:extLst>
          </p:cNvPr>
          <p:cNvSpPr>
            <a:spLocks noGrp="1"/>
          </p:cNvSpPr>
          <p:nvPr>
            <p:ph idx="1"/>
          </p:nvPr>
        </p:nvSpPr>
        <p:spPr>
          <a:xfrm>
            <a:off x="457200" y="410716"/>
            <a:ext cx="8229600" cy="4182489"/>
          </a:xfrm>
        </p:spPr>
        <p:txBody>
          <a:bodyPr/>
          <a:lstStyle/>
          <a:p>
            <a:r>
              <a:rPr lang="zh-CN" altLang="en-US" b="1" dirty="0"/>
              <a:t>风险对冲</a:t>
            </a:r>
            <a:r>
              <a:rPr lang="zh-CN" altLang="en-US" dirty="0"/>
              <a:t>是指通过投资或购买与管理标的资产收益波动负相关或完全负相关的某种资产或衍生金融产品，来冲销风险所带来的损失的一种风险管理策略。</a:t>
            </a:r>
            <a:endParaRPr lang="en-US" altLang="zh-CN" dirty="0"/>
          </a:p>
          <a:p>
            <a:pPr>
              <a:buFont typeface="Wingdings" panose="05000000000000000000" pitchFamily="2" charset="2"/>
              <a:buChar char="ü"/>
            </a:pPr>
            <a:r>
              <a:rPr lang="zh-CN" altLang="en-US" dirty="0"/>
              <a:t>自我对冲</a:t>
            </a:r>
            <a:endParaRPr lang="en-US" altLang="zh-CN" dirty="0"/>
          </a:p>
          <a:p>
            <a:pPr>
              <a:buFont typeface="Wingdings" panose="05000000000000000000" pitchFamily="2" charset="2"/>
              <a:buChar char="ü"/>
            </a:pPr>
            <a:r>
              <a:rPr lang="zh-CN" altLang="en-US" dirty="0"/>
              <a:t>市场对冲</a:t>
            </a:r>
          </a:p>
        </p:txBody>
      </p:sp>
    </p:spTree>
    <p:extLst>
      <p:ext uri="{BB962C8B-B14F-4D97-AF65-F5344CB8AC3E}">
        <p14:creationId xmlns:p14="http://schemas.microsoft.com/office/powerpoint/2010/main" val="352449302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06FDE23-6C50-44FF-8138-7FA484DDBD39}"/>
              </a:ext>
            </a:extLst>
          </p:cNvPr>
          <p:cNvSpPr>
            <a:spLocks noGrp="1"/>
          </p:cNvSpPr>
          <p:nvPr>
            <p:ph idx="1"/>
          </p:nvPr>
        </p:nvSpPr>
        <p:spPr>
          <a:xfrm>
            <a:off x="323528" y="266700"/>
            <a:ext cx="8280920" cy="4536504"/>
          </a:xfrm>
        </p:spPr>
        <p:txBody>
          <a:bodyPr/>
          <a:lstStyle/>
          <a:p>
            <a:r>
              <a:rPr lang="zh-CN" altLang="en-US" sz="2400" b="1" dirty="0"/>
              <a:t>风险转移</a:t>
            </a:r>
            <a:r>
              <a:rPr lang="zh-CN" altLang="en-US" sz="2400" dirty="0"/>
              <a:t>是指通过购买某种金融产品或采取其他合法的经济措施，将风险转移给其他经济主体承担的一种风险管理方法。</a:t>
            </a:r>
            <a:endParaRPr lang="en-US" altLang="zh-CN" sz="2400" dirty="0"/>
          </a:p>
          <a:p>
            <a:endParaRPr lang="en-US" altLang="zh-CN" sz="2400" dirty="0"/>
          </a:p>
          <a:p>
            <a:r>
              <a:rPr lang="zh-CN" altLang="en-US" sz="2400" b="1" dirty="0"/>
              <a:t>风险规避</a:t>
            </a:r>
            <a:r>
              <a:rPr lang="zh-CN" altLang="en-US" sz="2400" dirty="0"/>
              <a:t>是指商业银行通过拒绝或退出某一业务或市场，来消除本机构对该业务或市场的风险暴露，简单说就是不做业务不承担风险。</a:t>
            </a:r>
            <a:endParaRPr lang="en-US" altLang="zh-CN" sz="2400" dirty="0"/>
          </a:p>
          <a:p>
            <a:endParaRPr lang="en-US" altLang="zh-CN" sz="2400" dirty="0"/>
          </a:p>
          <a:p>
            <a:r>
              <a:rPr lang="zh-CN" altLang="en-US" sz="2400" b="1" dirty="0"/>
              <a:t>风险补偿</a:t>
            </a:r>
            <a:r>
              <a:rPr lang="zh-CN" altLang="en-US" sz="2400" dirty="0"/>
              <a:t>是指事前（损失发生以前）对所承担的风险进行价格补偿，而将事后以抵押、担保或保险等形式获取的实物或资金补偿的归于风险转移策略。</a:t>
            </a:r>
          </a:p>
        </p:txBody>
      </p:sp>
    </p:spTree>
    <p:extLst>
      <p:ext uri="{BB962C8B-B14F-4D97-AF65-F5344CB8AC3E}">
        <p14:creationId xmlns:p14="http://schemas.microsoft.com/office/powerpoint/2010/main" val="3791094278"/>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4043803" y="1181686"/>
            <a:ext cx="1056394" cy="1389270"/>
            <a:chOff x="3995936" y="1676400"/>
            <a:chExt cx="1056394" cy="1389270"/>
          </a:xfrm>
        </p:grpSpPr>
        <p:grpSp>
          <p:nvGrpSpPr>
            <p:cNvPr id="22" name="组合 21"/>
            <p:cNvGrpSpPr/>
            <p:nvPr/>
          </p:nvGrpSpPr>
          <p:grpSpPr>
            <a:xfrm>
              <a:off x="3995936" y="1676400"/>
              <a:ext cx="1056394" cy="1389270"/>
              <a:chOff x="1078816" y="964066"/>
              <a:chExt cx="2222812" cy="2923236"/>
            </a:xfrm>
          </p:grpSpPr>
          <p:sp>
            <p:nvSpPr>
              <p:cNvPr id="24" name="Freeform 7"/>
              <p:cNvSpPr/>
              <p:nvPr/>
            </p:nvSpPr>
            <p:spPr bwMode="auto">
              <a:xfrm>
                <a:off x="1078816" y="2540257"/>
                <a:ext cx="696716" cy="1019561"/>
              </a:xfrm>
              <a:custGeom>
                <a:avLst/>
                <a:gdLst>
                  <a:gd name="T0" fmla="*/ 94 w 375"/>
                  <a:gd name="T1" fmla="*/ 0 h 549"/>
                  <a:gd name="T2" fmla="*/ 11 w 375"/>
                  <a:gd name="T3" fmla="*/ 12 h 549"/>
                  <a:gd name="T4" fmla="*/ 0 w 375"/>
                  <a:gd name="T5" fmla="*/ 127 h 549"/>
                  <a:gd name="T6" fmla="*/ 174 w 375"/>
                  <a:gd name="T7" fmla="*/ 549 h 549"/>
                  <a:gd name="T8" fmla="*/ 375 w 375"/>
                  <a:gd name="T9" fmla="*/ 280 h 549"/>
                  <a:gd name="T10" fmla="*/ 94 w 375"/>
                  <a:gd name="T11" fmla="*/ 0 h 549"/>
                </a:gdLst>
                <a:ahLst/>
                <a:cxnLst>
                  <a:cxn ang="0">
                    <a:pos x="T0" y="T1"/>
                  </a:cxn>
                  <a:cxn ang="0">
                    <a:pos x="T2" y="T3"/>
                  </a:cxn>
                  <a:cxn ang="0">
                    <a:pos x="T4" y="T5"/>
                  </a:cxn>
                  <a:cxn ang="0">
                    <a:pos x="T6" y="T7"/>
                  </a:cxn>
                  <a:cxn ang="0">
                    <a:pos x="T8" y="T9"/>
                  </a:cxn>
                  <a:cxn ang="0">
                    <a:pos x="T10" y="T11"/>
                  </a:cxn>
                </a:cxnLst>
                <a:rect l="0" t="0" r="r" b="b"/>
                <a:pathLst>
                  <a:path w="375" h="549">
                    <a:moveTo>
                      <a:pt x="94" y="0"/>
                    </a:moveTo>
                    <a:cubicBezTo>
                      <a:pt x="65" y="0"/>
                      <a:pt x="37" y="4"/>
                      <a:pt x="11" y="12"/>
                    </a:cubicBezTo>
                    <a:cubicBezTo>
                      <a:pt x="3" y="49"/>
                      <a:pt x="0" y="87"/>
                      <a:pt x="0" y="127"/>
                    </a:cubicBezTo>
                    <a:cubicBezTo>
                      <a:pt x="0" y="291"/>
                      <a:pt x="66" y="441"/>
                      <a:pt x="174" y="549"/>
                    </a:cubicBezTo>
                    <a:cubicBezTo>
                      <a:pt x="290" y="514"/>
                      <a:pt x="375" y="407"/>
                      <a:pt x="375" y="280"/>
                    </a:cubicBezTo>
                    <a:cubicBezTo>
                      <a:pt x="375" y="125"/>
                      <a:pt x="249" y="0"/>
                      <a:pt x="94" y="0"/>
                    </a:cubicBezTo>
                    <a:close/>
                  </a:path>
                </a:pathLst>
              </a:cu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5" name="Freeform 8"/>
              <p:cNvSpPr/>
              <p:nvPr/>
            </p:nvSpPr>
            <p:spPr bwMode="auto">
              <a:xfrm>
                <a:off x="1088093" y="2231327"/>
                <a:ext cx="600234" cy="615077"/>
              </a:xfrm>
              <a:custGeom>
                <a:avLst/>
                <a:gdLst>
                  <a:gd name="T0" fmla="*/ 158 w 323"/>
                  <a:gd name="T1" fmla="*/ 0 h 331"/>
                  <a:gd name="T2" fmla="*/ 51 w 323"/>
                  <a:gd name="T3" fmla="*/ 38 h 331"/>
                  <a:gd name="T4" fmla="*/ 0 w 323"/>
                  <a:gd name="T5" fmla="*/ 216 h 331"/>
                  <a:gd name="T6" fmla="*/ 158 w 323"/>
                  <a:gd name="T7" fmla="*/ 331 h 331"/>
                  <a:gd name="T8" fmla="*/ 323 w 323"/>
                  <a:gd name="T9" fmla="*/ 166 h 331"/>
                  <a:gd name="T10" fmla="*/ 158 w 323"/>
                  <a:gd name="T11" fmla="*/ 0 h 331"/>
                </a:gdLst>
                <a:ahLst/>
                <a:cxnLst>
                  <a:cxn ang="0">
                    <a:pos x="T0" y="T1"/>
                  </a:cxn>
                  <a:cxn ang="0">
                    <a:pos x="T2" y="T3"/>
                  </a:cxn>
                  <a:cxn ang="0">
                    <a:pos x="T4" y="T5"/>
                  </a:cxn>
                  <a:cxn ang="0">
                    <a:pos x="T6" y="T7"/>
                  </a:cxn>
                  <a:cxn ang="0">
                    <a:pos x="T8" y="T9"/>
                  </a:cxn>
                  <a:cxn ang="0">
                    <a:pos x="T10" y="T11"/>
                  </a:cxn>
                </a:cxnLst>
                <a:rect l="0" t="0" r="r" b="b"/>
                <a:pathLst>
                  <a:path w="323" h="331">
                    <a:moveTo>
                      <a:pt x="158" y="0"/>
                    </a:moveTo>
                    <a:cubicBezTo>
                      <a:pt x="117" y="0"/>
                      <a:pt x="80" y="14"/>
                      <a:pt x="51" y="38"/>
                    </a:cubicBezTo>
                    <a:cubicBezTo>
                      <a:pt x="25" y="94"/>
                      <a:pt x="8" y="153"/>
                      <a:pt x="0" y="216"/>
                    </a:cubicBezTo>
                    <a:cubicBezTo>
                      <a:pt x="21" y="283"/>
                      <a:pt x="84" y="331"/>
                      <a:pt x="158" y="331"/>
                    </a:cubicBezTo>
                    <a:cubicBezTo>
                      <a:pt x="249" y="331"/>
                      <a:pt x="323" y="257"/>
                      <a:pt x="323" y="166"/>
                    </a:cubicBezTo>
                    <a:cubicBezTo>
                      <a:pt x="323" y="74"/>
                      <a:pt x="249" y="0"/>
                      <a:pt x="158" y="0"/>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6" name="Oval 9"/>
              <p:cNvSpPr>
                <a:spLocks noChangeArrowheads="1"/>
              </p:cNvSpPr>
              <p:nvPr/>
            </p:nvSpPr>
            <p:spPr bwMode="auto">
              <a:xfrm>
                <a:off x="1530616" y="2179723"/>
                <a:ext cx="506964" cy="507925"/>
              </a:xfrm>
              <a:prstGeom prst="ellipse">
                <a:avLst/>
              </a:prstGeom>
              <a:solidFill>
                <a:schemeClr val="accent5">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7" name="Oval 10"/>
              <p:cNvSpPr>
                <a:spLocks noChangeArrowheads="1"/>
              </p:cNvSpPr>
              <p:nvPr/>
            </p:nvSpPr>
            <p:spPr bwMode="auto">
              <a:xfrm>
                <a:off x="2050137" y="1993832"/>
                <a:ext cx="576113" cy="574257"/>
              </a:xfrm>
              <a:prstGeom prst="ellipse">
                <a:avLst/>
              </a:pr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8" name="Oval 11"/>
              <p:cNvSpPr>
                <a:spLocks noChangeArrowheads="1"/>
              </p:cNvSpPr>
              <p:nvPr/>
            </p:nvSpPr>
            <p:spPr bwMode="auto">
              <a:xfrm>
                <a:off x="1688327" y="1950229"/>
                <a:ext cx="413762" cy="412834"/>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9" name="Oval 12"/>
              <p:cNvSpPr>
                <a:spLocks noChangeArrowheads="1"/>
              </p:cNvSpPr>
              <p:nvPr/>
            </p:nvSpPr>
            <p:spPr bwMode="auto">
              <a:xfrm>
                <a:off x="1955510" y="1555021"/>
                <a:ext cx="256050" cy="256050"/>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0" name="Oval 13"/>
              <p:cNvSpPr>
                <a:spLocks noChangeArrowheads="1"/>
              </p:cNvSpPr>
              <p:nvPr/>
            </p:nvSpPr>
            <p:spPr bwMode="auto">
              <a:xfrm>
                <a:off x="2389682" y="1158887"/>
                <a:ext cx="86278" cy="87205"/>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1" name="Oval 14"/>
              <p:cNvSpPr>
                <a:spLocks noChangeArrowheads="1"/>
              </p:cNvSpPr>
              <p:nvPr/>
            </p:nvSpPr>
            <p:spPr bwMode="auto">
              <a:xfrm>
                <a:off x="1532470" y="1755408"/>
                <a:ext cx="85350" cy="85350"/>
              </a:xfrm>
              <a:prstGeom prst="ellipse">
                <a:avLst/>
              </a:pr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2" name="Oval 15"/>
              <p:cNvSpPr>
                <a:spLocks noChangeArrowheads="1"/>
              </p:cNvSpPr>
              <p:nvPr/>
            </p:nvSpPr>
            <p:spPr bwMode="auto">
              <a:xfrm>
                <a:off x="2068691" y="1905698"/>
                <a:ext cx="87205" cy="88133"/>
              </a:xfrm>
              <a:prstGeom prst="ellipse">
                <a:avLst/>
              </a:prstGeom>
              <a:solidFill>
                <a:schemeClr val="accent1">
                  <a:alpha val="8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3" name="Freeform 16"/>
              <p:cNvSpPr/>
              <p:nvPr/>
            </p:nvSpPr>
            <p:spPr bwMode="auto">
              <a:xfrm>
                <a:off x="1673483" y="1653359"/>
                <a:ext cx="376653" cy="377581"/>
              </a:xfrm>
              <a:custGeom>
                <a:avLst/>
                <a:gdLst>
                  <a:gd name="T0" fmla="*/ 201 w 203"/>
                  <a:gd name="T1" fmla="*/ 98 h 203"/>
                  <a:gd name="T2" fmla="*/ 105 w 203"/>
                  <a:gd name="T3" fmla="*/ 201 h 203"/>
                  <a:gd name="T4" fmla="*/ 1 w 203"/>
                  <a:gd name="T5" fmla="*/ 105 h 203"/>
                  <a:gd name="T6" fmla="*/ 98 w 203"/>
                  <a:gd name="T7" fmla="*/ 1 h 203"/>
                  <a:gd name="T8" fmla="*/ 201 w 203"/>
                  <a:gd name="T9" fmla="*/ 98 h 203"/>
                </a:gdLst>
                <a:ahLst/>
                <a:cxnLst>
                  <a:cxn ang="0">
                    <a:pos x="T0" y="T1"/>
                  </a:cxn>
                  <a:cxn ang="0">
                    <a:pos x="T2" y="T3"/>
                  </a:cxn>
                  <a:cxn ang="0">
                    <a:pos x="T4" y="T5"/>
                  </a:cxn>
                  <a:cxn ang="0">
                    <a:pos x="T6" y="T7"/>
                  </a:cxn>
                  <a:cxn ang="0">
                    <a:pos x="T8" y="T9"/>
                  </a:cxn>
                </a:cxnLst>
                <a:rect l="0" t="0" r="r" b="b"/>
                <a:pathLst>
                  <a:path w="203" h="203">
                    <a:moveTo>
                      <a:pt x="201" y="98"/>
                    </a:moveTo>
                    <a:cubicBezTo>
                      <a:pt x="203" y="153"/>
                      <a:pt x="160" y="200"/>
                      <a:pt x="105" y="201"/>
                    </a:cubicBezTo>
                    <a:cubicBezTo>
                      <a:pt x="49" y="203"/>
                      <a:pt x="3" y="160"/>
                      <a:pt x="1" y="105"/>
                    </a:cubicBezTo>
                    <a:cubicBezTo>
                      <a:pt x="0" y="49"/>
                      <a:pt x="43" y="3"/>
                      <a:pt x="98" y="1"/>
                    </a:cubicBezTo>
                    <a:cubicBezTo>
                      <a:pt x="153" y="0"/>
                      <a:pt x="200" y="43"/>
                      <a:pt x="201" y="98"/>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4" name="Oval 17"/>
              <p:cNvSpPr>
                <a:spLocks noChangeArrowheads="1"/>
              </p:cNvSpPr>
              <p:nvPr/>
            </p:nvSpPr>
            <p:spPr bwMode="auto">
              <a:xfrm>
                <a:off x="1504639" y="1901988"/>
                <a:ext cx="141013" cy="143796"/>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5" name="Oval 18"/>
              <p:cNvSpPr>
                <a:spLocks noChangeArrowheads="1"/>
              </p:cNvSpPr>
              <p:nvPr/>
            </p:nvSpPr>
            <p:spPr bwMode="auto">
              <a:xfrm>
                <a:off x="2167029" y="964066"/>
                <a:ext cx="142869" cy="142868"/>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6" name="Oval 19"/>
              <p:cNvSpPr>
                <a:spLocks noChangeArrowheads="1"/>
              </p:cNvSpPr>
              <p:nvPr/>
            </p:nvSpPr>
            <p:spPr bwMode="auto">
              <a:xfrm>
                <a:off x="2276500" y="1307321"/>
                <a:ext cx="312641" cy="312641"/>
              </a:xfrm>
              <a:prstGeom prst="ellipse">
                <a:avLst/>
              </a:pr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7" name="Oval 20"/>
              <p:cNvSpPr>
                <a:spLocks noChangeArrowheads="1"/>
              </p:cNvSpPr>
              <p:nvPr/>
            </p:nvSpPr>
            <p:spPr bwMode="auto">
              <a:xfrm>
                <a:off x="2276500" y="1816638"/>
                <a:ext cx="312641" cy="314496"/>
              </a:xfrm>
              <a:prstGeom prst="ellipse">
                <a:avLst/>
              </a:pr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8" name="Oval 21"/>
              <p:cNvSpPr>
                <a:spLocks noChangeArrowheads="1"/>
              </p:cNvSpPr>
              <p:nvPr/>
            </p:nvSpPr>
            <p:spPr bwMode="auto">
              <a:xfrm>
                <a:off x="2754274" y="1514202"/>
                <a:ext cx="141013" cy="141013"/>
              </a:xfrm>
              <a:prstGeom prst="ellipse">
                <a:avLst/>
              </a:pr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9" name="Freeform 22"/>
              <p:cNvSpPr/>
              <p:nvPr/>
            </p:nvSpPr>
            <p:spPr bwMode="auto">
              <a:xfrm>
                <a:off x="2947240" y="2064338"/>
                <a:ext cx="348822" cy="600233"/>
              </a:xfrm>
              <a:custGeom>
                <a:avLst/>
                <a:gdLst>
                  <a:gd name="T0" fmla="*/ 0 w 188"/>
                  <a:gd name="T1" fmla="*/ 132 h 323"/>
                  <a:gd name="T2" fmla="*/ 188 w 188"/>
                  <a:gd name="T3" fmla="*/ 323 h 323"/>
                  <a:gd name="T4" fmla="*/ 53 w 188"/>
                  <a:gd name="T5" fmla="*/ 0 h 323"/>
                  <a:gd name="T6" fmla="*/ 0 w 188"/>
                  <a:gd name="T7" fmla="*/ 132 h 323"/>
                </a:gdLst>
                <a:ahLst/>
                <a:cxnLst>
                  <a:cxn ang="0">
                    <a:pos x="T0" y="T1"/>
                  </a:cxn>
                  <a:cxn ang="0">
                    <a:pos x="T2" y="T3"/>
                  </a:cxn>
                  <a:cxn ang="0">
                    <a:pos x="T4" y="T5"/>
                  </a:cxn>
                  <a:cxn ang="0">
                    <a:pos x="T6" y="T7"/>
                  </a:cxn>
                </a:cxnLst>
                <a:rect l="0" t="0" r="r" b="b"/>
                <a:pathLst>
                  <a:path w="188" h="323">
                    <a:moveTo>
                      <a:pt x="0" y="132"/>
                    </a:moveTo>
                    <a:cubicBezTo>
                      <a:pt x="0" y="237"/>
                      <a:pt x="84" y="321"/>
                      <a:pt x="188" y="323"/>
                    </a:cubicBezTo>
                    <a:cubicBezTo>
                      <a:pt x="176" y="201"/>
                      <a:pt x="127" y="89"/>
                      <a:pt x="53" y="0"/>
                    </a:cubicBezTo>
                    <a:cubicBezTo>
                      <a:pt x="20" y="34"/>
                      <a:pt x="0" y="81"/>
                      <a:pt x="0" y="132"/>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0" name="Freeform 23"/>
              <p:cNvSpPr/>
              <p:nvPr/>
            </p:nvSpPr>
            <p:spPr bwMode="auto">
              <a:xfrm>
                <a:off x="2563165" y="2261014"/>
                <a:ext cx="738463" cy="894319"/>
              </a:xfrm>
              <a:custGeom>
                <a:avLst/>
                <a:gdLst>
                  <a:gd name="T0" fmla="*/ 0 w 398"/>
                  <a:gd name="T1" fmla="*/ 241 h 481"/>
                  <a:gd name="T2" fmla="*/ 241 w 398"/>
                  <a:gd name="T3" fmla="*/ 481 h 481"/>
                  <a:gd name="T4" fmla="*/ 375 w 398"/>
                  <a:gd name="T5" fmla="*/ 440 h 481"/>
                  <a:gd name="T6" fmla="*/ 398 w 398"/>
                  <a:gd name="T7" fmla="*/ 277 h 481"/>
                  <a:gd name="T8" fmla="*/ 342 w 398"/>
                  <a:gd name="T9" fmla="*/ 22 h 481"/>
                  <a:gd name="T10" fmla="*/ 241 w 398"/>
                  <a:gd name="T11" fmla="*/ 0 h 481"/>
                  <a:gd name="T12" fmla="*/ 0 w 398"/>
                  <a:gd name="T13" fmla="*/ 241 h 481"/>
                </a:gdLst>
                <a:ahLst/>
                <a:cxnLst>
                  <a:cxn ang="0">
                    <a:pos x="T0" y="T1"/>
                  </a:cxn>
                  <a:cxn ang="0">
                    <a:pos x="T2" y="T3"/>
                  </a:cxn>
                  <a:cxn ang="0">
                    <a:pos x="T4" y="T5"/>
                  </a:cxn>
                  <a:cxn ang="0">
                    <a:pos x="T6" y="T7"/>
                  </a:cxn>
                  <a:cxn ang="0">
                    <a:pos x="T8" y="T9"/>
                  </a:cxn>
                  <a:cxn ang="0">
                    <a:pos x="T10" y="T11"/>
                  </a:cxn>
                  <a:cxn ang="0">
                    <a:pos x="T12" y="T13"/>
                  </a:cxn>
                </a:cxnLst>
                <a:rect l="0" t="0" r="r" b="b"/>
                <a:pathLst>
                  <a:path w="398" h="481">
                    <a:moveTo>
                      <a:pt x="0" y="241"/>
                    </a:moveTo>
                    <a:cubicBezTo>
                      <a:pt x="0" y="374"/>
                      <a:pt x="108" y="481"/>
                      <a:pt x="241" y="481"/>
                    </a:cubicBezTo>
                    <a:cubicBezTo>
                      <a:pt x="291" y="481"/>
                      <a:pt x="337" y="466"/>
                      <a:pt x="375" y="440"/>
                    </a:cubicBezTo>
                    <a:cubicBezTo>
                      <a:pt x="390" y="388"/>
                      <a:pt x="398" y="333"/>
                      <a:pt x="398" y="277"/>
                    </a:cubicBezTo>
                    <a:cubicBezTo>
                      <a:pt x="398" y="186"/>
                      <a:pt x="378" y="100"/>
                      <a:pt x="342" y="22"/>
                    </a:cubicBezTo>
                    <a:cubicBezTo>
                      <a:pt x="311" y="8"/>
                      <a:pt x="277" y="0"/>
                      <a:pt x="241" y="0"/>
                    </a:cubicBezTo>
                    <a:cubicBezTo>
                      <a:pt x="108" y="0"/>
                      <a:pt x="0" y="108"/>
                      <a:pt x="0" y="241"/>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1" name="Freeform 24"/>
              <p:cNvSpPr/>
              <p:nvPr/>
            </p:nvSpPr>
            <p:spPr bwMode="auto">
              <a:xfrm>
                <a:off x="2574297" y="2261014"/>
                <a:ext cx="415618" cy="355316"/>
              </a:xfrm>
              <a:custGeom>
                <a:avLst/>
                <a:gdLst>
                  <a:gd name="T0" fmla="*/ 0 w 224"/>
                  <a:gd name="T1" fmla="*/ 188 h 191"/>
                  <a:gd name="T2" fmla="*/ 33 w 224"/>
                  <a:gd name="T3" fmla="*/ 191 h 191"/>
                  <a:gd name="T4" fmla="*/ 224 w 224"/>
                  <a:gd name="T5" fmla="*/ 0 h 191"/>
                  <a:gd name="T6" fmla="*/ 0 w 224"/>
                  <a:gd name="T7" fmla="*/ 188 h 191"/>
                </a:gdLst>
                <a:ahLst/>
                <a:cxnLst>
                  <a:cxn ang="0">
                    <a:pos x="T0" y="T1"/>
                  </a:cxn>
                  <a:cxn ang="0">
                    <a:pos x="T2" y="T3"/>
                  </a:cxn>
                  <a:cxn ang="0">
                    <a:pos x="T4" y="T5"/>
                  </a:cxn>
                  <a:cxn ang="0">
                    <a:pos x="T6" y="T7"/>
                  </a:cxn>
                </a:cxnLst>
                <a:rect l="0" t="0" r="r" b="b"/>
                <a:pathLst>
                  <a:path w="224" h="191">
                    <a:moveTo>
                      <a:pt x="0" y="188"/>
                    </a:moveTo>
                    <a:cubicBezTo>
                      <a:pt x="11" y="190"/>
                      <a:pt x="22" y="191"/>
                      <a:pt x="33" y="191"/>
                    </a:cubicBezTo>
                    <a:cubicBezTo>
                      <a:pt x="138" y="191"/>
                      <a:pt x="224" y="106"/>
                      <a:pt x="224" y="0"/>
                    </a:cubicBezTo>
                    <a:cubicBezTo>
                      <a:pt x="114" y="5"/>
                      <a:pt x="23" y="84"/>
                      <a:pt x="0" y="188"/>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2" name="Freeform 25"/>
              <p:cNvSpPr/>
              <p:nvPr/>
            </p:nvSpPr>
            <p:spPr bwMode="auto">
              <a:xfrm>
                <a:off x="2840364" y="3083913"/>
                <a:ext cx="420165" cy="581208"/>
              </a:xfrm>
              <a:custGeom>
                <a:avLst/>
                <a:gdLst>
                  <a:gd name="T0" fmla="*/ 224 w 224"/>
                  <a:gd name="T1" fmla="*/ 0 h 310"/>
                  <a:gd name="T2" fmla="*/ 0 w 224"/>
                  <a:gd name="T3" fmla="*/ 240 h 310"/>
                  <a:gd name="T4" fmla="*/ 11 w 224"/>
                  <a:gd name="T5" fmla="*/ 310 h 310"/>
                  <a:gd name="T6" fmla="*/ 224 w 224"/>
                  <a:gd name="T7" fmla="*/ 0 h 310"/>
                </a:gdLst>
                <a:ahLst/>
                <a:cxnLst>
                  <a:cxn ang="0">
                    <a:pos x="T0" y="T1"/>
                  </a:cxn>
                  <a:cxn ang="0">
                    <a:pos x="T2" y="T3"/>
                  </a:cxn>
                  <a:cxn ang="0">
                    <a:pos x="T4" y="T5"/>
                  </a:cxn>
                  <a:cxn ang="0">
                    <a:pos x="T6" y="T7"/>
                  </a:cxn>
                </a:cxnLst>
                <a:rect l="0" t="0" r="r" b="b"/>
                <a:pathLst>
                  <a:path w="224" h="310">
                    <a:moveTo>
                      <a:pt x="224" y="0"/>
                    </a:moveTo>
                    <a:cubicBezTo>
                      <a:pt x="99" y="9"/>
                      <a:pt x="0" y="113"/>
                      <a:pt x="0" y="240"/>
                    </a:cubicBezTo>
                    <a:cubicBezTo>
                      <a:pt x="0" y="265"/>
                      <a:pt x="4" y="288"/>
                      <a:pt x="11" y="310"/>
                    </a:cubicBezTo>
                    <a:cubicBezTo>
                      <a:pt x="112" y="233"/>
                      <a:pt x="187" y="125"/>
                      <a:pt x="224" y="0"/>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3" name="Freeform 26"/>
              <p:cNvSpPr/>
              <p:nvPr/>
            </p:nvSpPr>
            <p:spPr bwMode="auto">
              <a:xfrm>
                <a:off x="1104792" y="3017103"/>
                <a:ext cx="615077" cy="753306"/>
              </a:xfrm>
              <a:custGeom>
                <a:avLst/>
                <a:gdLst>
                  <a:gd name="T0" fmla="*/ 22 w 331"/>
                  <a:gd name="T1" fmla="*/ 0 h 405"/>
                  <a:gd name="T2" fmla="*/ 0 w 331"/>
                  <a:gd name="T3" fmla="*/ 0 h 405"/>
                  <a:gd name="T4" fmla="*/ 316 w 331"/>
                  <a:gd name="T5" fmla="*/ 405 h 405"/>
                  <a:gd name="T6" fmla="*/ 331 w 331"/>
                  <a:gd name="T7" fmla="*/ 309 h 405"/>
                  <a:gd name="T8" fmla="*/ 22 w 331"/>
                  <a:gd name="T9" fmla="*/ 0 h 405"/>
                </a:gdLst>
                <a:ahLst/>
                <a:cxnLst>
                  <a:cxn ang="0">
                    <a:pos x="T0" y="T1"/>
                  </a:cxn>
                  <a:cxn ang="0">
                    <a:pos x="T2" y="T3"/>
                  </a:cxn>
                  <a:cxn ang="0">
                    <a:pos x="T4" y="T5"/>
                  </a:cxn>
                  <a:cxn ang="0">
                    <a:pos x="T6" y="T7"/>
                  </a:cxn>
                  <a:cxn ang="0">
                    <a:pos x="T8" y="T9"/>
                  </a:cxn>
                </a:cxnLst>
                <a:rect l="0" t="0" r="r" b="b"/>
                <a:pathLst>
                  <a:path w="331" h="405">
                    <a:moveTo>
                      <a:pt x="22" y="0"/>
                    </a:moveTo>
                    <a:cubicBezTo>
                      <a:pt x="14" y="0"/>
                      <a:pt x="7" y="0"/>
                      <a:pt x="0" y="0"/>
                    </a:cubicBezTo>
                    <a:cubicBezTo>
                      <a:pt x="40" y="178"/>
                      <a:pt x="158" y="325"/>
                      <a:pt x="316" y="405"/>
                    </a:cubicBezTo>
                    <a:cubicBezTo>
                      <a:pt x="326" y="375"/>
                      <a:pt x="331" y="343"/>
                      <a:pt x="331" y="309"/>
                    </a:cubicBezTo>
                    <a:cubicBezTo>
                      <a:pt x="331" y="138"/>
                      <a:pt x="193" y="0"/>
                      <a:pt x="22" y="0"/>
                    </a:cubicBezTo>
                    <a:close/>
                  </a:path>
                </a:pathLst>
              </a:cu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4" name="Freeform 27"/>
              <p:cNvSpPr/>
              <p:nvPr/>
            </p:nvSpPr>
            <p:spPr bwMode="auto">
              <a:xfrm>
                <a:off x="1406301" y="2974428"/>
                <a:ext cx="1229226" cy="912874"/>
              </a:xfrm>
              <a:custGeom>
                <a:avLst/>
                <a:gdLst>
                  <a:gd name="T0" fmla="*/ 331 w 662"/>
                  <a:gd name="T1" fmla="*/ 0 h 491"/>
                  <a:gd name="T2" fmla="*/ 0 w 662"/>
                  <a:gd name="T3" fmla="*/ 317 h 491"/>
                  <a:gd name="T4" fmla="*/ 422 w 662"/>
                  <a:gd name="T5" fmla="*/ 491 h 491"/>
                  <a:gd name="T6" fmla="*/ 639 w 662"/>
                  <a:gd name="T7" fmla="*/ 451 h 491"/>
                  <a:gd name="T8" fmla="*/ 662 w 662"/>
                  <a:gd name="T9" fmla="*/ 331 h 491"/>
                  <a:gd name="T10" fmla="*/ 331 w 662"/>
                  <a:gd name="T11" fmla="*/ 0 h 491"/>
                </a:gdLst>
                <a:ahLst/>
                <a:cxnLst>
                  <a:cxn ang="0">
                    <a:pos x="T0" y="T1"/>
                  </a:cxn>
                  <a:cxn ang="0">
                    <a:pos x="T2" y="T3"/>
                  </a:cxn>
                  <a:cxn ang="0">
                    <a:pos x="T4" y="T5"/>
                  </a:cxn>
                  <a:cxn ang="0">
                    <a:pos x="T6" y="T7"/>
                  </a:cxn>
                  <a:cxn ang="0">
                    <a:pos x="T8" y="T9"/>
                  </a:cxn>
                  <a:cxn ang="0">
                    <a:pos x="T10" y="T11"/>
                  </a:cxn>
                </a:cxnLst>
                <a:rect l="0" t="0" r="r" b="b"/>
                <a:pathLst>
                  <a:path w="662" h="491">
                    <a:moveTo>
                      <a:pt x="331" y="0"/>
                    </a:moveTo>
                    <a:cubicBezTo>
                      <a:pt x="153" y="0"/>
                      <a:pt x="7" y="141"/>
                      <a:pt x="0" y="317"/>
                    </a:cubicBezTo>
                    <a:cubicBezTo>
                      <a:pt x="108" y="425"/>
                      <a:pt x="258" y="491"/>
                      <a:pt x="422" y="491"/>
                    </a:cubicBezTo>
                    <a:cubicBezTo>
                      <a:pt x="499" y="491"/>
                      <a:pt x="572" y="477"/>
                      <a:pt x="639" y="451"/>
                    </a:cubicBezTo>
                    <a:cubicBezTo>
                      <a:pt x="654" y="414"/>
                      <a:pt x="662" y="373"/>
                      <a:pt x="662" y="331"/>
                    </a:cubicBezTo>
                    <a:cubicBezTo>
                      <a:pt x="662" y="148"/>
                      <a:pt x="514" y="0"/>
                      <a:pt x="331" y="0"/>
                    </a:cubicBezTo>
                    <a:close/>
                  </a:path>
                </a:pathLst>
              </a:cu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5" name="Freeform 28"/>
              <p:cNvSpPr/>
              <p:nvPr/>
            </p:nvSpPr>
            <p:spPr bwMode="auto">
              <a:xfrm>
                <a:off x="2335874" y="2933609"/>
                <a:ext cx="874838" cy="872054"/>
              </a:xfrm>
              <a:custGeom>
                <a:avLst/>
                <a:gdLst>
                  <a:gd name="T0" fmla="*/ 471 w 471"/>
                  <a:gd name="T1" fmla="*/ 153 h 469"/>
                  <a:gd name="T2" fmla="*/ 244 w 471"/>
                  <a:gd name="T3" fmla="*/ 0 h 469"/>
                  <a:gd name="T4" fmla="*/ 0 w 471"/>
                  <a:gd name="T5" fmla="*/ 244 h 469"/>
                  <a:gd name="T6" fmla="*/ 149 w 471"/>
                  <a:gd name="T7" fmla="*/ 469 h 469"/>
                  <a:gd name="T8" fmla="*/ 471 w 471"/>
                  <a:gd name="T9" fmla="*/ 153 h 469"/>
                </a:gdLst>
                <a:ahLst/>
                <a:cxnLst>
                  <a:cxn ang="0">
                    <a:pos x="T0" y="T1"/>
                  </a:cxn>
                  <a:cxn ang="0">
                    <a:pos x="T2" y="T3"/>
                  </a:cxn>
                  <a:cxn ang="0">
                    <a:pos x="T4" y="T5"/>
                  </a:cxn>
                  <a:cxn ang="0">
                    <a:pos x="T6" y="T7"/>
                  </a:cxn>
                  <a:cxn ang="0">
                    <a:pos x="T8" y="T9"/>
                  </a:cxn>
                </a:cxnLst>
                <a:rect l="0" t="0" r="r" b="b"/>
                <a:pathLst>
                  <a:path w="471" h="469">
                    <a:moveTo>
                      <a:pt x="471" y="153"/>
                    </a:moveTo>
                    <a:cubicBezTo>
                      <a:pt x="435" y="63"/>
                      <a:pt x="347" y="0"/>
                      <a:pt x="244" y="0"/>
                    </a:cubicBezTo>
                    <a:cubicBezTo>
                      <a:pt x="109" y="0"/>
                      <a:pt x="0" y="109"/>
                      <a:pt x="0" y="244"/>
                    </a:cubicBezTo>
                    <a:cubicBezTo>
                      <a:pt x="0" y="345"/>
                      <a:pt x="61" y="432"/>
                      <a:pt x="149" y="469"/>
                    </a:cubicBezTo>
                    <a:cubicBezTo>
                      <a:pt x="293" y="410"/>
                      <a:pt x="409" y="296"/>
                      <a:pt x="471" y="153"/>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6" name="Oval 30"/>
              <p:cNvSpPr>
                <a:spLocks noChangeArrowheads="1"/>
              </p:cNvSpPr>
              <p:nvPr/>
            </p:nvSpPr>
            <p:spPr bwMode="auto">
              <a:xfrm>
                <a:off x="2540899" y="1675625"/>
                <a:ext cx="493546" cy="496329"/>
              </a:xfrm>
              <a:prstGeom prst="ellipse">
                <a:avLst/>
              </a:prstGeom>
              <a:solidFill>
                <a:schemeClr val="accent2">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7" name="Oval 11"/>
              <p:cNvSpPr>
                <a:spLocks noChangeArrowheads="1"/>
              </p:cNvSpPr>
              <p:nvPr/>
            </p:nvSpPr>
            <p:spPr bwMode="auto">
              <a:xfrm>
                <a:off x="1833627" y="2696302"/>
                <a:ext cx="557332" cy="556080"/>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8" name="Oval 11"/>
              <p:cNvSpPr>
                <a:spLocks noChangeArrowheads="1"/>
              </p:cNvSpPr>
              <p:nvPr/>
            </p:nvSpPr>
            <p:spPr bwMode="auto">
              <a:xfrm>
                <a:off x="2226489" y="2491874"/>
                <a:ext cx="249471" cy="248912"/>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grpSp>
        <p:sp>
          <p:nvSpPr>
            <p:cNvPr id="23" name="椭圆 22"/>
            <p:cNvSpPr/>
            <p:nvPr/>
          </p:nvSpPr>
          <p:spPr>
            <a:xfrm>
              <a:off x="4251572" y="2232063"/>
              <a:ext cx="553478" cy="553476"/>
            </a:xfrm>
            <a:prstGeom prst="ellipse">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9900"/>
                </a:solidFill>
                <a:effectLst/>
                <a:uLnTx/>
                <a:uFillTx/>
                <a:latin typeface="华文细黑" pitchFamily="2" charset="-122"/>
                <a:ea typeface="华文细黑" pitchFamily="2" charset="-122"/>
                <a:cs typeface="+mn-cs"/>
              </a:endParaRPr>
            </a:p>
          </p:txBody>
        </p:sp>
      </p:grpSp>
      <p:sp>
        <p:nvSpPr>
          <p:cNvPr id="2" name="矩形 1"/>
          <p:cNvSpPr/>
          <p:nvPr/>
        </p:nvSpPr>
        <p:spPr>
          <a:xfrm>
            <a:off x="704749" y="2844284"/>
            <a:ext cx="7701873" cy="646331"/>
          </a:xfrm>
          <a:prstGeom prst="rect">
            <a:avLst/>
          </a:prstGeom>
        </p:spPr>
        <p:txBody>
          <a:bodyPr wrap="square">
            <a:spAutoFit/>
          </a:bodyPr>
          <a:lstStyle/>
          <a:p>
            <a:pPr lvl="0" algn="ctr"/>
            <a:r>
              <a:rPr lang="zh-CN" altLang="en-US" sz="3600" b="1" dirty="0">
                <a:solidFill>
                  <a:srgbClr val="009900"/>
                </a:solidFill>
                <a:latin typeface="宋体" pitchFamily="2" charset="-122"/>
                <a:ea typeface="宋体" pitchFamily="2" charset="-122"/>
              </a:rPr>
              <a:t>风险管理方法的演变</a:t>
            </a:r>
          </a:p>
        </p:txBody>
      </p:sp>
      <p:sp>
        <p:nvSpPr>
          <p:cNvPr id="3" name="文本框 2"/>
          <p:cNvSpPr txBox="1"/>
          <p:nvPr/>
        </p:nvSpPr>
        <p:spPr>
          <a:xfrm>
            <a:off x="4324698" y="1824850"/>
            <a:ext cx="6599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9900"/>
                </a:solidFill>
                <a:effectLst/>
                <a:uLnTx/>
                <a:uFillTx/>
                <a:latin typeface="Times New Roman" pitchFamily="18" charset="0"/>
                <a:ea typeface="华文细黑"/>
                <a:cs typeface="Times New Roman" pitchFamily="18" charset="0"/>
              </a:rPr>
              <a:t>1.4</a:t>
            </a:r>
            <a:endParaRPr kumimoji="0" lang="zh-CN" altLang="en-US" sz="1800" b="0" i="0" u="none" strike="noStrike" kern="1200" cap="none" spc="0" normalizeH="0" baseline="0" noProof="0" dirty="0">
              <a:ln>
                <a:noFill/>
              </a:ln>
              <a:solidFill>
                <a:srgbClr val="009900"/>
              </a:solidFill>
              <a:effectLst/>
              <a:uLnTx/>
              <a:uFillTx/>
              <a:latin typeface="Times New Roman" pitchFamily="18" charset="0"/>
              <a:ea typeface="华文细黑"/>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274812"/>
            <a:ext cx="8229600" cy="3312368"/>
          </a:xfrm>
        </p:spPr>
        <p:txBody>
          <a:bodyPr>
            <a:normAutofit/>
          </a:bodyPr>
          <a:lstStyle/>
          <a:p>
            <a:pPr algn="l"/>
            <a:r>
              <a:rPr lang="zh-CN" altLang="en-US" sz="2800" b="1" dirty="0">
                <a:latin typeface="宋体" pitchFamily="2" charset="-122"/>
                <a:ea typeface="宋体" pitchFamily="2" charset="-122"/>
              </a:rPr>
              <a:t>（一）传统风险管理阶段</a:t>
            </a:r>
            <a:br>
              <a:rPr lang="en-US" altLang="zh-CN" sz="2800" b="1" dirty="0">
                <a:latin typeface="宋体" pitchFamily="2" charset="-122"/>
                <a:ea typeface="宋体" pitchFamily="2" charset="-122"/>
              </a:rPr>
            </a:br>
            <a:br>
              <a:rPr lang="en-US" altLang="zh-CN" sz="2800" b="1" dirty="0">
                <a:latin typeface="宋体" pitchFamily="2" charset="-122"/>
                <a:ea typeface="宋体" pitchFamily="2" charset="-122"/>
              </a:rPr>
            </a:br>
            <a:r>
              <a:rPr lang="zh-CN" altLang="en-US" sz="2800" b="1" dirty="0">
                <a:latin typeface="宋体" pitchFamily="2" charset="-122"/>
                <a:ea typeface="宋体" pitchFamily="2" charset="-122"/>
              </a:rPr>
              <a:t>（二）现代风险管理阶段</a:t>
            </a:r>
            <a:br>
              <a:rPr lang="en-US" altLang="zh-CN" sz="2800" b="1" dirty="0">
                <a:latin typeface="宋体" pitchFamily="2" charset="-122"/>
                <a:ea typeface="宋体" pitchFamily="2" charset="-122"/>
              </a:rPr>
            </a:br>
            <a:br>
              <a:rPr lang="en-US" altLang="zh-CN" sz="2800" b="1" dirty="0">
                <a:latin typeface="宋体" pitchFamily="2" charset="-122"/>
                <a:ea typeface="宋体" pitchFamily="2" charset="-122"/>
              </a:rPr>
            </a:br>
            <a:r>
              <a:rPr lang="zh-CN" altLang="en-US" sz="2800" b="1" dirty="0">
                <a:latin typeface="宋体" pitchFamily="2" charset="-122"/>
                <a:ea typeface="宋体" pitchFamily="2" charset="-122"/>
              </a:rPr>
              <a:t>（三）全面风险管理阶段</a:t>
            </a:r>
          </a:p>
        </p:txBody>
      </p:sp>
      <p:sp>
        <p:nvSpPr>
          <p:cNvPr id="5" name="矩形 4"/>
          <p:cNvSpPr/>
          <p:nvPr/>
        </p:nvSpPr>
        <p:spPr>
          <a:xfrm>
            <a:off x="0" y="410716"/>
            <a:ext cx="395536"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华文细黑"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4043803" y="1181686"/>
            <a:ext cx="1056394" cy="1389270"/>
            <a:chOff x="3995936" y="1676400"/>
            <a:chExt cx="1056394" cy="1389270"/>
          </a:xfrm>
        </p:grpSpPr>
        <p:grpSp>
          <p:nvGrpSpPr>
            <p:cNvPr id="22" name="组合 21"/>
            <p:cNvGrpSpPr/>
            <p:nvPr/>
          </p:nvGrpSpPr>
          <p:grpSpPr>
            <a:xfrm>
              <a:off x="3995936" y="1676400"/>
              <a:ext cx="1056394" cy="1389270"/>
              <a:chOff x="1078816" y="964066"/>
              <a:chExt cx="2222812" cy="2923236"/>
            </a:xfrm>
          </p:grpSpPr>
          <p:sp>
            <p:nvSpPr>
              <p:cNvPr id="24" name="Freeform 7"/>
              <p:cNvSpPr/>
              <p:nvPr/>
            </p:nvSpPr>
            <p:spPr bwMode="auto">
              <a:xfrm>
                <a:off x="1078816" y="2540257"/>
                <a:ext cx="696716" cy="1019561"/>
              </a:xfrm>
              <a:custGeom>
                <a:avLst/>
                <a:gdLst>
                  <a:gd name="T0" fmla="*/ 94 w 375"/>
                  <a:gd name="T1" fmla="*/ 0 h 549"/>
                  <a:gd name="T2" fmla="*/ 11 w 375"/>
                  <a:gd name="T3" fmla="*/ 12 h 549"/>
                  <a:gd name="T4" fmla="*/ 0 w 375"/>
                  <a:gd name="T5" fmla="*/ 127 h 549"/>
                  <a:gd name="T6" fmla="*/ 174 w 375"/>
                  <a:gd name="T7" fmla="*/ 549 h 549"/>
                  <a:gd name="T8" fmla="*/ 375 w 375"/>
                  <a:gd name="T9" fmla="*/ 280 h 549"/>
                  <a:gd name="T10" fmla="*/ 94 w 375"/>
                  <a:gd name="T11" fmla="*/ 0 h 549"/>
                </a:gdLst>
                <a:ahLst/>
                <a:cxnLst>
                  <a:cxn ang="0">
                    <a:pos x="T0" y="T1"/>
                  </a:cxn>
                  <a:cxn ang="0">
                    <a:pos x="T2" y="T3"/>
                  </a:cxn>
                  <a:cxn ang="0">
                    <a:pos x="T4" y="T5"/>
                  </a:cxn>
                  <a:cxn ang="0">
                    <a:pos x="T6" y="T7"/>
                  </a:cxn>
                  <a:cxn ang="0">
                    <a:pos x="T8" y="T9"/>
                  </a:cxn>
                  <a:cxn ang="0">
                    <a:pos x="T10" y="T11"/>
                  </a:cxn>
                </a:cxnLst>
                <a:rect l="0" t="0" r="r" b="b"/>
                <a:pathLst>
                  <a:path w="375" h="549">
                    <a:moveTo>
                      <a:pt x="94" y="0"/>
                    </a:moveTo>
                    <a:cubicBezTo>
                      <a:pt x="65" y="0"/>
                      <a:pt x="37" y="4"/>
                      <a:pt x="11" y="12"/>
                    </a:cubicBezTo>
                    <a:cubicBezTo>
                      <a:pt x="3" y="49"/>
                      <a:pt x="0" y="87"/>
                      <a:pt x="0" y="127"/>
                    </a:cubicBezTo>
                    <a:cubicBezTo>
                      <a:pt x="0" y="291"/>
                      <a:pt x="66" y="441"/>
                      <a:pt x="174" y="549"/>
                    </a:cubicBezTo>
                    <a:cubicBezTo>
                      <a:pt x="290" y="514"/>
                      <a:pt x="375" y="407"/>
                      <a:pt x="375" y="280"/>
                    </a:cubicBezTo>
                    <a:cubicBezTo>
                      <a:pt x="375" y="125"/>
                      <a:pt x="249" y="0"/>
                      <a:pt x="94" y="0"/>
                    </a:cubicBezTo>
                    <a:close/>
                  </a:path>
                </a:pathLst>
              </a:cu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5" name="Freeform 8"/>
              <p:cNvSpPr/>
              <p:nvPr/>
            </p:nvSpPr>
            <p:spPr bwMode="auto">
              <a:xfrm>
                <a:off x="1088093" y="2231327"/>
                <a:ext cx="600234" cy="615077"/>
              </a:xfrm>
              <a:custGeom>
                <a:avLst/>
                <a:gdLst>
                  <a:gd name="T0" fmla="*/ 158 w 323"/>
                  <a:gd name="T1" fmla="*/ 0 h 331"/>
                  <a:gd name="T2" fmla="*/ 51 w 323"/>
                  <a:gd name="T3" fmla="*/ 38 h 331"/>
                  <a:gd name="T4" fmla="*/ 0 w 323"/>
                  <a:gd name="T5" fmla="*/ 216 h 331"/>
                  <a:gd name="T6" fmla="*/ 158 w 323"/>
                  <a:gd name="T7" fmla="*/ 331 h 331"/>
                  <a:gd name="T8" fmla="*/ 323 w 323"/>
                  <a:gd name="T9" fmla="*/ 166 h 331"/>
                  <a:gd name="T10" fmla="*/ 158 w 323"/>
                  <a:gd name="T11" fmla="*/ 0 h 331"/>
                </a:gdLst>
                <a:ahLst/>
                <a:cxnLst>
                  <a:cxn ang="0">
                    <a:pos x="T0" y="T1"/>
                  </a:cxn>
                  <a:cxn ang="0">
                    <a:pos x="T2" y="T3"/>
                  </a:cxn>
                  <a:cxn ang="0">
                    <a:pos x="T4" y="T5"/>
                  </a:cxn>
                  <a:cxn ang="0">
                    <a:pos x="T6" y="T7"/>
                  </a:cxn>
                  <a:cxn ang="0">
                    <a:pos x="T8" y="T9"/>
                  </a:cxn>
                  <a:cxn ang="0">
                    <a:pos x="T10" y="T11"/>
                  </a:cxn>
                </a:cxnLst>
                <a:rect l="0" t="0" r="r" b="b"/>
                <a:pathLst>
                  <a:path w="323" h="331">
                    <a:moveTo>
                      <a:pt x="158" y="0"/>
                    </a:moveTo>
                    <a:cubicBezTo>
                      <a:pt x="117" y="0"/>
                      <a:pt x="80" y="14"/>
                      <a:pt x="51" y="38"/>
                    </a:cubicBezTo>
                    <a:cubicBezTo>
                      <a:pt x="25" y="94"/>
                      <a:pt x="8" y="153"/>
                      <a:pt x="0" y="216"/>
                    </a:cubicBezTo>
                    <a:cubicBezTo>
                      <a:pt x="21" y="283"/>
                      <a:pt x="84" y="331"/>
                      <a:pt x="158" y="331"/>
                    </a:cubicBezTo>
                    <a:cubicBezTo>
                      <a:pt x="249" y="331"/>
                      <a:pt x="323" y="257"/>
                      <a:pt x="323" y="166"/>
                    </a:cubicBezTo>
                    <a:cubicBezTo>
                      <a:pt x="323" y="74"/>
                      <a:pt x="249" y="0"/>
                      <a:pt x="158" y="0"/>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6" name="Oval 9"/>
              <p:cNvSpPr>
                <a:spLocks noChangeArrowheads="1"/>
              </p:cNvSpPr>
              <p:nvPr/>
            </p:nvSpPr>
            <p:spPr bwMode="auto">
              <a:xfrm>
                <a:off x="1530616" y="2179723"/>
                <a:ext cx="506964" cy="507925"/>
              </a:xfrm>
              <a:prstGeom prst="ellipse">
                <a:avLst/>
              </a:prstGeom>
              <a:solidFill>
                <a:schemeClr val="accent5">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7" name="Oval 10"/>
              <p:cNvSpPr>
                <a:spLocks noChangeArrowheads="1"/>
              </p:cNvSpPr>
              <p:nvPr/>
            </p:nvSpPr>
            <p:spPr bwMode="auto">
              <a:xfrm>
                <a:off x="2050137" y="1993832"/>
                <a:ext cx="576113" cy="574257"/>
              </a:xfrm>
              <a:prstGeom prst="ellipse">
                <a:avLst/>
              </a:pr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8" name="Oval 11"/>
              <p:cNvSpPr>
                <a:spLocks noChangeArrowheads="1"/>
              </p:cNvSpPr>
              <p:nvPr/>
            </p:nvSpPr>
            <p:spPr bwMode="auto">
              <a:xfrm>
                <a:off x="1688327" y="1950229"/>
                <a:ext cx="413762" cy="412834"/>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9" name="Oval 12"/>
              <p:cNvSpPr>
                <a:spLocks noChangeArrowheads="1"/>
              </p:cNvSpPr>
              <p:nvPr/>
            </p:nvSpPr>
            <p:spPr bwMode="auto">
              <a:xfrm>
                <a:off x="1955510" y="1555021"/>
                <a:ext cx="256050" cy="256050"/>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0" name="Oval 13"/>
              <p:cNvSpPr>
                <a:spLocks noChangeArrowheads="1"/>
              </p:cNvSpPr>
              <p:nvPr/>
            </p:nvSpPr>
            <p:spPr bwMode="auto">
              <a:xfrm>
                <a:off x="2389682" y="1158887"/>
                <a:ext cx="86278" cy="87205"/>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1" name="Oval 14"/>
              <p:cNvSpPr>
                <a:spLocks noChangeArrowheads="1"/>
              </p:cNvSpPr>
              <p:nvPr/>
            </p:nvSpPr>
            <p:spPr bwMode="auto">
              <a:xfrm>
                <a:off x="1532470" y="1755408"/>
                <a:ext cx="85350" cy="85350"/>
              </a:xfrm>
              <a:prstGeom prst="ellipse">
                <a:avLst/>
              </a:pr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2" name="Oval 15"/>
              <p:cNvSpPr>
                <a:spLocks noChangeArrowheads="1"/>
              </p:cNvSpPr>
              <p:nvPr/>
            </p:nvSpPr>
            <p:spPr bwMode="auto">
              <a:xfrm>
                <a:off x="2068691" y="1905698"/>
                <a:ext cx="87205" cy="88133"/>
              </a:xfrm>
              <a:prstGeom prst="ellipse">
                <a:avLst/>
              </a:prstGeom>
              <a:solidFill>
                <a:schemeClr val="accent1">
                  <a:alpha val="8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3" name="Freeform 16"/>
              <p:cNvSpPr/>
              <p:nvPr/>
            </p:nvSpPr>
            <p:spPr bwMode="auto">
              <a:xfrm>
                <a:off x="1673483" y="1653359"/>
                <a:ext cx="376653" cy="377581"/>
              </a:xfrm>
              <a:custGeom>
                <a:avLst/>
                <a:gdLst>
                  <a:gd name="T0" fmla="*/ 201 w 203"/>
                  <a:gd name="T1" fmla="*/ 98 h 203"/>
                  <a:gd name="T2" fmla="*/ 105 w 203"/>
                  <a:gd name="T3" fmla="*/ 201 h 203"/>
                  <a:gd name="T4" fmla="*/ 1 w 203"/>
                  <a:gd name="T5" fmla="*/ 105 h 203"/>
                  <a:gd name="T6" fmla="*/ 98 w 203"/>
                  <a:gd name="T7" fmla="*/ 1 h 203"/>
                  <a:gd name="T8" fmla="*/ 201 w 203"/>
                  <a:gd name="T9" fmla="*/ 98 h 203"/>
                </a:gdLst>
                <a:ahLst/>
                <a:cxnLst>
                  <a:cxn ang="0">
                    <a:pos x="T0" y="T1"/>
                  </a:cxn>
                  <a:cxn ang="0">
                    <a:pos x="T2" y="T3"/>
                  </a:cxn>
                  <a:cxn ang="0">
                    <a:pos x="T4" y="T5"/>
                  </a:cxn>
                  <a:cxn ang="0">
                    <a:pos x="T6" y="T7"/>
                  </a:cxn>
                  <a:cxn ang="0">
                    <a:pos x="T8" y="T9"/>
                  </a:cxn>
                </a:cxnLst>
                <a:rect l="0" t="0" r="r" b="b"/>
                <a:pathLst>
                  <a:path w="203" h="203">
                    <a:moveTo>
                      <a:pt x="201" y="98"/>
                    </a:moveTo>
                    <a:cubicBezTo>
                      <a:pt x="203" y="153"/>
                      <a:pt x="160" y="200"/>
                      <a:pt x="105" y="201"/>
                    </a:cubicBezTo>
                    <a:cubicBezTo>
                      <a:pt x="49" y="203"/>
                      <a:pt x="3" y="160"/>
                      <a:pt x="1" y="105"/>
                    </a:cubicBezTo>
                    <a:cubicBezTo>
                      <a:pt x="0" y="49"/>
                      <a:pt x="43" y="3"/>
                      <a:pt x="98" y="1"/>
                    </a:cubicBezTo>
                    <a:cubicBezTo>
                      <a:pt x="153" y="0"/>
                      <a:pt x="200" y="43"/>
                      <a:pt x="201" y="98"/>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4" name="Oval 17"/>
              <p:cNvSpPr>
                <a:spLocks noChangeArrowheads="1"/>
              </p:cNvSpPr>
              <p:nvPr/>
            </p:nvSpPr>
            <p:spPr bwMode="auto">
              <a:xfrm>
                <a:off x="1504639" y="1901988"/>
                <a:ext cx="141013" cy="143796"/>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5" name="Oval 18"/>
              <p:cNvSpPr>
                <a:spLocks noChangeArrowheads="1"/>
              </p:cNvSpPr>
              <p:nvPr/>
            </p:nvSpPr>
            <p:spPr bwMode="auto">
              <a:xfrm>
                <a:off x="2167029" y="964066"/>
                <a:ext cx="142869" cy="142868"/>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6" name="Oval 19"/>
              <p:cNvSpPr>
                <a:spLocks noChangeArrowheads="1"/>
              </p:cNvSpPr>
              <p:nvPr/>
            </p:nvSpPr>
            <p:spPr bwMode="auto">
              <a:xfrm>
                <a:off x="2276500" y="1307321"/>
                <a:ext cx="312641" cy="312641"/>
              </a:xfrm>
              <a:prstGeom prst="ellipse">
                <a:avLst/>
              </a:pr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7" name="Oval 20"/>
              <p:cNvSpPr>
                <a:spLocks noChangeArrowheads="1"/>
              </p:cNvSpPr>
              <p:nvPr/>
            </p:nvSpPr>
            <p:spPr bwMode="auto">
              <a:xfrm>
                <a:off x="2276500" y="1816638"/>
                <a:ext cx="312641" cy="314496"/>
              </a:xfrm>
              <a:prstGeom prst="ellipse">
                <a:avLst/>
              </a:pr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8" name="Oval 21"/>
              <p:cNvSpPr>
                <a:spLocks noChangeArrowheads="1"/>
              </p:cNvSpPr>
              <p:nvPr/>
            </p:nvSpPr>
            <p:spPr bwMode="auto">
              <a:xfrm>
                <a:off x="2754274" y="1514202"/>
                <a:ext cx="141013" cy="141013"/>
              </a:xfrm>
              <a:prstGeom prst="ellipse">
                <a:avLst/>
              </a:pr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9" name="Freeform 22"/>
              <p:cNvSpPr/>
              <p:nvPr/>
            </p:nvSpPr>
            <p:spPr bwMode="auto">
              <a:xfrm>
                <a:off x="2947240" y="2064338"/>
                <a:ext cx="348822" cy="600233"/>
              </a:xfrm>
              <a:custGeom>
                <a:avLst/>
                <a:gdLst>
                  <a:gd name="T0" fmla="*/ 0 w 188"/>
                  <a:gd name="T1" fmla="*/ 132 h 323"/>
                  <a:gd name="T2" fmla="*/ 188 w 188"/>
                  <a:gd name="T3" fmla="*/ 323 h 323"/>
                  <a:gd name="T4" fmla="*/ 53 w 188"/>
                  <a:gd name="T5" fmla="*/ 0 h 323"/>
                  <a:gd name="T6" fmla="*/ 0 w 188"/>
                  <a:gd name="T7" fmla="*/ 132 h 323"/>
                </a:gdLst>
                <a:ahLst/>
                <a:cxnLst>
                  <a:cxn ang="0">
                    <a:pos x="T0" y="T1"/>
                  </a:cxn>
                  <a:cxn ang="0">
                    <a:pos x="T2" y="T3"/>
                  </a:cxn>
                  <a:cxn ang="0">
                    <a:pos x="T4" y="T5"/>
                  </a:cxn>
                  <a:cxn ang="0">
                    <a:pos x="T6" y="T7"/>
                  </a:cxn>
                </a:cxnLst>
                <a:rect l="0" t="0" r="r" b="b"/>
                <a:pathLst>
                  <a:path w="188" h="323">
                    <a:moveTo>
                      <a:pt x="0" y="132"/>
                    </a:moveTo>
                    <a:cubicBezTo>
                      <a:pt x="0" y="237"/>
                      <a:pt x="84" y="321"/>
                      <a:pt x="188" y="323"/>
                    </a:cubicBezTo>
                    <a:cubicBezTo>
                      <a:pt x="176" y="201"/>
                      <a:pt x="127" y="89"/>
                      <a:pt x="53" y="0"/>
                    </a:cubicBezTo>
                    <a:cubicBezTo>
                      <a:pt x="20" y="34"/>
                      <a:pt x="0" y="81"/>
                      <a:pt x="0" y="132"/>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0" name="Freeform 23"/>
              <p:cNvSpPr/>
              <p:nvPr/>
            </p:nvSpPr>
            <p:spPr bwMode="auto">
              <a:xfrm>
                <a:off x="2563165" y="2261014"/>
                <a:ext cx="738463" cy="894319"/>
              </a:xfrm>
              <a:custGeom>
                <a:avLst/>
                <a:gdLst>
                  <a:gd name="T0" fmla="*/ 0 w 398"/>
                  <a:gd name="T1" fmla="*/ 241 h 481"/>
                  <a:gd name="T2" fmla="*/ 241 w 398"/>
                  <a:gd name="T3" fmla="*/ 481 h 481"/>
                  <a:gd name="T4" fmla="*/ 375 w 398"/>
                  <a:gd name="T5" fmla="*/ 440 h 481"/>
                  <a:gd name="T6" fmla="*/ 398 w 398"/>
                  <a:gd name="T7" fmla="*/ 277 h 481"/>
                  <a:gd name="T8" fmla="*/ 342 w 398"/>
                  <a:gd name="T9" fmla="*/ 22 h 481"/>
                  <a:gd name="T10" fmla="*/ 241 w 398"/>
                  <a:gd name="T11" fmla="*/ 0 h 481"/>
                  <a:gd name="T12" fmla="*/ 0 w 398"/>
                  <a:gd name="T13" fmla="*/ 241 h 481"/>
                </a:gdLst>
                <a:ahLst/>
                <a:cxnLst>
                  <a:cxn ang="0">
                    <a:pos x="T0" y="T1"/>
                  </a:cxn>
                  <a:cxn ang="0">
                    <a:pos x="T2" y="T3"/>
                  </a:cxn>
                  <a:cxn ang="0">
                    <a:pos x="T4" y="T5"/>
                  </a:cxn>
                  <a:cxn ang="0">
                    <a:pos x="T6" y="T7"/>
                  </a:cxn>
                  <a:cxn ang="0">
                    <a:pos x="T8" y="T9"/>
                  </a:cxn>
                  <a:cxn ang="0">
                    <a:pos x="T10" y="T11"/>
                  </a:cxn>
                  <a:cxn ang="0">
                    <a:pos x="T12" y="T13"/>
                  </a:cxn>
                </a:cxnLst>
                <a:rect l="0" t="0" r="r" b="b"/>
                <a:pathLst>
                  <a:path w="398" h="481">
                    <a:moveTo>
                      <a:pt x="0" y="241"/>
                    </a:moveTo>
                    <a:cubicBezTo>
                      <a:pt x="0" y="374"/>
                      <a:pt x="108" y="481"/>
                      <a:pt x="241" y="481"/>
                    </a:cubicBezTo>
                    <a:cubicBezTo>
                      <a:pt x="291" y="481"/>
                      <a:pt x="337" y="466"/>
                      <a:pt x="375" y="440"/>
                    </a:cubicBezTo>
                    <a:cubicBezTo>
                      <a:pt x="390" y="388"/>
                      <a:pt x="398" y="333"/>
                      <a:pt x="398" y="277"/>
                    </a:cubicBezTo>
                    <a:cubicBezTo>
                      <a:pt x="398" y="186"/>
                      <a:pt x="378" y="100"/>
                      <a:pt x="342" y="22"/>
                    </a:cubicBezTo>
                    <a:cubicBezTo>
                      <a:pt x="311" y="8"/>
                      <a:pt x="277" y="0"/>
                      <a:pt x="241" y="0"/>
                    </a:cubicBezTo>
                    <a:cubicBezTo>
                      <a:pt x="108" y="0"/>
                      <a:pt x="0" y="108"/>
                      <a:pt x="0" y="241"/>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1" name="Freeform 24"/>
              <p:cNvSpPr/>
              <p:nvPr/>
            </p:nvSpPr>
            <p:spPr bwMode="auto">
              <a:xfrm>
                <a:off x="2574297" y="2261014"/>
                <a:ext cx="415618" cy="355316"/>
              </a:xfrm>
              <a:custGeom>
                <a:avLst/>
                <a:gdLst>
                  <a:gd name="T0" fmla="*/ 0 w 224"/>
                  <a:gd name="T1" fmla="*/ 188 h 191"/>
                  <a:gd name="T2" fmla="*/ 33 w 224"/>
                  <a:gd name="T3" fmla="*/ 191 h 191"/>
                  <a:gd name="T4" fmla="*/ 224 w 224"/>
                  <a:gd name="T5" fmla="*/ 0 h 191"/>
                  <a:gd name="T6" fmla="*/ 0 w 224"/>
                  <a:gd name="T7" fmla="*/ 188 h 191"/>
                </a:gdLst>
                <a:ahLst/>
                <a:cxnLst>
                  <a:cxn ang="0">
                    <a:pos x="T0" y="T1"/>
                  </a:cxn>
                  <a:cxn ang="0">
                    <a:pos x="T2" y="T3"/>
                  </a:cxn>
                  <a:cxn ang="0">
                    <a:pos x="T4" y="T5"/>
                  </a:cxn>
                  <a:cxn ang="0">
                    <a:pos x="T6" y="T7"/>
                  </a:cxn>
                </a:cxnLst>
                <a:rect l="0" t="0" r="r" b="b"/>
                <a:pathLst>
                  <a:path w="224" h="191">
                    <a:moveTo>
                      <a:pt x="0" y="188"/>
                    </a:moveTo>
                    <a:cubicBezTo>
                      <a:pt x="11" y="190"/>
                      <a:pt x="22" y="191"/>
                      <a:pt x="33" y="191"/>
                    </a:cubicBezTo>
                    <a:cubicBezTo>
                      <a:pt x="138" y="191"/>
                      <a:pt x="224" y="106"/>
                      <a:pt x="224" y="0"/>
                    </a:cubicBezTo>
                    <a:cubicBezTo>
                      <a:pt x="114" y="5"/>
                      <a:pt x="23" y="84"/>
                      <a:pt x="0" y="188"/>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2" name="Freeform 25"/>
              <p:cNvSpPr/>
              <p:nvPr/>
            </p:nvSpPr>
            <p:spPr bwMode="auto">
              <a:xfrm>
                <a:off x="2840364" y="3083913"/>
                <a:ext cx="420165" cy="581208"/>
              </a:xfrm>
              <a:custGeom>
                <a:avLst/>
                <a:gdLst>
                  <a:gd name="T0" fmla="*/ 224 w 224"/>
                  <a:gd name="T1" fmla="*/ 0 h 310"/>
                  <a:gd name="T2" fmla="*/ 0 w 224"/>
                  <a:gd name="T3" fmla="*/ 240 h 310"/>
                  <a:gd name="T4" fmla="*/ 11 w 224"/>
                  <a:gd name="T5" fmla="*/ 310 h 310"/>
                  <a:gd name="T6" fmla="*/ 224 w 224"/>
                  <a:gd name="T7" fmla="*/ 0 h 310"/>
                </a:gdLst>
                <a:ahLst/>
                <a:cxnLst>
                  <a:cxn ang="0">
                    <a:pos x="T0" y="T1"/>
                  </a:cxn>
                  <a:cxn ang="0">
                    <a:pos x="T2" y="T3"/>
                  </a:cxn>
                  <a:cxn ang="0">
                    <a:pos x="T4" y="T5"/>
                  </a:cxn>
                  <a:cxn ang="0">
                    <a:pos x="T6" y="T7"/>
                  </a:cxn>
                </a:cxnLst>
                <a:rect l="0" t="0" r="r" b="b"/>
                <a:pathLst>
                  <a:path w="224" h="310">
                    <a:moveTo>
                      <a:pt x="224" y="0"/>
                    </a:moveTo>
                    <a:cubicBezTo>
                      <a:pt x="99" y="9"/>
                      <a:pt x="0" y="113"/>
                      <a:pt x="0" y="240"/>
                    </a:cubicBezTo>
                    <a:cubicBezTo>
                      <a:pt x="0" y="265"/>
                      <a:pt x="4" y="288"/>
                      <a:pt x="11" y="310"/>
                    </a:cubicBezTo>
                    <a:cubicBezTo>
                      <a:pt x="112" y="233"/>
                      <a:pt x="187" y="125"/>
                      <a:pt x="224" y="0"/>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3" name="Freeform 26"/>
              <p:cNvSpPr/>
              <p:nvPr/>
            </p:nvSpPr>
            <p:spPr bwMode="auto">
              <a:xfrm>
                <a:off x="1104792" y="3017103"/>
                <a:ext cx="615077" cy="753306"/>
              </a:xfrm>
              <a:custGeom>
                <a:avLst/>
                <a:gdLst>
                  <a:gd name="T0" fmla="*/ 22 w 331"/>
                  <a:gd name="T1" fmla="*/ 0 h 405"/>
                  <a:gd name="T2" fmla="*/ 0 w 331"/>
                  <a:gd name="T3" fmla="*/ 0 h 405"/>
                  <a:gd name="T4" fmla="*/ 316 w 331"/>
                  <a:gd name="T5" fmla="*/ 405 h 405"/>
                  <a:gd name="T6" fmla="*/ 331 w 331"/>
                  <a:gd name="T7" fmla="*/ 309 h 405"/>
                  <a:gd name="T8" fmla="*/ 22 w 331"/>
                  <a:gd name="T9" fmla="*/ 0 h 405"/>
                </a:gdLst>
                <a:ahLst/>
                <a:cxnLst>
                  <a:cxn ang="0">
                    <a:pos x="T0" y="T1"/>
                  </a:cxn>
                  <a:cxn ang="0">
                    <a:pos x="T2" y="T3"/>
                  </a:cxn>
                  <a:cxn ang="0">
                    <a:pos x="T4" y="T5"/>
                  </a:cxn>
                  <a:cxn ang="0">
                    <a:pos x="T6" y="T7"/>
                  </a:cxn>
                  <a:cxn ang="0">
                    <a:pos x="T8" y="T9"/>
                  </a:cxn>
                </a:cxnLst>
                <a:rect l="0" t="0" r="r" b="b"/>
                <a:pathLst>
                  <a:path w="331" h="405">
                    <a:moveTo>
                      <a:pt x="22" y="0"/>
                    </a:moveTo>
                    <a:cubicBezTo>
                      <a:pt x="14" y="0"/>
                      <a:pt x="7" y="0"/>
                      <a:pt x="0" y="0"/>
                    </a:cubicBezTo>
                    <a:cubicBezTo>
                      <a:pt x="40" y="178"/>
                      <a:pt x="158" y="325"/>
                      <a:pt x="316" y="405"/>
                    </a:cubicBezTo>
                    <a:cubicBezTo>
                      <a:pt x="326" y="375"/>
                      <a:pt x="331" y="343"/>
                      <a:pt x="331" y="309"/>
                    </a:cubicBezTo>
                    <a:cubicBezTo>
                      <a:pt x="331" y="138"/>
                      <a:pt x="193" y="0"/>
                      <a:pt x="22" y="0"/>
                    </a:cubicBezTo>
                    <a:close/>
                  </a:path>
                </a:pathLst>
              </a:cu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4" name="Freeform 27"/>
              <p:cNvSpPr/>
              <p:nvPr/>
            </p:nvSpPr>
            <p:spPr bwMode="auto">
              <a:xfrm>
                <a:off x="1406301" y="2974428"/>
                <a:ext cx="1229226" cy="912874"/>
              </a:xfrm>
              <a:custGeom>
                <a:avLst/>
                <a:gdLst>
                  <a:gd name="T0" fmla="*/ 331 w 662"/>
                  <a:gd name="T1" fmla="*/ 0 h 491"/>
                  <a:gd name="T2" fmla="*/ 0 w 662"/>
                  <a:gd name="T3" fmla="*/ 317 h 491"/>
                  <a:gd name="T4" fmla="*/ 422 w 662"/>
                  <a:gd name="T5" fmla="*/ 491 h 491"/>
                  <a:gd name="T6" fmla="*/ 639 w 662"/>
                  <a:gd name="T7" fmla="*/ 451 h 491"/>
                  <a:gd name="T8" fmla="*/ 662 w 662"/>
                  <a:gd name="T9" fmla="*/ 331 h 491"/>
                  <a:gd name="T10" fmla="*/ 331 w 662"/>
                  <a:gd name="T11" fmla="*/ 0 h 491"/>
                </a:gdLst>
                <a:ahLst/>
                <a:cxnLst>
                  <a:cxn ang="0">
                    <a:pos x="T0" y="T1"/>
                  </a:cxn>
                  <a:cxn ang="0">
                    <a:pos x="T2" y="T3"/>
                  </a:cxn>
                  <a:cxn ang="0">
                    <a:pos x="T4" y="T5"/>
                  </a:cxn>
                  <a:cxn ang="0">
                    <a:pos x="T6" y="T7"/>
                  </a:cxn>
                  <a:cxn ang="0">
                    <a:pos x="T8" y="T9"/>
                  </a:cxn>
                  <a:cxn ang="0">
                    <a:pos x="T10" y="T11"/>
                  </a:cxn>
                </a:cxnLst>
                <a:rect l="0" t="0" r="r" b="b"/>
                <a:pathLst>
                  <a:path w="662" h="491">
                    <a:moveTo>
                      <a:pt x="331" y="0"/>
                    </a:moveTo>
                    <a:cubicBezTo>
                      <a:pt x="153" y="0"/>
                      <a:pt x="7" y="141"/>
                      <a:pt x="0" y="317"/>
                    </a:cubicBezTo>
                    <a:cubicBezTo>
                      <a:pt x="108" y="425"/>
                      <a:pt x="258" y="491"/>
                      <a:pt x="422" y="491"/>
                    </a:cubicBezTo>
                    <a:cubicBezTo>
                      <a:pt x="499" y="491"/>
                      <a:pt x="572" y="477"/>
                      <a:pt x="639" y="451"/>
                    </a:cubicBezTo>
                    <a:cubicBezTo>
                      <a:pt x="654" y="414"/>
                      <a:pt x="662" y="373"/>
                      <a:pt x="662" y="331"/>
                    </a:cubicBezTo>
                    <a:cubicBezTo>
                      <a:pt x="662" y="148"/>
                      <a:pt x="514" y="0"/>
                      <a:pt x="331" y="0"/>
                    </a:cubicBezTo>
                    <a:close/>
                  </a:path>
                </a:pathLst>
              </a:cu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5" name="Freeform 28"/>
              <p:cNvSpPr/>
              <p:nvPr/>
            </p:nvSpPr>
            <p:spPr bwMode="auto">
              <a:xfrm>
                <a:off x="2335874" y="2933609"/>
                <a:ext cx="874838" cy="872054"/>
              </a:xfrm>
              <a:custGeom>
                <a:avLst/>
                <a:gdLst>
                  <a:gd name="T0" fmla="*/ 471 w 471"/>
                  <a:gd name="T1" fmla="*/ 153 h 469"/>
                  <a:gd name="T2" fmla="*/ 244 w 471"/>
                  <a:gd name="T3" fmla="*/ 0 h 469"/>
                  <a:gd name="T4" fmla="*/ 0 w 471"/>
                  <a:gd name="T5" fmla="*/ 244 h 469"/>
                  <a:gd name="T6" fmla="*/ 149 w 471"/>
                  <a:gd name="T7" fmla="*/ 469 h 469"/>
                  <a:gd name="T8" fmla="*/ 471 w 471"/>
                  <a:gd name="T9" fmla="*/ 153 h 469"/>
                </a:gdLst>
                <a:ahLst/>
                <a:cxnLst>
                  <a:cxn ang="0">
                    <a:pos x="T0" y="T1"/>
                  </a:cxn>
                  <a:cxn ang="0">
                    <a:pos x="T2" y="T3"/>
                  </a:cxn>
                  <a:cxn ang="0">
                    <a:pos x="T4" y="T5"/>
                  </a:cxn>
                  <a:cxn ang="0">
                    <a:pos x="T6" y="T7"/>
                  </a:cxn>
                  <a:cxn ang="0">
                    <a:pos x="T8" y="T9"/>
                  </a:cxn>
                </a:cxnLst>
                <a:rect l="0" t="0" r="r" b="b"/>
                <a:pathLst>
                  <a:path w="471" h="469">
                    <a:moveTo>
                      <a:pt x="471" y="153"/>
                    </a:moveTo>
                    <a:cubicBezTo>
                      <a:pt x="435" y="63"/>
                      <a:pt x="347" y="0"/>
                      <a:pt x="244" y="0"/>
                    </a:cubicBezTo>
                    <a:cubicBezTo>
                      <a:pt x="109" y="0"/>
                      <a:pt x="0" y="109"/>
                      <a:pt x="0" y="244"/>
                    </a:cubicBezTo>
                    <a:cubicBezTo>
                      <a:pt x="0" y="345"/>
                      <a:pt x="61" y="432"/>
                      <a:pt x="149" y="469"/>
                    </a:cubicBezTo>
                    <a:cubicBezTo>
                      <a:pt x="293" y="410"/>
                      <a:pt x="409" y="296"/>
                      <a:pt x="471" y="153"/>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6" name="Oval 30"/>
              <p:cNvSpPr>
                <a:spLocks noChangeArrowheads="1"/>
              </p:cNvSpPr>
              <p:nvPr/>
            </p:nvSpPr>
            <p:spPr bwMode="auto">
              <a:xfrm>
                <a:off x="2540899" y="1675625"/>
                <a:ext cx="493546" cy="496329"/>
              </a:xfrm>
              <a:prstGeom prst="ellipse">
                <a:avLst/>
              </a:prstGeom>
              <a:solidFill>
                <a:schemeClr val="accent2">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7" name="Oval 11"/>
              <p:cNvSpPr>
                <a:spLocks noChangeArrowheads="1"/>
              </p:cNvSpPr>
              <p:nvPr/>
            </p:nvSpPr>
            <p:spPr bwMode="auto">
              <a:xfrm>
                <a:off x="1833627" y="2696302"/>
                <a:ext cx="557332" cy="556080"/>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8" name="Oval 11"/>
              <p:cNvSpPr>
                <a:spLocks noChangeArrowheads="1"/>
              </p:cNvSpPr>
              <p:nvPr/>
            </p:nvSpPr>
            <p:spPr bwMode="auto">
              <a:xfrm>
                <a:off x="2226489" y="2491874"/>
                <a:ext cx="249471" cy="248912"/>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grpSp>
        <p:sp>
          <p:nvSpPr>
            <p:cNvPr id="23" name="椭圆 22"/>
            <p:cNvSpPr/>
            <p:nvPr/>
          </p:nvSpPr>
          <p:spPr>
            <a:xfrm>
              <a:off x="4251572" y="2232063"/>
              <a:ext cx="553478" cy="553476"/>
            </a:xfrm>
            <a:prstGeom prst="ellipse">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9900"/>
                </a:solidFill>
                <a:effectLst/>
                <a:uLnTx/>
                <a:uFillTx/>
                <a:latin typeface="华文细黑" pitchFamily="2" charset="-122"/>
                <a:ea typeface="华文细黑" pitchFamily="2" charset="-122"/>
                <a:cs typeface="+mn-cs"/>
              </a:endParaRPr>
            </a:p>
          </p:txBody>
        </p:sp>
      </p:grpSp>
      <p:sp>
        <p:nvSpPr>
          <p:cNvPr id="2" name="矩形 1"/>
          <p:cNvSpPr/>
          <p:nvPr/>
        </p:nvSpPr>
        <p:spPr>
          <a:xfrm>
            <a:off x="704749" y="2844284"/>
            <a:ext cx="7701873" cy="646331"/>
          </a:xfrm>
          <a:prstGeom prst="rect">
            <a:avLst/>
          </a:prstGeom>
        </p:spPr>
        <p:txBody>
          <a:bodyPr wrap="square">
            <a:spAutoFit/>
          </a:bodyPr>
          <a:lstStyle/>
          <a:p>
            <a:pPr lvl="0" algn="ctr"/>
            <a:r>
              <a:rPr lang="zh-CN" altLang="en-US" sz="3600" b="1" dirty="0">
                <a:solidFill>
                  <a:srgbClr val="009900"/>
                </a:solidFill>
                <a:latin typeface="宋体" pitchFamily="2" charset="-122"/>
                <a:ea typeface="宋体" pitchFamily="2" charset="-122"/>
              </a:rPr>
              <a:t>金融机构的功能和分类</a:t>
            </a:r>
          </a:p>
        </p:txBody>
      </p:sp>
      <p:sp>
        <p:nvSpPr>
          <p:cNvPr id="3" name="文本框 2"/>
          <p:cNvSpPr txBox="1"/>
          <p:nvPr/>
        </p:nvSpPr>
        <p:spPr>
          <a:xfrm>
            <a:off x="4324698" y="1824850"/>
            <a:ext cx="6599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9900"/>
                </a:solidFill>
                <a:effectLst/>
                <a:uLnTx/>
                <a:uFillTx/>
                <a:latin typeface="Times New Roman" pitchFamily="18" charset="0"/>
                <a:ea typeface="华文细黑"/>
                <a:cs typeface="Times New Roman" pitchFamily="18" charset="0"/>
              </a:rPr>
              <a:t>1.5</a:t>
            </a:r>
            <a:endParaRPr kumimoji="0" lang="zh-CN" altLang="en-US" sz="1800" b="0" i="0" u="none" strike="noStrike" kern="1200" cap="none" spc="0" normalizeH="0" baseline="0" noProof="0" dirty="0">
              <a:ln>
                <a:noFill/>
              </a:ln>
              <a:solidFill>
                <a:srgbClr val="009900"/>
              </a:solidFill>
              <a:effectLst/>
              <a:uLnTx/>
              <a:uFillTx/>
              <a:latin typeface="Times New Roman" pitchFamily="18" charset="0"/>
              <a:ea typeface="华文细黑"/>
              <a:cs typeface="Times New Roman" pitchFamily="18" charset="0"/>
            </a:endParaRPr>
          </a:p>
        </p:txBody>
      </p:sp>
    </p:spTree>
    <p:extLst>
      <p:ext uri="{BB962C8B-B14F-4D97-AF65-F5344CB8AC3E}">
        <p14:creationId xmlns:p14="http://schemas.microsoft.com/office/powerpoint/2010/main" val="275527736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7727"/>
            <a:ext cx="8229600" cy="856986"/>
          </a:xfrm>
        </p:spPr>
        <p:txBody>
          <a:bodyPr>
            <a:normAutofit/>
          </a:bodyPr>
          <a:lstStyle/>
          <a:p>
            <a:pPr algn="l"/>
            <a:r>
              <a:rPr lang="zh-CN" altLang="en-US" sz="2800" b="1" dirty="0">
                <a:latin typeface="宋体" pitchFamily="2" charset="-122"/>
                <a:ea typeface="宋体" pitchFamily="2" charset="-122"/>
              </a:rPr>
              <a:t>（一）金融机构的功能</a:t>
            </a:r>
          </a:p>
        </p:txBody>
      </p:sp>
      <p:sp>
        <p:nvSpPr>
          <p:cNvPr id="4" name="矩形 3"/>
          <p:cNvSpPr/>
          <p:nvPr/>
        </p:nvSpPr>
        <p:spPr>
          <a:xfrm>
            <a:off x="0" y="380236"/>
            <a:ext cx="395536"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华文细黑" pitchFamily="2" charset="-122"/>
            </a:endParaRPr>
          </a:p>
        </p:txBody>
      </p:sp>
      <p:sp>
        <p:nvSpPr>
          <p:cNvPr id="7" name="内容占位符 6">
            <a:extLst>
              <a:ext uri="{FF2B5EF4-FFF2-40B4-BE49-F238E27FC236}">
                <a16:creationId xmlns:a16="http://schemas.microsoft.com/office/drawing/2014/main" id="{E3FB3D15-8C0F-45DA-ABB7-925A6DE73297}"/>
              </a:ext>
            </a:extLst>
          </p:cNvPr>
          <p:cNvSpPr>
            <a:spLocks noGrp="1"/>
          </p:cNvSpPr>
          <p:nvPr>
            <p:ph idx="1"/>
          </p:nvPr>
        </p:nvSpPr>
        <p:spPr>
          <a:xfrm>
            <a:off x="395536" y="1418828"/>
            <a:ext cx="8229600" cy="2974428"/>
          </a:xfrm>
        </p:spPr>
        <p:txBody>
          <a:bodyPr/>
          <a:lstStyle/>
          <a:p>
            <a:r>
              <a:rPr lang="zh-CN" altLang="en-US" dirty="0"/>
              <a:t>降低信息不对称，提升金融市场交易效率。</a:t>
            </a:r>
            <a:endParaRPr lang="en-US" altLang="zh-CN" dirty="0"/>
          </a:p>
          <a:p>
            <a:r>
              <a:rPr lang="zh-CN" altLang="en-US" dirty="0"/>
              <a:t>降低交易成本。</a:t>
            </a:r>
            <a:endParaRPr lang="en-US" altLang="zh-CN" dirty="0"/>
          </a:p>
          <a:p>
            <a:r>
              <a:rPr lang="zh-CN" altLang="en-US" dirty="0"/>
              <a:t>帮助投资者降低风险</a:t>
            </a:r>
            <a:endParaRPr lang="en-US" altLang="zh-CN" dirty="0"/>
          </a:p>
        </p:txBody>
      </p:sp>
    </p:spTree>
    <p:extLst>
      <p:ext uri="{BB962C8B-B14F-4D97-AF65-F5344CB8AC3E}">
        <p14:creationId xmlns:p14="http://schemas.microsoft.com/office/powerpoint/2010/main" val="1931453098"/>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7727"/>
            <a:ext cx="8229600" cy="856986"/>
          </a:xfrm>
        </p:spPr>
        <p:txBody>
          <a:bodyPr>
            <a:normAutofit/>
          </a:bodyPr>
          <a:lstStyle/>
          <a:p>
            <a:pPr algn="l"/>
            <a:r>
              <a:rPr lang="zh-CN" altLang="en-US" sz="2800" b="1" dirty="0">
                <a:latin typeface="宋体" pitchFamily="2" charset="-122"/>
                <a:ea typeface="宋体" pitchFamily="2" charset="-122"/>
              </a:rPr>
              <a:t>（二）金融机构的分类</a:t>
            </a:r>
          </a:p>
        </p:txBody>
      </p:sp>
      <p:sp>
        <p:nvSpPr>
          <p:cNvPr id="4" name="矩形 3"/>
          <p:cNvSpPr/>
          <p:nvPr/>
        </p:nvSpPr>
        <p:spPr>
          <a:xfrm>
            <a:off x="0" y="380236"/>
            <a:ext cx="395536"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华文细黑" pitchFamily="2" charset="-122"/>
            </a:endParaRPr>
          </a:p>
        </p:txBody>
      </p:sp>
      <p:graphicFrame>
        <p:nvGraphicFramePr>
          <p:cNvPr id="3" name="内容占位符 2">
            <a:extLst>
              <a:ext uri="{FF2B5EF4-FFF2-40B4-BE49-F238E27FC236}">
                <a16:creationId xmlns:a16="http://schemas.microsoft.com/office/drawing/2014/main" id="{17DD3933-F53C-43FB-AC0F-3A30B9A8B944}"/>
              </a:ext>
            </a:extLst>
          </p:cNvPr>
          <p:cNvGraphicFramePr>
            <a:graphicFrameLocks noGrp="1"/>
          </p:cNvGraphicFramePr>
          <p:nvPr>
            <p:ph idx="1"/>
            <p:extLst>
              <p:ext uri="{D42A27DB-BD31-4B8C-83A1-F6EECF244321}">
                <p14:modId xmlns:p14="http://schemas.microsoft.com/office/powerpoint/2010/main" val="1815199595"/>
              </p:ext>
            </p:extLst>
          </p:nvPr>
        </p:nvGraphicFramePr>
        <p:xfrm>
          <a:off x="611560" y="1393361"/>
          <a:ext cx="7632848" cy="3252896"/>
        </p:xfrm>
        <a:graphic>
          <a:graphicData uri="http://schemas.openxmlformats.org/drawingml/2006/table">
            <a:tbl>
              <a:tblPr firstRow="1" firstCol="1" bandRow="1"/>
              <a:tblGrid>
                <a:gridCol w="1821726">
                  <a:extLst>
                    <a:ext uri="{9D8B030D-6E8A-4147-A177-3AD203B41FA5}">
                      <a16:colId xmlns:a16="http://schemas.microsoft.com/office/drawing/2014/main" val="589596816"/>
                    </a:ext>
                  </a:extLst>
                </a:gridCol>
                <a:gridCol w="5811122">
                  <a:extLst>
                    <a:ext uri="{9D8B030D-6E8A-4147-A177-3AD203B41FA5}">
                      <a16:colId xmlns:a16="http://schemas.microsoft.com/office/drawing/2014/main" val="3053076638"/>
                    </a:ext>
                  </a:extLst>
                </a:gridCol>
              </a:tblGrid>
              <a:tr h="265368">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金融机构大类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50000"/>
                        </a:lnSpc>
                      </a:pPr>
                      <a:r>
                        <a:rPr lang="zh-CN" sz="1050" kern="100" dirty="0">
                          <a:effectLst/>
                          <a:latin typeface="Calibri" panose="020F0502020204030204" pitchFamily="34" charset="0"/>
                          <a:ea typeface="宋体" panose="02010600030101010101" pitchFamily="2" charset="-122"/>
                          <a:cs typeface="Times New Roman" panose="02020603050405020304" pitchFamily="18" charset="0"/>
                        </a:rPr>
                        <a:t>组成的金融机构</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6263961"/>
                  </a:ext>
                </a:extLst>
              </a:tr>
              <a:tr h="265368">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货币当局</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50000"/>
                        </a:lnSpc>
                      </a:pPr>
                      <a:r>
                        <a:rPr lang="zh-CN" sz="1050" kern="100" dirty="0">
                          <a:effectLst/>
                          <a:latin typeface="Calibri" panose="020F0502020204030204" pitchFamily="34" charset="0"/>
                          <a:ea typeface="宋体" panose="02010600030101010101" pitchFamily="2" charset="-122"/>
                          <a:cs typeface="Times New Roman" panose="02020603050405020304" pitchFamily="18" charset="0"/>
                        </a:rPr>
                        <a:t>中国人民银行；国家外汇管理局</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0954362"/>
                  </a:ext>
                </a:extLst>
              </a:tr>
              <a:tr h="265368">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监管当局</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银保监会；证监会</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407943"/>
                  </a:ext>
                </a:extLst>
              </a:tr>
              <a:tr h="564976">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银行业存款类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银行（包括了农村合作银行、农村商业银行、村镇银行等）；城市信用合作社；农村信用合作社；农村资金互助社；财务公司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9617206"/>
                  </a:ext>
                </a:extLst>
              </a:tr>
              <a:tr h="265368">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银行业非存款类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信托公司；金融资产管理公司；金融租赁公司；汽车金融公司；贷款公司；货币经纪公司</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8003758"/>
                  </a:ext>
                </a:extLst>
              </a:tr>
              <a:tr h="265368">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证券业</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证券公司；证券投资基金管理公司；期货公司；投资咨询公司</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191579"/>
                  </a:ext>
                </a:extLst>
              </a:tr>
              <a:tr h="564976">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保险业</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财产保险公司；人身保险公司；再保险公司；保险资产管理公司；保险经纪公司；保险代理公司；保险公估公司；企业年金</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6197839"/>
                  </a:ext>
                </a:extLst>
              </a:tr>
              <a:tr h="265368">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交易及结算类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交易所；登记结算类机构</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4183343"/>
                  </a:ext>
                </a:extLst>
              </a:tr>
              <a:tr h="265368">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金融控股公司</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中央金融控股公司；其他金融控股公司</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9117500"/>
                  </a:ext>
                </a:extLst>
              </a:tr>
              <a:tr h="265368">
                <a:tc>
                  <a:txBody>
                    <a:bodyPr/>
                    <a:lstStyle/>
                    <a:p>
                      <a:pPr indent="127000" algn="ctr">
                        <a:lnSpc>
                          <a:spcPct val="150000"/>
                        </a:lnSpc>
                      </a:pPr>
                      <a:r>
                        <a:rPr lang="zh-CN" sz="1050" kern="100">
                          <a:effectLst/>
                          <a:latin typeface="Calibri" panose="020F0502020204030204" pitchFamily="34" charset="0"/>
                          <a:ea typeface="宋体" panose="02010600030101010101" pitchFamily="2" charset="-122"/>
                          <a:cs typeface="Times New Roman" panose="02020603050405020304" pitchFamily="18" charset="0"/>
                        </a:rPr>
                        <a:t>其  他</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50000"/>
                        </a:lnSpc>
                      </a:pPr>
                      <a:r>
                        <a:rPr lang="zh-CN" sz="1050" kern="100" dirty="0">
                          <a:effectLst/>
                          <a:latin typeface="Calibri" panose="020F0502020204030204" pitchFamily="34" charset="0"/>
                          <a:ea typeface="宋体" panose="02010600030101010101" pitchFamily="2" charset="-122"/>
                          <a:cs typeface="Times New Roman" panose="02020603050405020304" pitchFamily="18" charset="0"/>
                        </a:rPr>
                        <a:t>包括小额贷款公司等新兴金融企业</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0047216"/>
                  </a:ext>
                </a:extLst>
              </a:tr>
            </a:tbl>
          </a:graphicData>
        </a:graphic>
      </p:graphicFrame>
      <p:sp>
        <p:nvSpPr>
          <p:cNvPr id="5" name="Rectangle 1">
            <a:extLst>
              <a:ext uri="{FF2B5EF4-FFF2-40B4-BE49-F238E27FC236}">
                <a16:creationId xmlns:a16="http://schemas.microsoft.com/office/drawing/2014/main" id="{382303D5-7A85-4E06-9DFE-09B1825761AE}"/>
              </a:ext>
            </a:extLst>
          </p:cNvPr>
          <p:cNvSpPr>
            <a:spLocks noChangeArrowheads="1"/>
          </p:cNvSpPr>
          <p:nvPr/>
        </p:nvSpPr>
        <p:spPr bwMode="auto">
          <a:xfrm>
            <a:off x="1115616" y="870142"/>
            <a:ext cx="63941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28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a:t>
            </a: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中国金融体系机构分类情况概览</a:t>
            </a:r>
            <a:endParaRPr kumimoji="0" lang="zh-CN" altLang="en-US" sz="2800" b="0" i="0" u="none" strike="noStrike" cap="none" normalizeH="0" baseline="0" dirty="0">
              <a:ln>
                <a:noFill/>
              </a:ln>
              <a:solidFill>
                <a:schemeClr val="tx1"/>
              </a:solidFill>
              <a:effectLst/>
            </a:endParaRPr>
          </a:p>
        </p:txBody>
      </p:sp>
      <p:sp>
        <p:nvSpPr>
          <p:cNvPr id="8" name="文本框 7">
            <a:extLst>
              <a:ext uri="{FF2B5EF4-FFF2-40B4-BE49-F238E27FC236}">
                <a16:creationId xmlns:a16="http://schemas.microsoft.com/office/drawing/2014/main" id="{B870615B-2E82-4C5A-B95B-7A345907E8D0}"/>
              </a:ext>
            </a:extLst>
          </p:cNvPr>
          <p:cNvSpPr txBox="1"/>
          <p:nvPr/>
        </p:nvSpPr>
        <p:spPr>
          <a:xfrm>
            <a:off x="251520" y="4646261"/>
            <a:ext cx="4579374" cy="230832"/>
          </a:xfrm>
          <a:prstGeom prst="rect">
            <a:avLst/>
          </a:prstGeom>
          <a:noFill/>
        </p:spPr>
        <p:txBody>
          <a:bodyPr wrap="square">
            <a:spAutoFit/>
          </a:bodyPr>
          <a:lstStyle/>
          <a:p>
            <a:pPr marL="0" marR="0" lvl="0" indent="228600" algn="l" defTabSz="914400" rtl="0" eaLnBrk="0" fontAlgn="base" latinLnBrk="0" hangingPunct="0">
              <a:lnSpc>
                <a:spcPct val="100000"/>
              </a:lnSpc>
              <a:spcBef>
                <a:spcPct val="0"/>
              </a:spcBef>
              <a:spcAft>
                <a:spcPct val="0"/>
              </a:spcAft>
              <a:buClrTx/>
              <a:buSzTx/>
              <a:buFontTx/>
              <a:buNone/>
              <a:tabLst/>
              <a:defRPr/>
            </a:pPr>
            <a:r>
              <a:rPr kumimoji="0" lang="zh-CN" altLang="en-US" sz="900" b="0" i="0" u="none" strike="noStrike" kern="1200" cap="none" spc="0" normalizeH="0" baseline="0" noProof="0" dirty="0">
                <a:ln>
                  <a:noFill/>
                </a:ln>
                <a:solidFill>
                  <a:srgbClr val="191919"/>
                </a:solidFill>
                <a:effectLst/>
                <a:uLnTx/>
                <a:uFillTx/>
                <a:latin typeface="Times New Roman" panose="02020603050405020304" pitchFamily="18" charset="0"/>
                <a:ea typeface="宋体" panose="02010600030101010101" pitchFamily="2" charset="-122"/>
                <a:cs typeface="Times New Roman" panose="02020603050405020304" pitchFamily="18" charset="0"/>
              </a:rPr>
              <a:t>数据来源：</a:t>
            </a:r>
            <a:r>
              <a:rPr kumimoji="0" lang="en-US" altLang="zh-CN" sz="900" b="0" i="0" u="none" strike="noStrike" kern="1200" cap="none" spc="0" normalizeH="0" baseline="0" noProof="0" dirty="0">
                <a:ln>
                  <a:noFill/>
                </a:ln>
                <a:solidFill>
                  <a:srgbClr val="191919"/>
                </a:solidFill>
                <a:effectLst/>
                <a:uLnTx/>
                <a:uFillTx/>
                <a:latin typeface="Times New Roman" panose="02020603050405020304" pitchFamily="18" charset="0"/>
                <a:ea typeface="宋体" panose="02010600030101010101" pitchFamily="2" charset="-122"/>
                <a:cs typeface="Times New Roman" panose="02020603050405020304" pitchFamily="18" charset="0"/>
              </a:rPr>
              <a:t>https://www.cfstc.org/jinbiaowei/2929436/2970939/index.html</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华文细黑"/>
              <a:cs typeface="+mn-cs"/>
            </a:endParaRPr>
          </a:p>
        </p:txBody>
      </p:sp>
    </p:spTree>
    <p:extLst>
      <p:ext uri="{BB962C8B-B14F-4D97-AF65-F5344CB8AC3E}">
        <p14:creationId xmlns:p14="http://schemas.microsoft.com/office/powerpoint/2010/main" val="392777691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4043803" y="1181686"/>
            <a:ext cx="1056394" cy="1389270"/>
            <a:chOff x="3995936" y="1676400"/>
            <a:chExt cx="1056394" cy="1389270"/>
          </a:xfrm>
        </p:grpSpPr>
        <p:grpSp>
          <p:nvGrpSpPr>
            <p:cNvPr id="22" name="组合 21"/>
            <p:cNvGrpSpPr/>
            <p:nvPr/>
          </p:nvGrpSpPr>
          <p:grpSpPr>
            <a:xfrm>
              <a:off x="3995936" y="1676400"/>
              <a:ext cx="1056394" cy="1389270"/>
              <a:chOff x="1078816" y="964066"/>
              <a:chExt cx="2222812" cy="2923236"/>
            </a:xfrm>
          </p:grpSpPr>
          <p:sp>
            <p:nvSpPr>
              <p:cNvPr id="24" name="Freeform 7"/>
              <p:cNvSpPr/>
              <p:nvPr/>
            </p:nvSpPr>
            <p:spPr bwMode="auto">
              <a:xfrm>
                <a:off x="1078816" y="2540257"/>
                <a:ext cx="696716" cy="1019561"/>
              </a:xfrm>
              <a:custGeom>
                <a:avLst/>
                <a:gdLst>
                  <a:gd name="T0" fmla="*/ 94 w 375"/>
                  <a:gd name="T1" fmla="*/ 0 h 549"/>
                  <a:gd name="T2" fmla="*/ 11 w 375"/>
                  <a:gd name="T3" fmla="*/ 12 h 549"/>
                  <a:gd name="T4" fmla="*/ 0 w 375"/>
                  <a:gd name="T5" fmla="*/ 127 h 549"/>
                  <a:gd name="T6" fmla="*/ 174 w 375"/>
                  <a:gd name="T7" fmla="*/ 549 h 549"/>
                  <a:gd name="T8" fmla="*/ 375 w 375"/>
                  <a:gd name="T9" fmla="*/ 280 h 549"/>
                  <a:gd name="T10" fmla="*/ 94 w 375"/>
                  <a:gd name="T11" fmla="*/ 0 h 549"/>
                </a:gdLst>
                <a:ahLst/>
                <a:cxnLst>
                  <a:cxn ang="0">
                    <a:pos x="T0" y="T1"/>
                  </a:cxn>
                  <a:cxn ang="0">
                    <a:pos x="T2" y="T3"/>
                  </a:cxn>
                  <a:cxn ang="0">
                    <a:pos x="T4" y="T5"/>
                  </a:cxn>
                  <a:cxn ang="0">
                    <a:pos x="T6" y="T7"/>
                  </a:cxn>
                  <a:cxn ang="0">
                    <a:pos x="T8" y="T9"/>
                  </a:cxn>
                  <a:cxn ang="0">
                    <a:pos x="T10" y="T11"/>
                  </a:cxn>
                </a:cxnLst>
                <a:rect l="0" t="0" r="r" b="b"/>
                <a:pathLst>
                  <a:path w="375" h="549">
                    <a:moveTo>
                      <a:pt x="94" y="0"/>
                    </a:moveTo>
                    <a:cubicBezTo>
                      <a:pt x="65" y="0"/>
                      <a:pt x="37" y="4"/>
                      <a:pt x="11" y="12"/>
                    </a:cubicBezTo>
                    <a:cubicBezTo>
                      <a:pt x="3" y="49"/>
                      <a:pt x="0" y="87"/>
                      <a:pt x="0" y="127"/>
                    </a:cubicBezTo>
                    <a:cubicBezTo>
                      <a:pt x="0" y="291"/>
                      <a:pt x="66" y="441"/>
                      <a:pt x="174" y="549"/>
                    </a:cubicBezTo>
                    <a:cubicBezTo>
                      <a:pt x="290" y="514"/>
                      <a:pt x="375" y="407"/>
                      <a:pt x="375" y="280"/>
                    </a:cubicBezTo>
                    <a:cubicBezTo>
                      <a:pt x="375" y="125"/>
                      <a:pt x="249" y="0"/>
                      <a:pt x="94" y="0"/>
                    </a:cubicBezTo>
                    <a:close/>
                  </a:path>
                </a:pathLst>
              </a:cu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5" name="Freeform 8"/>
              <p:cNvSpPr/>
              <p:nvPr/>
            </p:nvSpPr>
            <p:spPr bwMode="auto">
              <a:xfrm>
                <a:off x="1088093" y="2231327"/>
                <a:ext cx="600234" cy="615077"/>
              </a:xfrm>
              <a:custGeom>
                <a:avLst/>
                <a:gdLst>
                  <a:gd name="T0" fmla="*/ 158 w 323"/>
                  <a:gd name="T1" fmla="*/ 0 h 331"/>
                  <a:gd name="T2" fmla="*/ 51 w 323"/>
                  <a:gd name="T3" fmla="*/ 38 h 331"/>
                  <a:gd name="T4" fmla="*/ 0 w 323"/>
                  <a:gd name="T5" fmla="*/ 216 h 331"/>
                  <a:gd name="T6" fmla="*/ 158 w 323"/>
                  <a:gd name="T7" fmla="*/ 331 h 331"/>
                  <a:gd name="T8" fmla="*/ 323 w 323"/>
                  <a:gd name="T9" fmla="*/ 166 h 331"/>
                  <a:gd name="T10" fmla="*/ 158 w 323"/>
                  <a:gd name="T11" fmla="*/ 0 h 331"/>
                </a:gdLst>
                <a:ahLst/>
                <a:cxnLst>
                  <a:cxn ang="0">
                    <a:pos x="T0" y="T1"/>
                  </a:cxn>
                  <a:cxn ang="0">
                    <a:pos x="T2" y="T3"/>
                  </a:cxn>
                  <a:cxn ang="0">
                    <a:pos x="T4" y="T5"/>
                  </a:cxn>
                  <a:cxn ang="0">
                    <a:pos x="T6" y="T7"/>
                  </a:cxn>
                  <a:cxn ang="0">
                    <a:pos x="T8" y="T9"/>
                  </a:cxn>
                  <a:cxn ang="0">
                    <a:pos x="T10" y="T11"/>
                  </a:cxn>
                </a:cxnLst>
                <a:rect l="0" t="0" r="r" b="b"/>
                <a:pathLst>
                  <a:path w="323" h="331">
                    <a:moveTo>
                      <a:pt x="158" y="0"/>
                    </a:moveTo>
                    <a:cubicBezTo>
                      <a:pt x="117" y="0"/>
                      <a:pt x="80" y="14"/>
                      <a:pt x="51" y="38"/>
                    </a:cubicBezTo>
                    <a:cubicBezTo>
                      <a:pt x="25" y="94"/>
                      <a:pt x="8" y="153"/>
                      <a:pt x="0" y="216"/>
                    </a:cubicBezTo>
                    <a:cubicBezTo>
                      <a:pt x="21" y="283"/>
                      <a:pt x="84" y="331"/>
                      <a:pt x="158" y="331"/>
                    </a:cubicBezTo>
                    <a:cubicBezTo>
                      <a:pt x="249" y="331"/>
                      <a:pt x="323" y="257"/>
                      <a:pt x="323" y="166"/>
                    </a:cubicBezTo>
                    <a:cubicBezTo>
                      <a:pt x="323" y="74"/>
                      <a:pt x="249" y="0"/>
                      <a:pt x="158" y="0"/>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6" name="Oval 9"/>
              <p:cNvSpPr>
                <a:spLocks noChangeArrowheads="1"/>
              </p:cNvSpPr>
              <p:nvPr/>
            </p:nvSpPr>
            <p:spPr bwMode="auto">
              <a:xfrm>
                <a:off x="1530616" y="2179723"/>
                <a:ext cx="506964" cy="507925"/>
              </a:xfrm>
              <a:prstGeom prst="ellipse">
                <a:avLst/>
              </a:prstGeom>
              <a:solidFill>
                <a:schemeClr val="accent5">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7" name="Oval 10"/>
              <p:cNvSpPr>
                <a:spLocks noChangeArrowheads="1"/>
              </p:cNvSpPr>
              <p:nvPr/>
            </p:nvSpPr>
            <p:spPr bwMode="auto">
              <a:xfrm>
                <a:off x="2050137" y="1993832"/>
                <a:ext cx="576113" cy="574257"/>
              </a:xfrm>
              <a:prstGeom prst="ellipse">
                <a:avLst/>
              </a:pr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8" name="Oval 11"/>
              <p:cNvSpPr>
                <a:spLocks noChangeArrowheads="1"/>
              </p:cNvSpPr>
              <p:nvPr/>
            </p:nvSpPr>
            <p:spPr bwMode="auto">
              <a:xfrm>
                <a:off x="1688327" y="1950229"/>
                <a:ext cx="413762" cy="412834"/>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9" name="Oval 12"/>
              <p:cNvSpPr>
                <a:spLocks noChangeArrowheads="1"/>
              </p:cNvSpPr>
              <p:nvPr/>
            </p:nvSpPr>
            <p:spPr bwMode="auto">
              <a:xfrm>
                <a:off x="1955510" y="1555021"/>
                <a:ext cx="256050" cy="256050"/>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0" name="Oval 13"/>
              <p:cNvSpPr>
                <a:spLocks noChangeArrowheads="1"/>
              </p:cNvSpPr>
              <p:nvPr/>
            </p:nvSpPr>
            <p:spPr bwMode="auto">
              <a:xfrm>
                <a:off x="2389682" y="1158887"/>
                <a:ext cx="86278" cy="87205"/>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1" name="Oval 14"/>
              <p:cNvSpPr>
                <a:spLocks noChangeArrowheads="1"/>
              </p:cNvSpPr>
              <p:nvPr/>
            </p:nvSpPr>
            <p:spPr bwMode="auto">
              <a:xfrm>
                <a:off x="1532470" y="1755408"/>
                <a:ext cx="85350" cy="85350"/>
              </a:xfrm>
              <a:prstGeom prst="ellipse">
                <a:avLst/>
              </a:pr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2" name="Oval 15"/>
              <p:cNvSpPr>
                <a:spLocks noChangeArrowheads="1"/>
              </p:cNvSpPr>
              <p:nvPr/>
            </p:nvSpPr>
            <p:spPr bwMode="auto">
              <a:xfrm>
                <a:off x="2068691" y="1905698"/>
                <a:ext cx="87205" cy="88133"/>
              </a:xfrm>
              <a:prstGeom prst="ellipse">
                <a:avLst/>
              </a:prstGeom>
              <a:solidFill>
                <a:schemeClr val="accent1">
                  <a:alpha val="8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3" name="Freeform 16"/>
              <p:cNvSpPr/>
              <p:nvPr/>
            </p:nvSpPr>
            <p:spPr bwMode="auto">
              <a:xfrm>
                <a:off x="1673483" y="1653359"/>
                <a:ext cx="376653" cy="377581"/>
              </a:xfrm>
              <a:custGeom>
                <a:avLst/>
                <a:gdLst>
                  <a:gd name="T0" fmla="*/ 201 w 203"/>
                  <a:gd name="T1" fmla="*/ 98 h 203"/>
                  <a:gd name="T2" fmla="*/ 105 w 203"/>
                  <a:gd name="T3" fmla="*/ 201 h 203"/>
                  <a:gd name="T4" fmla="*/ 1 w 203"/>
                  <a:gd name="T5" fmla="*/ 105 h 203"/>
                  <a:gd name="T6" fmla="*/ 98 w 203"/>
                  <a:gd name="T7" fmla="*/ 1 h 203"/>
                  <a:gd name="T8" fmla="*/ 201 w 203"/>
                  <a:gd name="T9" fmla="*/ 98 h 203"/>
                </a:gdLst>
                <a:ahLst/>
                <a:cxnLst>
                  <a:cxn ang="0">
                    <a:pos x="T0" y="T1"/>
                  </a:cxn>
                  <a:cxn ang="0">
                    <a:pos x="T2" y="T3"/>
                  </a:cxn>
                  <a:cxn ang="0">
                    <a:pos x="T4" y="T5"/>
                  </a:cxn>
                  <a:cxn ang="0">
                    <a:pos x="T6" y="T7"/>
                  </a:cxn>
                  <a:cxn ang="0">
                    <a:pos x="T8" y="T9"/>
                  </a:cxn>
                </a:cxnLst>
                <a:rect l="0" t="0" r="r" b="b"/>
                <a:pathLst>
                  <a:path w="203" h="203">
                    <a:moveTo>
                      <a:pt x="201" y="98"/>
                    </a:moveTo>
                    <a:cubicBezTo>
                      <a:pt x="203" y="153"/>
                      <a:pt x="160" y="200"/>
                      <a:pt x="105" y="201"/>
                    </a:cubicBezTo>
                    <a:cubicBezTo>
                      <a:pt x="49" y="203"/>
                      <a:pt x="3" y="160"/>
                      <a:pt x="1" y="105"/>
                    </a:cubicBezTo>
                    <a:cubicBezTo>
                      <a:pt x="0" y="49"/>
                      <a:pt x="43" y="3"/>
                      <a:pt x="98" y="1"/>
                    </a:cubicBezTo>
                    <a:cubicBezTo>
                      <a:pt x="153" y="0"/>
                      <a:pt x="200" y="43"/>
                      <a:pt x="201" y="98"/>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4" name="Oval 17"/>
              <p:cNvSpPr>
                <a:spLocks noChangeArrowheads="1"/>
              </p:cNvSpPr>
              <p:nvPr/>
            </p:nvSpPr>
            <p:spPr bwMode="auto">
              <a:xfrm>
                <a:off x="1504639" y="1901988"/>
                <a:ext cx="141013" cy="143796"/>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5" name="Oval 18"/>
              <p:cNvSpPr>
                <a:spLocks noChangeArrowheads="1"/>
              </p:cNvSpPr>
              <p:nvPr/>
            </p:nvSpPr>
            <p:spPr bwMode="auto">
              <a:xfrm>
                <a:off x="2167029" y="964066"/>
                <a:ext cx="142869" cy="142868"/>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6" name="Oval 19"/>
              <p:cNvSpPr>
                <a:spLocks noChangeArrowheads="1"/>
              </p:cNvSpPr>
              <p:nvPr/>
            </p:nvSpPr>
            <p:spPr bwMode="auto">
              <a:xfrm>
                <a:off x="2276500" y="1307321"/>
                <a:ext cx="312641" cy="312641"/>
              </a:xfrm>
              <a:prstGeom prst="ellipse">
                <a:avLst/>
              </a:pr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7" name="Oval 20"/>
              <p:cNvSpPr>
                <a:spLocks noChangeArrowheads="1"/>
              </p:cNvSpPr>
              <p:nvPr/>
            </p:nvSpPr>
            <p:spPr bwMode="auto">
              <a:xfrm>
                <a:off x="2276500" y="1816638"/>
                <a:ext cx="312641" cy="314496"/>
              </a:xfrm>
              <a:prstGeom prst="ellipse">
                <a:avLst/>
              </a:pr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8" name="Oval 21"/>
              <p:cNvSpPr>
                <a:spLocks noChangeArrowheads="1"/>
              </p:cNvSpPr>
              <p:nvPr/>
            </p:nvSpPr>
            <p:spPr bwMode="auto">
              <a:xfrm>
                <a:off x="2754274" y="1514202"/>
                <a:ext cx="141013" cy="141013"/>
              </a:xfrm>
              <a:prstGeom prst="ellipse">
                <a:avLst/>
              </a:pr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9" name="Freeform 22"/>
              <p:cNvSpPr/>
              <p:nvPr/>
            </p:nvSpPr>
            <p:spPr bwMode="auto">
              <a:xfrm>
                <a:off x="2947240" y="2064338"/>
                <a:ext cx="348822" cy="600233"/>
              </a:xfrm>
              <a:custGeom>
                <a:avLst/>
                <a:gdLst>
                  <a:gd name="T0" fmla="*/ 0 w 188"/>
                  <a:gd name="T1" fmla="*/ 132 h 323"/>
                  <a:gd name="T2" fmla="*/ 188 w 188"/>
                  <a:gd name="T3" fmla="*/ 323 h 323"/>
                  <a:gd name="T4" fmla="*/ 53 w 188"/>
                  <a:gd name="T5" fmla="*/ 0 h 323"/>
                  <a:gd name="T6" fmla="*/ 0 w 188"/>
                  <a:gd name="T7" fmla="*/ 132 h 323"/>
                </a:gdLst>
                <a:ahLst/>
                <a:cxnLst>
                  <a:cxn ang="0">
                    <a:pos x="T0" y="T1"/>
                  </a:cxn>
                  <a:cxn ang="0">
                    <a:pos x="T2" y="T3"/>
                  </a:cxn>
                  <a:cxn ang="0">
                    <a:pos x="T4" y="T5"/>
                  </a:cxn>
                  <a:cxn ang="0">
                    <a:pos x="T6" y="T7"/>
                  </a:cxn>
                </a:cxnLst>
                <a:rect l="0" t="0" r="r" b="b"/>
                <a:pathLst>
                  <a:path w="188" h="323">
                    <a:moveTo>
                      <a:pt x="0" y="132"/>
                    </a:moveTo>
                    <a:cubicBezTo>
                      <a:pt x="0" y="237"/>
                      <a:pt x="84" y="321"/>
                      <a:pt x="188" y="323"/>
                    </a:cubicBezTo>
                    <a:cubicBezTo>
                      <a:pt x="176" y="201"/>
                      <a:pt x="127" y="89"/>
                      <a:pt x="53" y="0"/>
                    </a:cubicBezTo>
                    <a:cubicBezTo>
                      <a:pt x="20" y="34"/>
                      <a:pt x="0" y="81"/>
                      <a:pt x="0" y="132"/>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0" name="Freeform 23"/>
              <p:cNvSpPr/>
              <p:nvPr/>
            </p:nvSpPr>
            <p:spPr bwMode="auto">
              <a:xfrm>
                <a:off x="2563165" y="2261014"/>
                <a:ext cx="738463" cy="894319"/>
              </a:xfrm>
              <a:custGeom>
                <a:avLst/>
                <a:gdLst>
                  <a:gd name="T0" fmla="*/ 0 w 398"/>
                  <a:gd name="T1" fmla="*/ 241 h 481"/>
                  <a:gd name="T2" fmla="*/ 241 w 398"/>
                  <a:gd name="T3" fmla="*/ 481 h 481"/>
                  <a:gd name="T4" fmla="*/ 375 w 398"/>
                  <a:gd name="T5" fmla="*/ 440 h 481"/>
                  <a:gd name="T6" fmla="*/ 398 w 398"/>
                  <a:gd name="T7" fmla="*/ 277 h 481"/>
                  <a:gd name="T8" fmla="*/ 342 w 398"/>
                  <a:gd name="T9" fmla="*/ 22 h 481"/>
                  <a:gd name="T10" fmla="*/ 241 w 398"/>
                  <a:gd name="T11" fmla="*/ 0 h 481"/>
                  <a:gd name="T12" fmla="*/ 0 w 398"/>
                  <a:gd name="T13" fmla="*/ 241 h 481"/>
                </a:gdLst>
                <a:ahLst/>
                <a:cxnLst>
                  <a:cxn ang="0">
                    <a:pos x="T0" y="T1"/>
                  </a:cxn>
                  <a:cxn ang="0">
                    <a:pos x="T2" y="T3"/>
                  </a:cxn>
                  <a:cxn ang="0">
                    <a:pos x="T4" y="T5"/>
                  </a:cxn>
                  <a:cxn ang="0">
                    <a:pos x="T6" y="T7"/>
                  </a:cxn>
                  <a:cxn ang="0">
                    <a:pos x="T8" y="T9"/>
                  </a:cxn>
                  <a:cxn ang="0">
                    <a:pos x="T10" y="T11"/>
                  </a:cxn>
                  <a:cxn ang="0">
                    <a:pos x="T12" y="T13"/>
                  </a:cxn>
                </a:cxnLst>
                <a:rect l="0" t="0" r="r" b="b"/>
                <a:pathLst>
                  <a:path w="398" h="481">
                    <a:moveTo>
                      <a:pt x="0" y="241"/>
                    </a:moveTo>
                    <a:cubicBezTo>
                      <a:pt x="0" y="374"/>
                      <a:pt x="108" y="481"/>
                      <a:pt x="241" y="481"/>
                    </a:cubicBezTo>
                    <a:cubicBezTo>
                      <a:pt x="291" y="481"/>
                      <a:pt x="337" y="466"/>
                      <a:pt x="375" y="440"/>
                    </a:cubicBezTo>
                    <a:cubicBezTo>
                      <a:pt x="390" y="388"/>
                      <a:pt x="398" y="333"/>
                      <a:pt x="398" y="277"/>
                    </a:cubicBezTo>
                    <a:cubicBezTo>
                      <a:pt x="398" y="186"/>
                      <a:pt x="378" y="100"/>
                      <a:pt x="342" y="22"/>
                    </a:cubicBezTo>
                    <a:cubicBezTo>
                      <a:pt x="311" y="8"/>
                      <a:pt x="277" y="0"/>
                      <a:pt x="241" y="0"/>
                    </a:cubicBezTo>
                    <a:cubicBezTo>
                      <a:pt x="108" y="0"/>
                      <a:pt x="0" y="108"/>
                      <a:pt x="0" y="241"/>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1" name="Freeform 24"/>
              <p:cNvSpPr/>
              <p:nvPr/>
            </p:nvSpPr>
            <p:spPr bwMode="auto">
              <a:xfrm>
                <a:off x="2574297" y="2261014"/>
                <a:ext cx="415618" cy="355316"/>
              </a:xfrm>
              <a:custGeom>
                <a:avLst/>
                <a:gdLst>
                  <a:gd name="T0" fmla="*/ 0 w 224"/>
                  <a:gd name="T1" fmla="*/ 188 h 191"/>
                  <a:gd name="T2" fmla="*/ 33 w 224"/>
                  <a:gd name="T3" fmla="*/ 191 h 191"/>
                  <a:gd name="T4" fmla="*/ 224 w 224"/>
                  <a:gd name="T5" fmla="*/ 0 h 191"/>
                  <a:gd name="T6" fmla="*/ 0 w 224"/>
                  <a:gd name="T7" fmla="*/ 188 h 191"/>
                </a:gdLst>
                <a:ahLst/>
                <a:cxnLst>
                  <a:cxn ang="0">
                    <a:pos x="T0" y="T1"/>
                  </a:cxn>
                  <a:cxn ang="0">
                    <a:pos x="T2" y="T3"/>
                  </a:cxn>
                  <a:cxn ang="0">
                    <a:pos x="T4" y="T5"/>
                  </a:cxn>
                  <a:cxn ang="0">
                    <a:pos x="T6" y="T7"/>
                  </a:cxn>
                </a:cxnLst>
                <a:rect l="0" t="0" r="r" b="b"/>
                <a:pathLst>
                  <a:path w="224" h="191">
                    <a:moveTo>
                      <a:pt x="0" y="188"/>
                    </a:moveTo>
                    <a:cubicBezTo>
                      <a:pt x="11" y="190"/>
                      <a:pt x="22" y="191"/>
                      <a:pt x="33" y="191"/>
                    </a:cubicBezTo>
                    <a:cubicBezTo>
                      <a:pt x="138" y="191"/>
                      <a:pt x="224" y="106"/>
                      <a:pt x="224" y="0"/>
                    </a:cubicBezTo>
                    <a:cubicBezTo>
                      <a:pt x="114" y="5"/>
                      <a:pt x="23" y="84"/>
                      <a:pt x="0" y="188"/>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2" name="Freeform 25"/>
              <p:cNvSpPr/>
              <p:nvPr/>
            </p:nvSpPr>
            <p:spPr bwMode="auto">
              <a:xfrm>
                <a:off x="2840364" y="3083913"/>
                <a:ext cx="420165" cy="581208"/>
              </a:xfrm>
              <a:custGeom>
                <a:avLst/>
                <a:gdLst>
                  <a:gd name="T0" fmla="*/ 224 w 224"/>
                  <a:gd name="T1" fmla="*/ 0 h 310"/>
                  <a:gd name="T2" fmla="*/ 0 w 224"/>
                  <a:gd name="T3" fmla="*/ 240 h 310"/>
                  <a:gd name="T4" fmla="*/ 11 w 224"/>
                  <a:gd name="T5" fmla="*/ 310 h 310"/>
                  <a:gd name="T6" fmla="*/ 224 w 224"/>
                  <a:gd name="T7" fmla="*/ 0 h 310"/>
                </a:gdLst>
                <a:ahLst/>
                <a:cxnLst>
                  <a:cxn ang="0">
                    <a:pos x="T0" y="T1"/>
                  </a:cxn>
                  <a:cxn ang="0">
                    <a:pos x="T2" y="T3"/>
                  </a:cxn>
                  <a:cxn ang="0">
                    <a:pos x="T4" y="T5"/>
                  </a:cxn>
                  <a:cxn ang="0">
                    <a:pos x="T6" y="T7"/>
                  </a:cxn>
                </a:cxnLst>
                <a:rect l="0" t="0" r="r" b="b"/>
                <a:pathLst>
                  <a:path w="224" h="310">
                    <a:moveTo>
                      <a:pt x="224" y="0"/>
                    </a:moveTo>
                    <a:cubicBezTo>
                      <a:pt x="99" y="9"/>
                      <a:pt x="0" y="113"/>
                      <a:pt x="0" y="240"/>
                    </a:cubicBezTo>
                    <a:cubicBezTo>
                      <a:pt x="0" y="265"/>
                      <a:pt x="4" y="288"/>
                      <a:pt x="11" y="310"/>
                    </a:cubicBezTo>
                    <a:cubicBezTo>
                      <a:pt x="112" y="233"/>
                      <a:pt x="187" y="125"/>
                      <a:pt x="224" y="0"/>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3" name="Freeform 26"/>
              <p:cNvSpPr/>
              <p:nvPr/>
            </p:nvSpPr>
            <p:spPr bwMode="auto">
              <a:xfrm>
                <a:off x="1104792" y="3017103"/>
                <a:ext cx="615077" cy="753306"/>
              </a:xfrm>
              <a:custGeom>
                <a:avLst/>
                <a:gdLst>
                  <a:gd name="T0" fmla="*/ 22 w 331"/>
                  <a:gd name="T1" fmla="*/ 0 h 405"/>
                  <a:gd name="T2" fmla="*/ 0 w 331"/>
                  <a:gd name="T3" fmla="*/ 0 h 405"/>
                  <a:gd name="T4" fmla="*/ 316 w 331"/>
                  <a:gd name="T5" fmla="*/ 405 h 405"/>
                  <a:gd name="T6" fmla="*/ 331 w 331"/>
                  <a:gd name="T7" fmla="*/ 309 h 405"/>
                  <a:gd name="T8" fmla="*/ 22 w 331"/>
                  <a:gd name="T9" fmla="*/ 0 h 405"/>
                </a:gdLst>
                <a:ahLst/>
                <a:cxnLst>
                  <a:cxn ang="0">
                    <a:pos x="T0" y="T1"/>
                  </a:cxn>
                  <a:cxn ang="0">
                    <a:pos x="T2" y="T3"/>
                  </a:cxn>
                  <a:cxn ang="0">
                    <a:pos x="T4" y="T5"/>
                  </a:cxn>
                  <a:cxn ang="0">
                    <a:pos x="T6" y="T7"/>
                  </a:cxn>
                  <a:cxn ang="0">
                    <a:pos x="T8" y="T9"/>
                  </a:cxn>
                </a:cxnLst>
                <a:rect l="0" t="0" r="r" b="b"/>
                <a:pathLst>
                  <a:path w="331" h="405">
                    <a:moveTo>
                      <a:pt x="22" y="0"/>
                    </a:moveTo>
                    <a:cubicBezTo>
                      <a:pt x="14" y="0"/>
                      <a:pt x="7" y="0"/>
                      <a:pt x="0" y="0"/>
                    </a:cubicBezTo>
                    <a:cubicBezTo>
                      <a:pt x="40" y="178"/>
                      <a:pt x="158" y="325"/>
                      <a:pt x="316" y="405"/>
                    </a:cubicBezTo>
                    <a:cubicBezTo>
                      <a:pt x="326" y="375"/>
                      <a:pt x="331" y="343"/>
                      <a:pt x="331" y="309"/>
                    </a:cubicBezTo>
                    <a:cubicBezTo>
                      <a:pt x="331" y="138"/>
                      <a:pt x="193" y="0"/>
                      <a:pt x="22" y="0"/>
                    </a:cubicBezTo>
                    <a:close/>
                  </a:path>
                </a:pathLst>
              </a:cu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4" name="Freeform 27"/>
              <p:cNvSpPr/>
              <p:nvPr/>
            </p:nvSpPr>
            <p:spPr bwMode="auto">
              <a:xfrm>
                <a:off x="1406301" y="2974428"/>
                <a:ext cx="1229226" cy="912874"/>
              </a:xfrm>
              <a:custGeom>
                <a:avLst/>
                <a:gdLst>
                  <a:gd name="T0" fmla="*/ 331 w 662"/>
                  <a:gd name="T1" fmla="*/ 0 h 491"/>
                  <a:gd name="T2" fmla="*/ 0 w 662"/>
                  <a:gd name="T3" fmla="*/ 317 h 491"/>
                  <a:gd name="T4" fmla="*/ 422 w 662"/>
                  <a:gd name="T5" fmla="*/ 491 h 491"/>
                  <a:gd name="T6" fmla="*/ 639 w 662"/>
                  <a:gd name="T7" fmla="*/ 451 h 491"/>
                  <a:gd name="T8" fmla="*/ 662 w 662"/>
                  <a:gd name="T9" fmla="*/ 331 h 491"/>
                  <a:gd name="T10" fmla="*/ 331 w 662"/>
                  <a:gd name="T11" fmla="*/ 0 h 491"/>
                </a:gdLst>
                <a:ahLst/>
                <a:cxnLst>
                  <a:cxn ang="0">
                    <a:pos x="T0" y="T1"/>
                  </a:cxn>
                  <a:cxn ang="0">
                    <a:pos x="T2" y="T3"/>
                  </a:cxn>
                  <a:cxn ang="0">
                    <a:pos x="T4" y="T5"/>
                  </a:cxn>
                  <a:cxn ang="0">
                    <a:pos x="T6" y="T7"/>
                  </a:cxn>
                  <a:cxn ang="0">
                    <a:pos x="T8" y="T9"/>
                  </a:cxn>
                  <a:cxn ang="0">
                    <a:pos x="T10" y="T11"/>
                  </a:cxn>
                </a:cxnLst>
                <a:rect l="0" t="0" r="r" b="b"/>
                <a:pathLst>
                  <a:path w="662" h="491">
                    <a:moveTo>
                      <a:pt x="331" y="0"/>
                    </a:moveTo>
                    <a:cubicBezTo>
                      <a:pt x="153" y="0"/>
                      <a:pt x="7" y="141"/>
                      <a:pt x="0" y="317"/>
                    </a:cubicBezTo>
                    <a:cubicBezTo>
                      <a:pt x="108" y="425"/>
                      <a:pt x="258" y="491"/>
                      <a:pt x="422" y="491"/>
                    </a:cubicBezTo>
                    <a:cubicBezTo>
                      <a:pt x="499" y="491"/>
                      <a:pt x="572" y="477"/>
                      <a:pt x="639" y="451"/>
                    </a:cubicBezTo>
                    <a:cubicBezTo>
                      <a:pt x="654" y="414"/>
                      <a:pt x="662" y="373"/>
                      <a:pt x="662" y="331"/>
                    </a:cubicBezTo>
                    <a:cubicBezTo>
                      <a:pt x="662" y="148"/>
                      <a:pt x="514" y="0"/>
                      <a:pt x="331" y="0"/>
                    </a:cubicBezTo>
                    <a:close/>
                  </a:path>
                </a:pathLst>
              </a:cu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5" name="Freeform 28"/>
              <p:cNvSpPr/>
              <p:nvPr/>
            </p:nvSpPr>
            <p:spPr bwMode="auto">
              <a:xfrm>
                <a:off x="2335874" y="2933609"/>
                <a:ext cx="874838" cy="872054"/>
              </a:xfrm>
              <a:custGeom>
                <a:avLst/>
                <a:gdLst>
                  <a:gd name="T0" fmla="*/ 471 w 471"/>
                  <a:gd name="T1" fmla="*/ 153 h 469"/>
                  <a:gd name="T2" fmla="*/ 244 w 471"/>
                  <a:gd name="T3" fmla="*/ 0 h 469"/>
                  <a:gd name="T4" fmla="*/ 0 w 471"/>
                  <a:gd name="T5" fmla="*/ 244 h 469"/>
                  <a:gd name="T6" fmla="*/ 149 w 471"/>
                  <a:gd name="T7" fmla="*/ 469 h 469"/>
                  <a:gd name="T8" fmla="*/ 471 w 471"/>
                  <a:gd name="T9" fmla="*/ 153 h 469"/>
                </a:gdLst>
                <a:ahLst/>
                <a:cxnLst>
                  <a:cxn ang="0">
                    <a:pos x="T0" y="T1"/>
                  </a:cxn>
                  <a:cxn ang="0">
                    <a:pos x="T2" y="T3"/>
                  </a:cxn>
                  <a:cxn ang="0">
                    <a:pos x="T4" y="T5"/>
                  </a:cxn>
                  <a:cxn ang="0">
                    <a:pos x="T6" y="T7"/>
                  </a:cxn>
                  <a:cxn ang="0">
                    <a:pos x="T8" y="T9"/>
                  </a:cxn>
                </a:cxnLst>
                <a:rect l="0" t="0" r="r" b="b"/>
                <a:pathLst>
                  <a:path w="471" h="469">
                    <a:moveTo>
                      <a:pt x="471" y="153"/>
                    </a:moveTo>
                    <a:cubicBezTo>
                      <a:pt x="435" y="63"/>
                      <a:pt x="347" y="0"/>
                      <a:pt x="244" y="0"/>
                    </a:cubicBezTo>
                    <a:cubicBezTo>
                      <a:pt x="109" y="0"/>
                      <a:pt x="0" y="109"/>
                      <a:pt x="0" y="244"/>
                    </a:cubicBezTo>
                    <a:cubicBezTo>
                      <a:pt x="0" y="345"/>
                      <a:pt x="61" y="432"/>
                      <a:pt x="149" y="469"/>
                    </a:cubicBezTo>
                    <a:cubicBezTo>
                      <a:pt x="293" y="410"/>
                      <a:pt x="409" y="296"/>
                      <a:pt x="471" y="153"/>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6" name="Oval 30"/>
              <p:cNvSpPr>
                <a:spLocks noChangeArrowheads="1"/>
              </p:cNvSpPr>
              <p:nvPr/>
            </p:nvSpPr>
            <p:spPr bwMode="auto">
              <a:xfrm>
                <a:off x="2540899" y="1675625"/>
                <a:ext cx="493546" cy="496329"/>
              </a:xfrm>
              <a:prstGeom prst="ellipse">
                <a:avLst/>
              </a:prstGeom>
              <a:solidFill>
                <a:schemeClr val="accent2">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7" name="Oval 11"/>
              <p:cNvSpPr>
                <a:spLocks noChangeArrowheads="1"/>
              </p:cNvSpPr>
              <p:nvPr/>
            </p:nvSpPr>
            <p:spPr bwMode="auto">
              <a:xfrm>
                <a:off x="1833627" y="2696302"/>
                <a:ext cx="557332" cy="556080"/>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8" name="Oval 11"/>
              <p:cNvSpPr>
                <a:spLocks noChangeArrowheads="1"/>
              </p:cNvSpPr>
              <p:nvPr/>
            </p:nvSpPr>
            <p:spPr bwMode="auto">
              <a:xfrm>
                <a:off x="2226489" y="2491874"/>
                <a:ext cx="249471" cy="248912"/>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grpSp>
        <p:sp>
          <p:nvSpPr>
            <p:cNvPr id="23" name="椭圆 22"/>
            <p:cNvSpPr/>
            <p:nvPr/>
          </p:nvSpPr>
          <p:spPr>
            <a:xfrm>
              <a:off x="4251572" y="2232063"/>
              <a:ext cx="553478" cy="553476"/>
            </a:xfrm>
            <a:prstGeom prst="ellipse">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9900"/>
                </a:solidFill>
                <a:effectLst/>
                <a:uLnTx/>
                <a:uFillTx/>
                <a:latin typeface="华文细黑" pitchFamily="2" charset="-122"/>
                <a:ea typeface="华文细黑" pitchFamily="2" charset="-122"/>
                <a:cs typeface="+mn-cs"/>
              </a:endParaRPr>
            </a:p>
          </p:txBody>
        </p:sp>
      </p:grpSp>
      <p:sp>
        <p:nvSpPr>
          <p:cNvPr id="2" name="矩形 1"/>
          <p:cNvSpPr/>
          <p:nvPr/>
        </p:nvSpPr>
        <p:spPr>
          <a:xfrm>
            <a:off x="704749" y="2844284"/>
            <a:ext cx="7701873" cy="646331"/>
          </a:xfrm>
          <a:prstGeom prst="rect">
            <a:avLst/>
          </a:prstGeom>
        </p:spPr>
        <p:txBody>
          <a:bodyPr wrap="square">
            <a:spAutoFit/>
          </a:bodyPr>
          <a:lstStyle/>
          <a:p>
            <a:pPr lvl="0" algn="ctr"/>
            <a:r>
              <a:rPr lang="zh-CN" altLang="en-US" sz="3600" b="1" dirty="0">
                <a:solidFill>
                  <a:srgbClr val="009900"/>
                </a:solidFill>
                <a:latin typeface="宋体" pitchFamily="2" charset="-122"/>
                <a:ea typeface="宋体" pitchFamily="2" charset="-122"/>
              </a:rPr>
              <a:t>银行业的主要风险类型</a:t>
            </a:r>
          </a:p>
        </p:txBody>
      </p:sp>
      <p:sp>
        <p:nvSpPr>
          <p:cNvPr id="3" name="文本框 2"/>
          <p:cNvSpPr txBox="1"/>
          <p:nvPr/>
        </p:nvSpPr>
        <p:spPr>
          <a:xfrm>
            <a:off x="4324698" y="1824850"/>
            <a:ext cx="6599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9900"/>
                </a:solidFill>
                <a:effectLst/>
                <a:uLnTx/>
                <a:uFillTx/>
                <a:latin typeface="Times New Roman" pitchFamily="18" charset="0"/>
                <a:ea typeface="华文细黑"/>
                <a:cs typeface="Times New Roman" pitchFamily="18" charset="0"/>
              </a:rPr>
              <a:t>1.6</a:t>
            </a:r>
            <a:endParaRPr kumimoji="0" lang="zh-CN" altLang="en-US" sz="1800" b="0" i="0" u="none" strike="noStrike" kern="1200" cap="none" spc="0" normalizeH="0" baseline="0" noProof="0" dirty="0">
              <a:ln>
                <a:noFill/>
              </a:ln>
              <a:solidFill>
                <a:srgbClr val="009900"/>
              </a:solidFill>
              <a:effectLst/>
              <a:uLnTx/>
              <a:uFillTx/>
              <a:latin typeface="Times New Roman" pitchFamily="18" charset="0"/>
              <a:ea typeface="华文细黑"/>
              <a:cs typeface="Times New Roman" pitchFamily="18" charset="0"/>
            </a:endParaRPr>
          </a:p>
        </p:txBody>
      </p:sp>
    </p:spTree>
    <p:extLst>
      <p:ext uri="{BB962C8B-B14F-4D97-AF65-F5344CB8AC3E}">
        <p14:creationId xmlns:p14="http://schemas.microsoft.com/office/powerpoint/2010/main" val="160868393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7727"/>
            <a:ext cx="8229600" cy="793069"/>
          </a:xfrm>
        </p:spPr>
        <p:txBody>
          <a:bodyPr>
            <a:normAutofit/>
          </a:bodyPr>
          <a:lstStyle/>
          <a:p>
            <a:pPr algn="l"/>
            <a:r>
              <a:rPr lang="zh-CN" altLang="en-US" sz="2800" b="1" dirty="0">
                <a:latin typeface="宋体" pitchFamily="2" charset="-122"/>
                <a:ea typeface="宋体" pitchFamily="2" charset="-122"/>
              </a:rPr>
              <a:t>（一）市场风险</a:t>
            </a:r>
          </a:p>
        </p:txBody>
      </p:sp>
      <p:sp>
        <p:nvSpPr>
          <p:cNvPr id="4" name="矩形 3"/>
          <p:cNvSpPr/>
          <p:nvPr/>
        </p:nvSpPr>
        <p:spPr>
          <a:xfrm>
            <a:off x="0" y="380236"/>
            <a:ext cx="395536"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华文细黑" pitchFamily="2" charset="-122"/>
            </a:endParaRPr>
          </a:p>
        </p:txBody>
      </p:sp>
      <p:sp>
        <p:nvSpPr>
          <p:cNvPr id="7" name="内容占位符 6">
            <a:extLst>
              <a:ext uri="{FF2B5EF4-FFF2-40B4-BE49-F238E27FC236}">
                <a16:creationId xmlns:a16="http://schemas.microsoft.com/office/drawing/2014/main" id="{E3FB3D15-8C0F-45DA-ABB7-925A6DE73297}"/>
              </a:ext>
            </a:extLst>
          </p:cNvPr>
          <p:cNvSpPr>
            <a:spLocks noGrp="1"/>
          </p:cNvSpPr>
          <p:nvPr>
            <p:ph idx="1"/>
          </p:nvPr>
        </p:nvSpPr>
        <p:spPr>
          <a:xfrm>
            <a:off x="395536" y="986779"/>
            <a:ext cx="8229600" cy="3774897"/>
          </a:xfrm>
        </p:spPr>
        <p:txBody>
          <a:bodyPr/>
          <a:lstStyle/>
          <a:p>
            <a:r>
              <a:rPr lang="zh-CN" altLang="en-US" sz="2800" dirty="0"/>
              <a:t>市场风险是指因市场价格（利率、汇率、股票价格和商品价格）的不利变动而使银行表内和表外业务发生损失的风险。</a:t>
            </a:r>
            <a:endParaRPr lang="en-US" altLang="zh-CN" sz="2800" dirty="0"/>
          </a:p>
          <a:p>
            <a:r>
              <a:rPr lang="zh-CN" altLang="en-US" dirty="0">
                <a:latin typeface="+mn-ea"/>
              </a:rPr>
              <a:t>利率风险按照来源的不同，细分为：</a:t>
            </a:r>
            <a:endParaRPr lang="en-US" altLang="zh-CN" dirty="0">
              <a:latin typeface="+mn-ea"/>
            </a:endParaRPr>
          </a:p>
          <a:p>
            <a:pPr>
              <a:buFont typeface="Wingdings" panose="05000000000000000000" pitchFamily="2" charset="2"/>
              <a:buChar char="ü"/>
            </a:pPr>
            <a:r>
              <a:rPr lang="zh-CN" altLang="en-US" sz="2400" dirty="0">
                <a:latin typeface="+mn-ea"/>
              </a:rPr>
              <a:t>重新定价风险、</a:t>
            </a:r>
            <a:endParaRPr lang="en-US" altLang="zh-CN" sz="2400" dirty="0">
              <a:latin typeface="+mn-ea"/>
            </a:endParaRPr>
          </a:p>
          <a:p>
            <a:pPr>
              <a:buFont typeface="Wingdings" panose="05000000000000000000" pitchFamily="2" charset="2"/>
              <a:buChar char="ü"/>
            </a:pPr>
            <a:r>
              <a:rPr lang="zh-CN" altLang="en-US" sz="2400" dirty="0">
                <a:latin typeface="+mn-ea"/>
              </a:rPr>
              <a:t>收益率曲线风险</a:t>
            </a:r>
            <a:endParaRPr lang="en-US" altLang="zh-CN" sz="2400" dirty="0">
              <a:latin typeface="+mn-ea"/>
            </a:endParaRPr>
          </a:p>
          <a:p>
            <a:pPr>
              <a:buFont typeface="Wingdings" panose="05000000000000000000" pitchFamily="2" charset="2"/>
              <a:buChar char="ü"/>
            </a:pPr>
            <a:r>
              <a:rPr lang="zh-CN" altLang="en-US" sz="2400" dirty="0">
                <a:latin typeface="+mn-ea"/>
              </a:rPr>
              <a:t>基准风险</a:t>
            </a:r>
            <a:endParaRPr lang="en-US" altLang="zh-CN" sz="2400" dirty="0">
              <a:latin typeface="+mn-ea"/>
            </a:endParaRPr>
          </a:p>
          <a:p>
            <a:pPr>
              <a:buFont typeface="Wingdings" panose="05000000000000000000" pitchFamily="2" charset="2"/>
              <a:buChar char="ü"/>
            </a:pPr>
            <a:r>
              <a:rPr lang="zh-CN" altLang="en-US" sz="2400" dirty="0">
                <a:latin typeface="+mn-ea"/>
              </a:rPr>
              <a:t>期权性风险</a:t>
            </a:r>
            <a:endParaRPr lang="en-US" altLang="zh-CN" sz="2400" dirty="0">
              <a:latin typeface="+mn-ea"/>
            </a:endParaRPr>
          </a:p>
          <a:p>
            <a:pPr marL="0" indent="0">
              <a:buNone/>
            </a:pPr>
            <a:endParaRPr lang="zh-CN" altLang="en-US" dirty="0">
              <a:latin typeface="+mn-ea"/>
            </a:endParaRPr>
          </a:p>
        </p:txBody>
      </p:sp>
    </p:spTree>
    <p:extLst>
      <p:ext uri="{BB962C8B-B14F-4D97-AF65-F5344CB8AC3E}">
        <p14:creationId xmlns:p14="http://schemas.microsoft.com/office/powerpoint/2010/main" val="5367720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150326-45A7-4C6A-BDC2-BE0DBC95025D}"/>
              </a:ext>
            </a:extLst>
          </p:cNvPr>
          <p:cNvSpPr>
            <a:spLocks noGrp="1"/>
          </p:cNvSpPr>
          <p:nvPr>
            <p:ph type="title"/>
          </p:nvPr>
        </p:nvSpPr>
        <p:spPr/>
        <p:txBody>
          <a:bodyPr/>
          <a:lstStyle/>
          <a:p>
            <a:pPr algn="l"/>
            <a:r>
              <a:rPr lang="zh-CN" altLang="en-US" dirty="0"/>
              <a:t>（二）信用风险</a:t>
            </a:r>
          </a:p>
        </p:txBody>
      </p:sp>
      <p:sp>
        <p:nvSpPr>
          <p:cNvPr id="3" name="内容占位符 2">
            <a:extLst>
              <a:ext uri="{FF2B5EF4-FFF2-40B4-BE49-F238E27FC236}">
                <a16:creationId xmlns:a16="http://schemas.microsoft.com/office/drawing/2014/main" id="{3A89C288-9B3D-48AC-B3D6-AC3B585F7B11}"/>
              </a:ext>
            </a:extLst>
          </p:cNvPr>
          <p:cNvSpPr>
            <a:spLocks noGrp="1"/>
          </p:cNvSpPr>
          <p:nvPr>
            <p:ph idx="1"/>
          </p:nvPr>
        </p:nvSpPr>
        <p:spPr/>
        <p:txBody>
          <a:bodyPr/>
          <a:lstStyle/>
          <a:p>
            <a:r>
              <a:rPr lang="zh-CN" altLang="en-US" sz="2800" b="1" dirty="0"/>
              <a:t>信用风险</a:t>
            </a:r>
            <a:r>
              <a:rPr lang="zh-CN" altLang="en-US" sz="2800" dirty="0"/>
              <a:t>是指债务人或交易对手未能履行合同所规定的义务或信用质量发生变化，影响金融工具价值，从而给债权人或金融工具持有人带来损失的风险。</a:t>
            </a:r>
          </a:p>
        </p:txBody>
      </p:sp>
    </p:spTree>
    <p:extLst>
      <p:ext uri="{BB962C8B-B14F-4D97-AF65-F5344CB8AC3E}">
        <p14:creationId xmlns:p14="http://schemas.microsoft.com/office/powerpoint/2010/main" val="346627916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5A9C18-724B-4933-ADBA-BD53AF75BE7D}"/>
              </a:ext>
            </a:extLst>
          </p:cNvPr>
          <p:cNvSpPr>
            <a:spLocks noGrp="1"/>
          </p:cNvSpPr>
          <p:nvPr>
            <p:ph type="title"/>
          </p:nvPr>
        </p:nvSpPr>
        <p:spPr/>
        <p:txBody>
          <a:bodyPr/>
          <a:lstStyle/>
          <a:p>
            <a:pPr algn="l"/>
            <a:r>
              <a:rPr lang="zh-CN" altLang="en-US" dirty="0"/>
              <a:t>（三）操作风险</a:t>
            </a:r>
          </a:p>
        </p:txBody>
      </p:sp>
      <p:sp>
        <p:nvSpPr>
          <p:cNvPr id="3" name="内容占位符 2">
            <a:extLst>
              <a:ext uri="{FF2B5EF4-FFF2-40B4-BE49-F238E27FC236}">
                <a16:creationId xmlns:a16="http://schemas.microsoft.com/office/drawing/2014/main" id="{8CE99DBB-7B44-4802-96BE-011204F691EB}"/>
              </a:ext>
            </a:extLst>
          </p:cNvPr>
          <p:cNvSpPr>
            <a:spLocks noGrp="1"/>
          </p:cNvSpPr>
          <p:nvPr>
            <p:ph idx="1"/>
          </p:nvPr>
        </p:nvSpPr>
        <p:spPr/>
        <p:txBody>
          <a:bodyPr/>
          <a:lstStyle/>
          <a:p>
            <a:r>
              <a:rPr lang="zh-CN" altLang="en-US" sz="2800" dirty="0"/>
              <a:t>操作风险是巴塞尔新资本协议对操作风险的定义有两种类型：一种是基于损失发生原因的定义，一种是基于损失事件类型的定义。</a:t>
            </a:r>
            <a:endParaRPr lang="en-US" altLang="zh-CN" sz="2800" dirty="0"/>
          </a:p>
          <a:p>
            <a:r>
              <a:rPr lang="zh-CN" altLang="en-US" sz="2800" dirty="0"/>
              <a:t>操作风险的特征</a:t>
            </a:r>
            <a:endParaRPr lang="en-US" altLang="zh-CN" sz="2800" dirty="0"/>
          </a:p>
          <a:p>
            <a:pPr>
              <a:buFont typeface="Wingdings" panose="05000000000000000000" pitchFamily="2" charset="2"/>
              <a:buChar char="ü"/>
            </a:pPr>
            <a:r>
              <a:rPr lang="zh-CN" altLang="en-US" sz="2800" dirty="0"/>
              <a:t>普遍性</a:t>
            </a:r>
            <a:endParaRPr lang="en-US" altLang="zh-CN" sz="2800" dirty="0"/>
          </a:p>
          <a:p>
            <a:pPr>
              <a:buFont typeface="Wingdings" panose="05000000000000000000" pitchFamily="2" charset="2"/>
              <a:buChar char="ü"/>
            </a:pPr>
            <a:r>
              <a:rPr lang="zh-CN" altLang="en-US" sz="2800" dirty="0"/>
              <a:t>非赢利性</a:t>
            </a:r>
            <a:endParaRPr lang="en-US" altLang="zh-CN" sz="2800" dirty="0"/>
          </a:p>
          <a:p>
            <a:pPr>
              <a:buFont typeface="Wingdings" panose="05000000000000000000" pitchFamily="2" charset="2"/>
              <a:buChar char="ü"/>
            </a:pPr>
            <a:r>
              <a:rPr lang="zh-CN" altLang="en-US" sz="2800" dirty="0"/>
              <a:t>可转化性</a:t>
            </a:r>
          </a:p>
        </p:txBody>
      </p:sp>
    </p:spTree>
    <p:extLst>
      <p:ext uri="{BB962C8B-B14F-4D97-AF65-F5344CB8AC3E}">
        <p14:creationId xmlns:p14="http://schemas.microsoft.com/office/powerpoint/2010/main" val="370975865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FCA906-5579-4E80-8DD2-9AF34FF4BB88}"/>
              </a:ext>
            </a:extLst>
          </p:cNvPr>
          <p:cNvSpPr>
            <a:spLocks noGrp="1"/>
          </p:cNvSpPr>
          <p:nvPr>
            <p:ph type="title"/>
          </p:nvPr>
        </p:nvSpPr>
        <p:spPr/>
        <p:txBody>
          <a:bodyPr/>
          <a:lstStyle/>
          <a:p>
            <a:pPr algn="l"/>
            <a:r>
              <a:rPr lang="zh-CN" altLang="en-US" dirty="0"/>
              <a:t>（四）流动性风险</a:t>
            </a:r>
          </a:p>
        </p:txBody>
      </p:sp>
      <p:sp>
        <p:nvSpPr>
          <p:cNvPr id="3" name="内容占位符 2">
            <a:extLst>
              <a:ext uri="{FF2B5EF4-FFF2-40B4-BE49-F238E27FC236}">
                <a16:creationId xmlns:a16="http://schemas.microsoft.com/office/drawing/2014/main" id="{3D6E4E6E-AB2B-47EF-8A48-886A21D9F737}"/>
              </a:ext>
            </a:extLst>
          </p:cNvPr>
          <p:cNvSpPr>
            <a:spLocks noGrp="1"/>
          </p:cNvSpPr>
          <p:nvPr>
            <p:ph idx="1"/>
          </p:nvPr>
        </p:nvSpPr>
        <p:spPr/>
        <p:txBody>
          <a:bodyPr/>
          <a:lstStyle/>
          <a:p>
            <a:r>
              <a:rPr lang="zh-CN" altLang="en-US" dirty="0"/>
              <a:t>流动性风险是指商业银行无法以合理成本及时获得充足资金，用于偿付到期债务、履行其他支付义务和满足正常业务开展的其他资金需求的风险。</a:t>
            </a:r>
            <a:endParaRPr lang="en-US" altLang="zh-CN" dirty="0"/>
          </a:p>
          <a:p>
            <a:r>
              <a:rPr lang="zh-CN" altLang="en-US" dirty="0"/>
              <a:t>流动性风险既包含融资流动性风险，又包含资产流动性风险。</a:t>
            </a:r>
          </a:p>
        </p:txBody>
      </p:sp>
    </p:spTree>
    <p:extLst>
      <p:ext uri="{BB962C8B-B14F-4D97-AF65-F5344CB8AC3E}">
        <p14:creationId xmlns:p14="http://schemas.microsoft.com/office/powerpoint/2010/main" val="126713033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C7120B-8E6B-44CE-89B9-DDD6D4F70EFA}"/>
              </a:ext>
            </a:extLst>
          </p:cNvPr>
          <p:cNvSpPr>
            <a:spLocks noGrp="1"/>
          </p:cNvSpPr>
          <p:nvPr>
            <p:ph type="title"/>
          </p:nvPr>
        </p:nvSpPr>
        <p:spPr/>
        <p:txBody>
          <a:bodyPr/>
          <a:lstStyle/>
          <a:p>
            <a:pPr algn="l"/>
            <a:r>
              <a:rPr lang="zh-CN" altLang="en-US" dirty="0"/>
              <a:t>（五）国家风险</a:t>
            </a:r>
          </a:p>
        </p:txBody>
      </p:sp>
      <p:sp>
        <p:nvSpPr>
          <p:cNvPr id="3" name="内容占位符 2">
            <a:extLst>
              <a:ext uri="{FF2B5EF4-FFF2-40B4-BE49-F238E27FC236}">
                <a16:creationId xmlns:a16="http://schemas.microsoft.com/office/drawing/2014/main" id="{DFEAFEE5-EE62-4915-A56F-ED80C990AC87}"/>
              </a:ext>
            </a:extLst>
          </p:cNvPr>
          <p:cNvSpPr>
            <a:spLocks noGrp="1"/>
          </p:cNvSpPr>
          <p:nvPr>
            <p:ph idx="1"/>
          </p:nvPr>
        </p:nvSpPr>
        <p:spPr/>
        <p:txBody>
          <a:bodyPr/>
          <a:lstStyle/>
          <a:p>
            <a:pPr marL="0" indent="0">
              <a:buNone/>
            </a:pPr>
            <a:r>
              <a:rPr lang="zh-CN" altLang="en-US" dirty="0"/>
              <a:t>国家风险是指经济主体在与非本国居民进行国际经贸与金融往来中，由于别国经济、政治和社会等方面的变化而遭受损失的可能性。</a:t>
            </a:r>
          </a:p>
        </p:txBody>
      </p:sp>
    </p:spTree>
    <p:extLst>
      <p:ext uri="{BB962C8B-B14F-4D97-AF65-F5344CB8AC3E}">
        <p14:creationId xmlns:p14="http://schemas.microsoft.com/office/powerpoint/2010/main" val="312217809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C8A7E9-E0A6-4D2E-881B-B4B4F3DFA17F}"/>
              </a:ext>
            </a:extLst>
          </p:cNvPr>
          <p:cNvSpPr>
            <a:spLocks noGrp="1"/>
          </p:cNvSpPr>
          <p:nvPr>
            <p:ph type="title"/>
          </p:nvPr>
        </p:nvSpPr>
        <p:spPr/>
        <p:txBody>
          <a:bodyPr/>
          <a:lstStyle/>
          <a:p>
            <a:pPr algn="l"/>
            <a:r>
              <a:rPr lang="zh-CN" altLang="en-US" dirty="0"/>
              <a:t>（六）声誉风险</a:t>
            </a:r>
          </a:p>
        </p:txBody>
      </p:sp>
      <p:sp>
        <p:nvSpPr>
          <p:cNvPr id="3" name="内容占位符 2">
            <a:extLst>
              <a:ext uri="{FF2B5EF4-FFF2-40B4-BE49-F238E27FC236}">
                <a16:creationId xmlns:a16="http://schemas.microsoft.com/office/drawing/2014/main" id="{EC7F45C3-CA38-45AF-B67B-70C169E6711E}"/>
              </a:ext>
            </a:extLst>
          </p:cNvPr>
          <p:cNvSpPr>
            <a:spLocks noGrp="1"/>
          </p:cNvSpPr>
          <p:nvPr>
            <p:ph idx="1"/>
          </p:nvPr>
        </p:nvSpPr>
        <p:spPr/>
        <p:txBody>
          <a:bodyPr/>
          <a:lstStyle/>
          <a:p>
            <a:pPr marL="0" indent="0">
              <a:buNone/>
            </a:pPr>
            <a:r>
              <a:rPr lang="zh-CN" altLang="en-US" dirty="0"/>
              <a:t>声誉风险是指由于意外事件、商业银行的政策调整、市场表现或日常经营活动所产生的负面结果，可能对商业银行的这种无形资产造成损失的风险。</a:t>
            </a:r>
          </a:p>
        </p:txBody>
      </p:sp>
    </p:spTree>
    <p:extLst>
      <p:ext uri="{BB962C8B-B14F-4D97-AF65-F5344CB8AC3E}">
        <p14:creationId xmlns:p14="http://schemas.microsoft.com/office/powerpoint/2010/main" val="533178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D4172-E2A3-45E0-9534-E77CCFCB9E93}"/>
              </a:ext>
            </a:extLst>
          </p:cNvPr>
          <p:cNvSpPr>
            <a:spLocks noGrp="1"/>
          </p:cNvSpPr>
          <p:nvPr>
            <p:ph type="title"/>
          </p:nvPr>
        </p:nvSpPr>
        <p:spPr/>
        <p:txBody>
          <a:bodyPr/>
          <a:lstStyle/>
          <a:p>
            <a:pPr algn="l"/>
            <a:r>
              <a:rPr lang="zh-CN" altLang="en-US" dirty="0"/>
              <a:t>（七）法律风险</a:t>
            </a:r>
          </a:p>
        </p:txBody>
      </p:sp>
      <p:sp>
        <p:nvSpPr>
          <p:cNvPr id="3" name="内容占位符 2">
            <a:extLst>
              <a:ext uri="{FF2B5EF4-FFF2-40B4-BE49-F238E27FC236}">
                <a16:creationId xmlns:a16="http://schemas.microsoft.com/office/drawing/2014/main" id="{CECDA1D6-461C-4B86-9ABB-1D5A4A6BD4A5}"/>
              </a:ext>
            </a:extLst>
          </p:cNvPr>
          <p:cNvSpPr>
            <a:spLocks noGrp="1"/>
          </p:cNvSpPr>
          <p:nvPr>
            <p:ph idx="1"/>
          </p:nvPr>
        </p:nvSpPr>
        <p:spPr/>
        <p:txBody>
          <a:bodyPr/>
          <a:lstStyle/>
          <a:p>
            <a:r>
              <a:rPr lang="zh-CN" altLang="en-US" b="1" dirty="0"/>
              <a:t>法律风险</a:t>
            </a:r>
            <a:r>
              <a:rPr lang="zh-CN" altLang="en-US" dirty="0"/>
              <a:t>是指商业银行的日常经营活动或各类交易应当遵守相关的商业准则和法律原则。</a:t>
            </a:r>
            <a:endParaRPr lang="en-US" altLang="zh-CN" dirty="0"/>
          </a:p>
          <a:p>
            <a:r>
              <a:rPr lang="zh-CN" altLang="en-US" dirty="0"/>
              <a:t>合规风险</a:t>
            </a:r>
            <a:endParaRPr lang="en-US" altLang="zh-CN" dirty="0"/>
          </a:p>
          <a:p>
            <a:r>
              <a:rPr lang="zh-CN" altLang="en-US" dirty="0"/>
              <a:t>监管风险</a:t>
            </a:r>
          </a:p>
        </p:txBody>
      </p:sp>
    </p:spTree>
    <p:extLst>
      <p:ext uri="{BB962C8B-B14F-4D97-AF65-F5344CB8AC3E}">
        <p14:creationId xmlns:p14="http://schemas.microsoft.com/office/powerpoint/2010/main" val="225740420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3488A-A420-403A-8B6D-AE8DC13BAB53}"/>
              </a:ext>
            </a:extLst>
          </p:cNvPr>
          <p:cNvSpPr>
            <a:spLocks noGrp="1"/>
          </p:cNvSpPr>
          <p:nvPr>
            <p:ph type="title"/>
          </p:nvPr>
        </p:nvSpPr>
        <p:spPr/>
        <p:txBody>
          <a:bodyPr/>
          <a:lstStyle/>
          <a:p>
            <a:pPr algn="l"/>
            <a:r>
              <a:rPr lang="zh-CN" altLang="en-US" dirty="0"/>
              <a:t>（八）战略风险</a:t>
            </a:r>
          </a:p>
        </p:txBody>
      </p:sp>
      <p:sp>
        <p:nvSpPr>
          <p:cNvPr id="3" name="内容占位符 2">
            <a:extLst>
              <a:ext uri="{FF2B5EF4-FFF2-40B4-BE49-F238E27FC236}">
                <a16:creationId xmlns:a16="http://schemas.microsoft.com/office/drawing/2014/main" id="{AF349EF2-7DB1-4097-875A-3FC276B23B84}"/>
              </a:ext>
            </a:extLst>
          </p:cNvPr>
          <p:cNvSpPr>
            <a:spLocks noGrp="1"/>
          </p:cNvSpPr>
          <p:nvPr>
            <p:ph idx="1"/>
          </p:nvPr>
        </p:nvSpPr>
        <p:spPr/>
        <p:txBody>
          <a:bodyPr/>
          <a:lstStyle/>
          <a:p>
            <a:pPr marL="0" indent="0">
              <a:buNone/>
            </a:pPr>
            <a:r>
              <a:rPr lang="zh-CN" altLang="en-US" b="1" dirty="0"/>
              <a:t>战略风险</a:t>
            </a:r>
            <a:r>
              <a:rPr lang="zh-CN" altLang="en-US" dirty="0"/>
              <a:t>是指金融机构在追求短期商业目的和长期目标的系统化管理过程中，不恰当的未来发展规划和战略决策所带来的对金融机构未来发展的潜在风险。</a:t>
            </a:r>
          </a:p>
        </p:txBody>
      </p:sp>
    </p:spTree>
    <p:extLst>
      <p:ext uri="{BB962C8B-B14F-4D97-AF65-F5344CB8AC3E}">
        <p14:creationId xmlns:p14="http://schemas.microsoft.com/office/powerpoint/2010/main" val="422929316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4043803" y="1181686"/>
            <a:ext cx="1056394" cy="1389270"/>
            <a:chOff x="3995936" y="1676400"/>
            <a:chExt cx="1056394" cy="1389270"/>
          </a:xfrm>
        </p:grpSpPr>
        <p:grpSp>
          <p:nvGrpSpPr>
            <p:cNvPr id="22" name="组合 21"/>
            <p:cNvGrpSpPr/>
            <p:nvPr/>
          </p:nvGrpSpPr>
          <p:grpSpPr>
            <a:xfrm>
              <a:off x="3995936" y="1676400"/>
              <a:ext cx="1056394" cy="1389270"/>
              <a:chOff x="1078816" y="964066"/>
              <a:chExt cx="2222812" cy="2923236"/>
            </a:xfrm>
          </p:grpSpPr>
          <p:sp>
            <p:nvSpPr>
              <p:cNvPr id="24" name="Freeform 7"/>
              <p:cNvSpPr/>
              <p:nvPr/>
            </p:nvSpPr>
            <p:spPr bwMode="auto">
              <a:xfrm>
                <a:off x="1078816" y="2540257"/>
                <a:ext cx="696716" cy="1019561"/>
              </a:xfrm>
              <a:custGeom>
                <a:avLst/>
                <a:gdLst>
                  <a:gd name="T0" fmla="*/ 94 w 375"/>
                  <a:gd name="T1" fmla="*/ 0 h 549"/>
                  <a:gd name="T2" fmla="*/ 11 w 375"/>
                  <a:gd name="T3" fmla="*/ 12 h 549"/>
                  <a:gd name="T4" fmla="*/ 0 w 375"/>
                  <a:gd name="T5" fmla="*/ 127 h 549"/>
                  <a:gd name="T6" fmla="*/ 174 w 375"/>
                  <a:gd name="T7" fmla="*/ 549 h 549"/>
                  <a:gd name="T8" fmla="*/ 375 w 375"/>
                  <a:gd name="T9" fmla="*/ 280 h 549"/>
                  <a:gd name="T10" fmla="*/ 94 w 375"/>
                  <a:gd name="T11" fmla="*/ 0 h 549"/>
                </a:gdLst>
                <a:ahLst/>
                <a:cxnLst>
                  <a:cxn ang="0">
                    <a:pos x="T0" y="T1"/>
                  </a:cxn>
                  <a:cxn ang="0">
                    <a:pos x="T2" y="T3"/>
                  </a:cxn>
                  <a:cxn ang="0">
                    <a:pos x="T4" y="T5"/>
                  </a:cxn>
                  <a:cxn ang="0">
                    <a:pos x="T6" y="T7"/>
                  </a:cxn>
                  <a:cxn ang="0">
                    <a:pos x="T8" y="T9"/>
                  </a:cxn>
                  <a:cxn ang="0">
                    <a:pos x="T10" y="T11"/>
                  </a:cxn>
                </a:cxnLst>
                <a:rect l="0" t="0" r="r" b="b"/>
                <a:pathLst>
                  <a:path w="375" h="549">
                    <a:moveTo>
                      <a:pt x="94" y="0"/>
                    </a:moveTo>
                    <a:cubicBezTo>
                      <a:pt x="65" y="0"/>
                      <a:pt x="37" y="4"/>
                      <a:pt x="11" y="12"/>
                    </a:cubicBezTo>
                    <a:cubicBezTo>
                      <a:pt x="3" y="49"/>
                      <a:pt x="0" y="87"/>
                      <a:pt x="0" y="127"/>
                    </a:cubicBezTo>
                    <a:cubicBezTo>
                      <a:pt x="0" y="291"/>
                      <a:pt x="66" y="441"/>
                      <a:pt x="174" y="549"/>
                    </a:cubicBezTo>
                    <a:cubicBezTo>
                      <a:pt x="290" y="514"/>
                      <a:pt x="375" y="407"/>
                      <a:pt x="375" y="280"/>
                    </a:cubicBezTo>
                    <a:cubicBezTo>
                      <a:pt x="375" y="125"/>
                      <a:pt x="249" y="0"/>
                      <a:pt x="94" y="0"/>
                    </a:cubicBezTo>
                    <a:close/>
                  </a:path>
                </a:pathLst>
              </a:cu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5" name="Freeform 8"/>
              <p:cNvSpPr/>
              <p:nvPr/>
            </p:nvSpPr>
            <p:spPr bwMode="auto">
              <a:xfrm>
                <a:off x="1088093" y="2231327"/>
                <a:ext cx="600234" cy="615077"/>
              </a:xfrm>
              <a:custGeom>
                <a:avLst/>
                <a:gdLst>
                  <a:gd name="T0" fmla="*/ 158 w 323"/>
                  <a:gd name="T1" fmla="*/ 0 h 331"/>
                  <a:gd name="T2" fmla="*/ 51 w 323"/>
                  <a:gd name="T3" fmla="*/ 38 h 331"/>
                  <a:gd name="T4" fmla="*/ 0 w 323"/>
                  <a:gd name="T5" fmla="*/ 216 h 331"/>
                  <a:gd name="T6" fmla="*/ 158 w 323"/>
                  <a:gd name="T7" fmla="*/ 331 h 331"/>
                  <a:gd name="T8" fmla="*/ 323 w 323"/>
                  <a:gd name="T9" fmla="*/ 166 h 331"/>
                  <a:gd name="T10" fmla="*/ 158 w 323"/>
                  <a:gd name="T11" fmla="*/ 0 h 331"/>
                </a:gdLst>
                <a:ahLst/>
                <a:cxnLst>
                  <a:cxn ang="0">
                    <a:pos x="T0" y="T1"/>
                  </a:cxn>
                  <a:cxn ang="0">
                    <a:pos x="T2" y="T3"/>
                  </a:cxn>
                  <a:cxn ang="0">
                    <a:pos x="T4" y="T5"/>
                  </a:cxn>
                  <a:cxn ang="0">
                    <a:pos x="T6" y="T7"/>
                  </a:cxn>
                  <a:cxn ang="0">
                    <a:pos x="T8" y="T9"/>
                  </a:cxn>
                  <a:cxn ang="0">
                    <a:pos x="T10" y="T11"/>
                  </a:cxn>
                </a:cxnLst>
                <a:rect l="0" t="0" r="r" b="b"/>
                <a:pathLst>
                  <a:path w="323" h="331">
                    <a:moveTo>
                      <a:pt x="158" y="0"/>
                    </a:moveTo>
                    <a:cubicBezTo>
                      <a:pt x="117" y="0"/>
                      <a:pt x="80" y="14"/>
                      <a:pt x="51" y="38"/>
                    </a:cubicBezTo>
                    <a:cubicBezTo>
                      <a:pt x="25" y="94"/>
                      <a:pt x="8" y="153"/>
                      <a:pt x="0" y="216"/>
                    </a:cubicBezTo>
                    <a:cubicBezTo>
                      <a:pt x="21" y="283"/>
                      <a:pt x="84" y="331"/>
                      <a:pt x="158" y="331"/>
                    </a:cubicBezTo>
                    <a:cubicBezTo>
                      <a:pt x="249" y="331"/>
                      <a:pt x="323" y="257"/>
                      <a:pt x="323" y="166"/>
                    </a:cubicBezTo>
                    <a:cubicBezTo>
                      <a:pt x="323" y="74"/>
                      <a:pt x="249" y="0"/>
                      <a:pt x="158" y="0"/>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6" name="Oval 9"/>
              <p:cNvSpPr>
                <a:spLocks noChangeArrowheads="1"/>
              </p:cNvSpPr>
              <p:nvPr/>
            </p:nvSpPr>
            <p:spPr bwMode="auto">
              <a:xfrm>
                <a:off x="1530616" y="2179723"/>
                <a:ext cx="506964" cy="507925"/>
              </a:xfrm>
              <a:prstGeom prst="ellipse">
                <a:avLst/>
              </a:prstGeom>
              <a:solidFill>
                <a:schemeClr val="accent5">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7" name="Oval 10"/>
              <p:cNvSpPr>
                <a:spLocks noChangeArrowheads="1"/>
              </p:cNvSpPr>
              <p:nvPr/>
            </p:nvSpPr>
            <p:spPr bwMode="auto">
              <a:xfrm>
                <a:off x="2050137" y="1993832"/>
                <a:ext cx="576113" cy="574257"/>
              </a:xfrm>
              <a:prstGeom prst="ellipse">
                <a:avLst/>
              </a:pr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8" name="Oval 11"/>
              <p:cNvSpPr>
                <a:spLocks noChangeArrowheads="1"/>
              </p:cNvSpPr>
              <p:nvPr/>
            </p:nvSpPr>
            <p:spPr bwMode="auto">
              <a:xfrm>
                <a:off x="1688327" y="1950229"/>
                <a:ext cx="413762" cy="412834"/>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29" name="Oval 12"/>
              <p:cNvSpPr>
                <a:spLocks noChangeArrowheads="1"/>
              </p:cNvSpPr>
              <p:nvPr/>
            </p:nvSpPr>
            <p:spPr bwMode="auto">
              <a:xfrm>
                <a:off x="1955510" y="1555021"/>
                <a:ext cx="256050" cy="256050"/>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0" name="Oval 13"/>
              <p:cNvSpPr>
                <a:spLocks noChangeArrowheads="1"/>
              </p:cNvSpPr>
              <p:nvPr/>
            </p:nvSpPr>
            <p:spPr bwMode="auto">
              <a:xfrm>
                <a:off x="2389682" y="1158887"/>
                <a:ext cx="86278" cy="87205"/>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1" name="Oval 14"/>
              <p:cNvSpPr>
                <a:spLocks noChangeArrowheads="1"/>
              </p:cNvSpPr>
              <p:nvPr/>
            </p:nvSpPr>
            <p:spPr bwMode="auto">
              <a:xfrm>
                <a:off x="1532470" y="1755408"/>
                <a:ext cx="85350" cy="85350"/>
              </a:xfrm>
              <a:prstGeom prst="ellipse">
                <a:avLst/>
              </a:pr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2" name="Oval 15"/>
              <p:cNvSpPr>
                <a:spLocks noChangeArrowheads="1"/>
              </p:cNvSpPr>
              <p:nvPr/>
            </p:nvSpPr>
            <p:spPr bwMode="auto">
              <a:xfrm>
                <a:off x="2068691" y="1905698"/>
                <a:ext cx="87205" cy="88133"/>
              </a:xfrm>
              <a:prstGeom prst="ellipse">
                <a:avLst/>
              </a:prstGeom>
              <a:solidFill>
                <a:schemeClr val="accent1">
                  <a:alpha val="8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3" name="Freeform 16"/>
              <p:cNvSpPr/>
              <p:nvPr/>
            </p:nvSpPr>
            <p:spPr bwMode="auto">
              <a:xfrm>
                <a:off x="1673483" y="1653359"/>
                <a:ext cx="376653" cy="377581"/>
              </a:xfrm>
              <a:custGeom>
                <a:avLst/>
                <a:gdLst>
                  <a:gd name="T0" fmla="*/ 201 w 203"/>
                  <a:gd name="T1" fmla="*/ 98 h 203"/>
                  <a:gd name="T2" fmla="*/ 105 w 203"/>
                  <a:gd name="T3" fmla="*/ 201 h 203"/>
                  <a:gd name="T4" fmla="*/ 1 w 203"/>
                  <a:gd name="T5" fmla="*/ 105 h 203"/>
                  <a:gd name="T6" fmla="*/ 98 w 203"/>
                  <a:gd name="T7" fmla="*/ 1 h 203"/>
                  <a:gd name="T8" fmla="*/ 201 w 203"/>
                  <a:gd name="T9" fmla="*/ 98 h 203"/>
                </a:gdLst>
                <a:ahLst/>
                <a:cxnLst>
                  <a:cxn ang="0">
                    <a:pos x="T0" y="T1"/>
                  </a:cxn>
                  <a:cxn ang="0">
                    <a:pos x="T2" y="T3"/>
                  </a:cxn>
                  <a:cxn ang="0">
                    <a:pos x="T4" y="T5"/>
                  </a:cxn>
                  <a:cxn ang="0">
                    <a:pos x="T6" y="T7"/>
                  </a:cxn>
                  <a:cxn ang="0">
                    <a:pos x="T8" y="T9"/>
                  </a:cxn>
                </a:cxnLst>
                <a:rect l="0" t="0" r="r" b="b"/>
                <a:pathLst>
                  <a:path w="203" h="203">
                    <a:moveTo>
                      <a:pt x="201" y="98"/>
                    </a:moveTo>
                    <a:cubicBezTo>
                      <a:pt x="203" y="153"/>
                      <a:pt x="160" y="200"/>
                      <a:pt x="105" y="201"/>
                    </a:cubicBezTo>
                    <a:cubicBezTo>
                      <a:pt x="49" y="203"/>
                      <a:pt x="3" y="160"/>
                      <a:pt x="1" y="105"/>
                    </a:cubicBezTo>
                    <a:cubicBezTo>
                      <a:pt x="0" y="49"/>
                      <a:pt x="43" y="3"/>
                      <a:pt x="98" y="1"/>
                    </a:cubicBezTo>
                    <a:cubicBezTo>
                      <a:pt x="153" y="0"/>
                      <a:pt x="200" y="43"/>
                      <a:pt x="201" y="98"/>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4" name="Oval 17"/>
              <p:cNvSpPr>
                <a:spLocks noChangeArrowheads="1"/>
              </p:cNvSpPr>
              <p:nvPr/>
            </p:nvSpPr>
            <p:spPr bwMode="auto">
              <a:xfrm>
                <a:off x="1504639" y="1901988"/>
                <a:ext cx="141013" cy="143796"/>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5" name="Oval 18"/>
              <p:cNvSpPr>
                <a:spLocks noChangeArrowheads="1"/>
              </p:cNvSpPr>
              <p:nvPr/>
            </p:nvSpPr>
            <p:spPr bwMode="auto">
              <a:xfrm>
                <a:off x="2167029" y="964066"/>
                <a:ext cx="142869" cy="142868"/>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6" name="Oval 19"/>
              <p:cNvSpPr>
                <a:spLocks noChangeArrowheads="1"/>
              </p:cNvSpPr>
              <p:nvPr/>
            </p:nvSpPr>
            <p:spPr bwMode="auto">
              <a:xfrm>
                <a:off x="2276500" y="1307321"/>
                <a:ext cx="312641" cy="312641"/>
              </a:xfrm>
              <a:prstGeom prst="ellipse">
                <a:avLst/>
              </a:pr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7" name="Oval 20"/>
              <p:cNvSpPr>
                <a:spLocks noChangeArrowheads="1"/>
              </p:cNvSpPr>
              <p:nvPr/>
            </p:nvSpPr>
            <p:spPr bwMode="auto">
              <a:xfrm>
                <a:off x="2276500" y="1816638"/>
                <a:ext cx="312641" cy="314496"/>
              </a:xfrm>
              <a:prstGeom prst="ellipse">
                <a:avLst/>
              </a:prstGeom>
              <a:solidFill>
                <a:schemeClr val="accent3">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8" name="Oval 21"/>
              <p:cNvSpPr>
                <a:spLocks noChangeArrowheads="1"/>
              </p:cNvSpPr>
              <p:nvPr/>
            </p:nvSpPr>
            <p:spPr bwMode="auto">
              <a:xfrm>
                <a:off x="2754274" y="1514202"/>
                <a:ext cx="141013" cy="141013"/>
              </a:xfrm>
              <a:prstGeom prst="ellipse">
                <a:avLst/>
              </a:pr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39" name="Freeform 22"/>
              <p:cNvSpPr/>
              <p:nvPr/>
            </p:nvSpPr>
            <p:spPr bwMode="auto">
              <a:xfrm>
                <a:off x="2947240" y="2064338"/>
                <a:ext cx="348822" cy="600233"/>
              </a:xfrm>
              <a:custGeom>
                <a:avLst/>
                <a:gdLst>
                  <a:gd name="T0" fmla="*/ 0 w 188"/>
                  <a:gd name="T1" fmla="*/ 132 h 323"/>
                  <a:gd name="T2" fmla="*/ 188 w 188"/>
                  <a:gd name="T3" fmla="*/ 323 h 323"/>
                  <a:gd name="T4" fmla="*/ 53 w 188"/>
                  <a:gd name="T5" fmla="*/ 0 h 323"/>
                  <a:gd name="T6" fmla="*/ 0 w 188"/>
                  <a:gd name="T7" fmla="*/ 132 h 323"/>
                </a:gdLst>
                <a:ahLst/>
                <a:cxnLst>
                  <a:cxn ang="0">
                    <a:pos x="T0" y="T1"/>
                  </a:cxn>
                  <a:cxn ang="0">
                    <a:pos x="T2" y="T3"/>
                  </a:cxn>
                  <a:cxn ang="0">
                    <a:pos x="T4" y="T5"/>
                  </a:cxn>
                  <a:cxn ang="0">
                    <a:pos x="T6" y="T7"/>
                  </a:cxn>
                </a:cxnLst>
                <a:rect l="0" t="0" r="r" b="b"/>
                <a:pathLst>
                  <a:path w="188" h="323">
                    <a:moveTo>
                      <a:pt x="0" y="132"/>
                    </a:moveTo>
                    <a:cubicBezTo>
                      <a:pt x="0" y="237"/>
                      <a:pt x="84" y="321"/>
                      <a:pt x="188" y="323"/>
                    </a:cubicBezTo>
                    <a:cubicBezTo>
                      <a:pt x="176" y="201"/>
                      <a:pt x="127" y="89"/>
                      <a:pt x="53" y="0"/>
                    </a:cubicBezTo>
                    <a:cubicBezTo>
                      <a:pt x="20" y="34"/>
                      <a:pt x="0" y="81"/>
                      <a:pt x="0" y="132"/>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0" name="Freeform 23"/>
              <p:cNvSpPr/>
              <p:nvPr/>
            </p:nvSpPr>
            <p:spPr bwMode="auto">
              <a:xfrm>
                <a:off x="2563165" y="2261014"/>
                <a:ext cx="738463" cy="894319"/>
              </a:xfrm>
              <a:custGeom>
                <a:avLst/>
                <a:gdLst>
                  <a:gd name="T0" fmla="*/ 0 w 398"/>
                  <a:gd name="T1" fmla="*/ 241 h 481"/>
                  <a:gd name="T2" fmla="*/ 241 w 398"/>
                  <a:gd name="T3" fmla="*/ 481 h 481"/>
                  <a:gd name="T4" fmla="*/ 375 w 398"/>
                  <a:gd name="T5" fmla="*/ 440 h 481"/>
                  <a:gd name="T6" fmla="*/ 398 w 398"/>
                  <a:gd name="T7" fmla="*/ 277 h 481"/>
                  <a:gd name="T8" fmla="*/ 342 w 398"/>
                  <a:gd name="T9" fmla="*/ 22 h 481"/>
                  <a:gd name="T10" fmla="*/ 241 w 398"/>
                  <a:gd name="T11" fmla="*/ 0 h 481"/>
                  <a:gd name="T12" fmla="*/ 0 w 398"/>
                  <a:gd name="T13" fmla="*/ 241 h 481"/>
                </a:gdLst>
                <a:ahLst/>
                <a:cxnLst>
                  <a:cxn ang="0">
                    <a:pos x="T0" y="T1"/>
                  </a:cxn>
                  <a:cxn ang="0">
                    <a:pos x="T2" y="T3"/>
                  </a:cxn>
                  <a:cxn ang="0">
                    <a:pos x="T4" y="T5"/>
                  </a:cxn>
                  <a:cxn ang="0">
                    <a:pos x="T6" y="T7"/>
                  </a:cxn>
                  <a:cxn ang="0">
                    <a:pos x="T8" y="T9"/>
                  </a:cxn>
                  <a:cxn ang="0">
                    <a:pos x="T10" y="T11"/>
                  </a:cxn>
                  <a:cxn ang="0">
                    <a:pos x="T12" y="T13"/>
                  </a:cxn>
                </a:cxnLst>
                <a:rect l="0" t="0" r="r" b="b"/>
                <a:pathLst>
                  <a:path w="398" h="481">
                    <a:moveTo>
                      <a:pt x="0" y="241"/>
                    </a:moveTo>
                    <a:cubicBezTo>
                      <a:pt x="0" y="374"/>
                      <a:pt x="108" y="481"/>
                      <a:pt x="241" y="481"/>
                    </a:cubicBezTo>
                    <a:cubicBezTo>
                      <a:pt x="291" y="481"/>
                      <a:pt x="337" y="466"/>
                      <a:pt x="375" y="440"/>
                    </a:cubicBezTo>
                    <a:cubicBezTo>
                      <a:pt x="390" y="388"/>
                      <a:pt x="398" y="333"/>
                      <a:pt x="398" y="277"/>
                    </a:cubicBezTo>
                    <a:cubicBezTo>
                      <a:pt x="398" y="186"/>
                      <a:pt x="378" y="100"/>
                      <a:pt x="342" y="22"/>
                    </a:cubicBezTo>
                    <a:cubicBezTo>
                      <a:pt x="311" y="8"/>
                      <a:pt x="277" y="0"/>
                      <a:pt x="241" y="0"/>
                    </a:cubicBezTo>
                    <a:cubicBezTo>
                      <a:pt x="108" y="0"/>
                      <a:pt x="0" y="108"/>
                      <a:pt x="0" y="241"/>
                    </a:cubicBezTo>
                    <a:close/>
                  </a:path>
                </a:pathLst>
              </a:custGeom>
              <a:solidFill>
                <a:schemeClr val="accent1">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1" name="Freeform 24"/>
              <p:cNvSpPr/>
              <p:nvPr/>
            </p:nvSpPr>
            <p:spPr bwMode="auto">
              <a:xfrm>
                <a:off x="2574297" y="2261014"/>
                <a:ext cx="415618" cy="355316"/>
              </a:xfrm>
              <a:custGeom>
                <a:avLst/>
                <a:gdLst>
                  <a:gd name="T0" fmla="*/ 0 w 224"/>
                  <a:gd name="T1" fmla="*/ 188 h 191"/>
                  <a:gd name="T2" fmla="*/ 33 w 224"/>
                  <a:gd name="T3" fmla="*/ 191 h 191"/>
                  <a:gd name="T4" fmla="*/ 224 w 224"/>
                  <a:gd name="T5" fmla="*/ 0 h 191"/>
                  <a:gd name="T6" fmla="*/ 0 w 224"/>
                  <a:gd name="T7" fmla="*/ 188 h 191"/>
                </a:gdLst>
                <a:ahLst/>
                <a:cxnLst>
                  <a:cxn ang="0">
                    <a:pos x="T0" y="T1"/>
                  </a:cxn>
                  <a:cxn ang="0">
                    <a:pos x="T2" y="T3"/>
                  </a:cxn>
                  <a:cxn ang="0">
                    <a:pos x="T4" y="T5"/>
                  </a:cxn>
                  <a:cxn ang="0">
                    <a:pos x="T6" y="T7"/>
                  </a:cxn>
                </a:cxnLst>
                <a:rect l="0" t="0" r="r" b="b"/>
                <a:pathLst>
                  <a:path w="224" h="191">
                    <a:moveTo>
                      <a:pt x="0" y="188"/>
                    </a:moveTo>
                    <a:cubicBezTo>
                      <a:pt x="11" y="190"/>
                      <a:pt x="22" y="191"/>
                      <a:pt x="33" y="191"/>
                    </a:cubicBezTo>
                    <a:cubicBezTo>
                      <a:pt x="138" y="191"/>
                      <a:pt x="224" y="106"/>
                      <a:pt x="224" y="0"/>
                    </a:cubicBezTo>
                    <a:cubicBezTo>
                      <a:pt x="114" y="5"/>
                      <a:pt x="23" y="84"/>
                      <a:pt x="0" y="188"/>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2" name="Freeform 25"/>
              <p:cNvSpPr/>
              <p:nvPr/>
            </p:nvSpPr>
            <p:spPr bwMode="auto">
              <a:xfrm>
                <a:off x="2840364" y="3083913"/>
                <a:ext cx="420165" cy="581208"/>
              </a:xfrm>
              <a:custGeom>
                <a:avLst/>
                <a:gdLst>
                  <a:gd name="T0" fmla="*/ 224 w 224"/>
                  <a:gd name="T1" fmla="*/ 0 h 310"/>
                  <a:gd name="T2" fmla="*/ 0 w 224"/>
                  <a:gd name="T3" fmla="*/ 240 h 310"/>
                  <a:gd name="T4" fmla="*/ 11 w 224"/>
                  <a:gd name="T5" fmla="*/ 310 h 310"/>
                  <a:gd name="T6" fmla="*/ 224 w 224"/>
                  <a:gd name="T7" fmla="*/ 0 h 310"/>
                </a:gdLst>
                <a:ahLst/>
                <a:cxnLst>
                  <a:cxn ang="0">
                    <a:pos x="T0" y="T1"/>
                  </a:cxn>
                  <a:cxn ang="0">
                    <a:pos x="T2" y="T3"/>
                  </a:cxn>
                  <a:cxn ang="0">
                    <a:pos x="T4" y="T5"/>
                  </a:cxn>
                  <a:cxn ang="0">
                    <a:pos x="T6" y="T7"/>
                  </a:cxn>
                </a:cxnLst>
                <a:rect l="0" t="0" r="r" b="b"/>
                <a:pathLst>
                  <a:path w="224" h="310">
                    <a:moveTo>
                      <a:pt x="224" y="0"/>
                    </a:moveTo>
                    <a:cubicBezTo>
                      <a:pt x="99" y="9"/>
                      <a:pt x="0" y="113"/>
                      <a:pt x="0" y="240"/>
                    </a:cubicBezTo>
                    <a:cubicBezTo>
                      <a:pt x="0" y="265"/>
                      <a:pt x="4" y="288"/>
                      <a:pt x="11" y="310"/>
                    </a:cubicBezTo>
                    <a:cubicBezTo>
                      <a:pt x="112" y="233"/>
                      <a:pt x="187" y="125"/>
                      <a:pt x="224" y="0"/>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3" name="Freeform 26"/>
              <p:cNvSpPr/>
              <p:nvPr/>
            </p:nvSpPr>
            <p:spPr bwMode="auto">
              <a:xfrm>
                <a:off x="1104792" y="3017103"/>
                <a:ext cx="615077" cy="753306"/>
              </a:xfrm>
              <a:custGeom>
                <a:avLst/>
                <a:gdLst>
                  <a:gd name="T0" fmla="*/ 22 w 331"/>
                  <a:gd name="T1" fmla="*/ 0 h 405"/>
                  <a:gd name="T2" fmla="*/ 0 w 331"/>
                  <a:gd name="T3" fmla="*/ 0 h 405"/>
                  <a:gd name="T4" fmla="*/ 316 w 331"/>
                  <a:gd name="T5" fmla="*/ 405 h 405"/>
                  <a:gd name="T6" fmla="*/ 331 w 331"/>
                  <a:gd name="T7" fmla="*/ 309 h 405"/>
                  <a:gd name="T8" fmla="*/ 22 w 331"/>
                  <a:gd name="T9" fmla="*/ 0 h 405"/>
                </a:gdLst>
                <a:ahLst/>
                <a:cxnLst>
                  <a:cxn ang="0">
                    <a:pos x="T0" y="T1"/>
                  </a:cxn>
                  <a:cxn ang="0">
                    <a:pos x="T2" y="T3"/>
                  </a:cxn>
                  <a:cxn ang="0">
                    <a:pos x="T4" y="T5"/>
                  </a:cxn>
                  <a:cxn ang="0">
                    <a:pos x="T6" y="T7"/>
                  </a:cxn>
                  <a:cxn ang="0">
                    <a:pos x="T8" y="T9"/>
                  </a:cxn>
                </a:cxnLst>
                <a:rect l="0" t="0" r="r" b="b"/>
                <a:pathLst>
                  <a:path w="331" h="405">
                    <a:moveTo>
                      <a:pt x="22" y="0"/>
                    </a:moveTo>
                    <a:cubicBezTo>
                      <a:pt x="14" y="0"/>
                      <a:pt x="7" y="0"/>
                      <a:pt x="0" y="0"/>
                    </a:cubicBezTo>
                    <a:cubicBezTo>
                      <a:pt x="40" y="178"/>
                      <a:pt x="158" y="325"/>
                      <a:pt x="316" y="405"/>
                    </a:cubicBezTo>
                    <a:cubicBezTo>
                      <a:pt x="326" y="375"/>
                      <a:pt x="331" y="343"/>
                      <a:pt x="331" y="309"/>
                    </a:cubicBezTo>
                    <a:cubicBezTo>
                      <a:pt x="331" y="138"/>
                      <a:pt x="193" y="0"/>
                      <a:pt x="22" y="0"/>
                    </a:cubicBezTo>
                    <a:close/>
                  </a:path>
                </a:pathLst>
              </a:cu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4" name="Freeform 27"/>
              <p:cNvSpPr/>
              <p:nvPr/>
            </p:nvSpPr>
            <p:spPr bwMode="auto">
              <a:xfrm>
                <a:off x="1406301" y="2974428"/>
                <a:ext cx="1229226" cy="912874"/>
              </a:xfrm>
              <a:custGeom>
                <a:avLst/>
                <a:gdLst>
                  <a:gd name="T0" fmla="*/ 331 w 662"/>
                  <a:gd name="T1" fmla="*/ 0 h 491"/>
                  <a:gd name="T2" fmla="*/ 0 w 662"/>
                  <a:gd name="T3" fmla="*/ 317 h 491"/>
                  <a:gd name="T4" fmla="*/ 422 w 662"/>
                  <a:gd name="T5" fmla="*/ 491 h 491"/>
                  <a:gd name="T6" fmla="*/ 639 w 662"/>
                  <a:gd name="T7" fmla="*/ 451 h 491"/>
                  <a:gd name="T8" fmla="*/ 662 w 662"/>
                  <a:gd name="T9" fmla="*/ 331 h 491"/>
                  <a:gd name="T10" fmla="*/ 331 w 662"/>
                  <a:gd name="T11" fmla="*/ 0 h 491"/>
                </a:gdLst>
                <a:ahLst/>
                <a:cxnLst>
                  <a:cxn ang="0">
                    <a:pos x="T0" y="T1"/>
                  </a:cxn>
                  <a:cxn ang="0">
                    <a:pos x="T2" y="T3"/>
                  </a:cxn>
                  <a:cxn ang="0">
                    <a:pos x="T4" y="T5"/>
                  </a:cxn>
                  <a:cxn ang="0">
                    <a:pos x="T6" y="T7"/>
                  </a:cxn>
                  <a:cxn ang="0">
                    <a:pos x="T8" y="T9"/>
                  </a:cxn>
                  <a:cxn ang="0">
                    <a:pos x="T10" y="T11"/>
                  </a:cxn>
                </a:cxnLst>
                <a:rect l="0" t="0" r="r" b="b"/>
                <a:pathLst>
                  <a:path w="662" h="491">
                    <a:moveTo>
                      <a:pt x="331" y="0"/>
                    </a:moveTo>
                    <a:cubicBezTo>
                      <a:pt x="153" y="0"/>
                      <a:pt x="7" y="141"/>
                      <a:pt x="0" y="317"/>
                    </a:cubicBezTo>
                    <a:cubicBezTo>
                      <a:pt x="108" y="425"/>
                      <a:pt x="258" y="491"/>
                      <a:pt x="422" y="491"/>
                    </a:cubicBezTo>
                    <a:cubicBezTo>
                      <a:pt x="499" y="491"/>
                      <a:pt x="572" y="477"/>
                      <a:pt x="639" y="451"/>
                    </a:cubicBezTo>
                    <a:cubicBezTo>
                      <a:pt x="654" y="414"/>
                      <a:pt x="662" y="373"/>
                      <a:pt x="662" y="331"/>
                    </a:cubicBezTo>
                    <a:cubicBezTo>
                      <a:pt x="662" y="148"/>
                      <a:pt x="514" y="0"/>
                      <a:pt x="331" y="0"/>
                    </a:cubicBezTo>
                    <a:close/>
                  </a:path>
                </a:pathLst>
              </a:custGeom>
              <a:solidFill>
                <a:schemeClr val="accent6">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5" name="Freeform 28"/>
              <p:cNvSpPr/>
              <p:nvPr/>
            </p:nvSpPr>
            <p:spPr bwMode="auto">
              <a:xfrm>
                <a:off x="2335874" y="2933609"/>
                <a:ext cx="874838" cy="872054"/>
              </a:xfrm>
              <a:custGeom>
                <a:avLst/>
                <a:gdLst>
                  <a:gd name="T0" fmla="*/ 471 w 471"/>
                  <a:gd name="T1" fmla="*/ 153 h 469"/>
                  <a:gd name="T2" fmla="*/ 244 w 471"/>
                  <a:gd name="T3" fmla="*/ 0 h 469"/>
                  <a:gd name="T4" fmla="*/ 0 w 471"/>
                  <a:gd name="T5" fmla="*/ 244 h 469"/>
                  <a:gd name="T6" fmla="*/ 149 w 471"/>
                  <a:gd name="T7" fmla="*/ 469 h 469"/>
                  <a:gd name="T8" fmla="*/ 471 w 471"/>
                  <a:gd name="T9" fmla="*/ 153 h 469"/>
                </a:gdLst>
                <a:ahLst/>
                <a:cxnLst>
                  <a:cxn ang="0">
                    <a:pos x="T0" y="T1"/>
                  </a:cxn>
                  <a:cxn ang="0">
                    <a:pos x="T2" y="T3"/>
                  </a:cxn>
                  <a:cxn ang="0">
                    <a:pos x="T4" y="T5"/>
                  </a:cxn>
                  <a:cxn ang="0">
                    <a:pos x="T6" y="T7"/>
                  </a:cxn>
                  <a:cxn ang="0">
                    <a:pos x="T8" y="T9"/>
                  </a:cxn>
                </a:cxnLst>
                <a:rect l="0" t="0" r="r" b="b"/>
                <a:pathLst>
                  <a:path w="471" h="469">
                    <a:moveTo>
                      <a:pt x="471" y="153"/>
                    </a:moveTo>
                    <a:cubicBezTo>
                      <a:pt x="435" y="63"/>
                      <a:pt x="347" y="0"/>
                      <a:pt x="244" y="0"/>
                    </a:cubicBezTo>
                    <a:cubicBezTo>
                      <a:pt x="109" y="0"/>
                      <a:pt x="0" y="109"/>
                      <a:pt x="0" y="244"/>
                    </a:cubicBezTo>
                    <a:cubicBezTo>
                      <a:pt x="0" y="345"/>
                      <a:pt x="61" y="432"/>
                      <a:pt x="149" y="469"/>
                    </a:cubicBezTo>
                    <a:cubicBezTo>
                      <a:pt x="293" y="410"/>
                      <a:pt x="409" y="296"/>
                      <a:pt x="471" y="153"/>
                    </a:cubicBezTo>
                    <a:close/>
                  </a:path>
                </a:pathLst>
              </a:cu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6" name="Oval 30"/>
              <p:cNvSpPr>
                <a:spLocks noChangeArrowheads="1"/>
              </p:cNvSpPr>
              <p:nvPr/>
            </p:nvSpPr>
            <p:spPr bwMode="auto">
              <a:xfrm>
                <a:off x="2540899" y="1675625"/>
                <a:ext cx="493546" cy="496329"/>
              </a:xfrm>
              <a:prstGeom prst="ellipse">
                <a:avLst/>
              </a:prstGeom>
              <a:solidFill>
                <a:schemeClr val="accent2">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7" name="Oval 11"/>
              <p:cNvSpPr>
                <a:spLocks noChangeArrowheads="1"/>
              </p:cNvSpPr>
              <p:nvPr/>
            </p:nvSpPr>
            <p:spPr bwMode="auto">
              <a:xfrm>
                <a:off x="1833627" y="2696302"/>
                <a:ext cx="557332" cy="556080"/>
              </a:xfrm>
              <a:prstGeom prst="ellipse">
                <a:avLst/>
              </a:prstGeom>
              <a:solidFill>
                <a:schemeClr val="accent4">
                  <a:alpha val="7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sp>
            <p:nvSpPr>
              <p:cNvPr id="48" name="Oval 11"/>
              <p:cNvSpPr>
                <a:spLocks noChangeArrowheads="1"/>
              </p:cNvSpPr>
              <p:nvPr/>
            </p:nvSpPr>
            <p:spPr bwMode="auto">
              <a:xfrm>
                <a:off x="2226489" y="2491874"/>
                <a:ext cx="249471" cy="248912"/>
              </a:xfrm>
              <a:prstGeom prst="ellipse">
                <a:avLst/>
              </a:prstGeom>
              <a:solidFill>
                <a:srgbClr val="00A0E9">
                  <a:alpha val="70000"/>
                </a:srgb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华文细黑"/>
                  <a:ea typeface="华文细黑"/>
                  <a:cs typeface="+mn-cs"/>
                </a:endParaRPr>
              </a:p>
            </p:txBody>
          </p:sp>
        </p:grpSp>
        <p:sp>
          <p:nvSpPr>
            <p:cNvPr id="23" name="椭圆 22"/>
            <p:cNvSpPr/>
            <p:nvPr/>
          </p:nvSpPr>
          <p:spPr>
            <a:xfrm>
              <a:off x="4251572" y="2232063"/>
              <a:ext cx="553478" cy="553476"/>
            </a:xfrm>
            <a:prstGeom prst="ellipse">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9900"/>
                </a:solidFill>
                <a:effectLst/>
                <a:uLnTx/>
                <a:uFillTx/>
                <a:latin typeface="华文细黑" pitchFamily="2" charset="-122"/>
                <a:ea typeface="华文细黑" pitchFamily="2" charset="-122"/>
                <a:cs typeface="+mn-cs"/>
              </a:endParaRPr>
            </a:p>
          </p:txBody>
        </p:sp>
      </p:grpSp>
      <p:sp>
        <p:nvSpPr>
          <p:cNvPr id="2" name="矩形 1"/>
          <p:cNvSpPr/>
          <p:nvPr/>
        </p:nvSpPr>
        <p:spPr>
          <a:xfrm>
            <a:off x="704749" y="2844284"/>
            <a:ext cx="7701873" cy="646331"/>
          </a:xfrm>
          <a:prstGeom prst="rect">
            <a:avLst/>
          </a:prstGeom>
        </p:spPr>
        <p:txBody>
          <a:bodyPr wrap="square">
            <a:spAutoFit/>
          </a:bodyPr>
          <a:lstStyle/>
          <a:p>
            <a:pPr lvl="0" algn="ctr"/>
            <a:r>
              <a:rPr lang="zh-CN" altLang="en-US" sz="3600" b="1" dirty="0">
                <a:solidFill>
                  <a:srgbClr val="009900"/>
                </a:solidFill>
                <a:latin typeface="宋体" pitchFamily="2" charset="-122"/>
                <a:ea typeface="宋体" pitchFamily="2" charset="-122"/>
              </a:rPr>
              <a:t>评估风险管理过程</a:t>
            </a:r>
          </a:p>
        </p:txBody>
      </p:sp>
      <p:sp>
        <p:nvSpPr>
          <p:cNvPr id="3" name="文本框 2"/>
          <p:cNvSpPr txBox="1"/>
          <p:nvPr/>
        </p:nvSpPr>
        <p:spPr>
          <a:xfrm>
            <a:off x="4324698" y="1824850"/>
            <a:ext cx="6599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9900"/>
                </a:solidFill>
                <a:effectLst/>
                <a:uLnTx/>
                <a:uFillTx/>
                <a:latin typeface="Times New Roman" pitchFamily="18" charset="0"/>
                <a:ea typeface="华文细黑"/>
                <a:cs typeface="Times New Roman" pitchFamily="18" charset="0"/>
              </a:rPr>
              <a:t>1.7</a:t>
            </a:r>
            <a:endParaRPr kumimoji="0" lang="zh-CN" altLang="en-US" sz="1800" b="0" i="0" u="none" strike="noStrike" kern="1200" cap="none" spc="0" normalizeH="0" baseline="0" noProof="0" dirty="0">
              <a:ln>
                <a:noFill/>
              </a:ln>
              <a:solidFill>
                <a:srgbClr val="009900"/>
              </a:solidFill>
              <a:effectLst/>
              <a:uLnTx/>
              <a:uFillTx/>
              <a:latin typeface="Times New Roman" pitchFamily="18" charset="0"/>
              <a:ea typeface="华文细黑"/>
              <a:cs typeface="Times New Roman" pitchFamily="18" charset="0"/>
            </a:endParaRPr>
          </a:p>
        </p:txBody>
      </p:sp>
    </p:spTree>
    <p:extLst>
      <p:ext uri="{BB962C8B-B14F-4D97-AF65-F5344CB8AC3E}">
        <p14:creationId xmlns:p14="http://schemas.microsoft.com/office/powerpoint/2010/main" val="65164502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80236"/>
            <a:ext cx="395536"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华文细黑" pitchFamily="2" charset="-122"/>
            </a:endParaRPr>
          </a:p>
        </p:txBody>
      </p:sp>
      <p:sp>
        <p:nvSpPr>
          <p:cNvPr id="7" name="内容占位符 6">
            <a:extLst>
              <a:ext uri="{FF2B5EF4-FFF2-40B4-BE49-F238E27FC236}">
                <a16:creationId xmlns:a16="http://schemas.microsoft.com/office/drawing/2014/main" id="{E3FB3D15-8C0F-45DA-ABB7-925A6DE73297}"/>
              </a:ext>
            </a:extLst>
          </p:cNvPr>
          <p:cNvSpPr>
            <a:spLocks noGrp="1"/>
          </p:cNvSpPr>
          <p:nvPr>
            <p:ph idx="1"/>
          </p:nvPr>
        </p:nvSpPr>
        <p:spPr>
          <a:xfrm>
            <a:off x="395536" y="1418828"/>
            <a:ext cx="8229600" cy="2974428"/>
          </a:xfrm>
        </p:spPr>
        <p:txBody>
          <a:bodyPr/>
          <a:lstStyle/>
          <a:p>
            <a:pPr marL="0" indent="0">
              <a:buNone/>
            </a:pPr>
            <a:r>
              <a:rPr lang="zh-CN" altLang="en-US" sz="2800" dirty="0">
                <a:latin typeface="+mn-ea"/>
              </a:rPr>
              <a:t>第一，已知的已知风险（</a:t>
            </a:r>
            <a:r>
              <a:rPr lang="en-US" altLang="zh-CN" sz="2800" dirty="0">
                <a:latin typeface="+mn-ea"/>
              </a:rPr>
              <a:t>known knows</a:t>
            </a:r>
            <a:r>
              <a:rPr lang="zh-CN" altLang="en-US" sz="2800" dirty="0">
                <a:latin typeface="+mn-ea"/>
              </a:rPr>
              <a:t>）</a:t>
            </a:r>
            <a:endParaRPr lang="en-US" altLang="zh-CN" sz="2800" dirty="0">
              <a:latin typeface="+mn-ea"/>
            </a:endParaRPr>
          </a:p>
          <a:p>
            <a:pPr marL="0" indent="0">
              <a:buNone/>
            </a:pPr>
            <a:r>
              <a:rPr lang="zh-CN" altLang="en-US" sz="2800" dirty="0">
                <a:latin typeface="+mn-ea"/>
              </a:rPr>
              <a:t>第二，已知的未知风险（</a:t>
            </a:r>
            <a:r>
              <a:rPr lang="en-US" altLang="zh-CN" sz="2800" dirty="0">
                <a:latin typeface="+mn-ea"/>
              </a:rPr>
              <a:t>known unknows</a:t>
            </a:r>
            <a:r>
              <a:rPr lang="zh-CN" altLang="en-US" sz="2800" dirty="0">
                <a:latin typeface="+mn-ea"/>
              </a:rPr>
              <a:t>）</a:t>
            </a:r>
            <a:endParaRPr lang="en-US" altLang="zh-CN" sz="2800" dirty="0">
              <a:latin typeface="+mn-ea"/>
            </a:endParaRPr>
          </a:p>
          <a:p>
            <a:pPr marL="0" indent="0">
              <a:buNone/>
            </a:pPr>
            <a:r>
              <a:rPr lang="zh-CN" altLang="en-US" sz="2800" dirty="0">
                <a:latin typeface="+mn-ea"/>
              </a:rPr>
              <a:t>第三，未知的未知风险（</a:t>
            </a:r>
            <a:r>
              <a:rPr lang="en-US" altLang="zh-CN" sz="2800" dirty="0">
                <a:latin typeface="+mn-ea"/>
              </a:rPr>
              <a:t>unknown unknows</a:t>
            </a:r>
            <a:r>
              <a:rPr lang="zh-CN" altLang="en-US" sz="2800" dirty="0">
                <a:latin typeface="+mn-ea"/>
              </a:rPr>
              <a:t>）</a:t>
            </a:r>
          </a:p>
        </p:txBody>
      </p:sp>
    </p:spTree>
    <p:extLst>
      <p:ext uri="{BB962C8B-B14F-4D97-AF65-F5344CB8AC3E}">
        <p14:creationId xmlns:p14="http://schemas.microsoft.com/office/powerpoint/2010/main" val="387280767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2800" b="1" dirty="0">
                <a:solidFill>
                  <a:schemeClr val="accent1"/>
                </a:solidFill>
                <a:effectLst>
                  <a:outerShdw blurRad="38100" dist="38100" dir="2700000" algn="tl">
                    <a:srgbClr val="000000">
                      <a:alpha val="43137"/>
                    </a:srgbClr>
                  </a:outerShdw>
                </a:effectLst>
                <a:latin typeface="宋体" pitchFamily="2" charset="-122"/>
                <a:ea typeface="宋体" pitchFamily="2" charset="-122"/>
              </a:rPr>
              <a:t>本章小结</a:t>
            </a:r>
          </a:p>
        </p:txBody>
      </p:sp>
      <p:sp>
        <p:nvSpPr>
          <p:cNvPr id="3" name="内容占位符 2"/>
          <p:cNvSpPr>
            <a:spLocks noGrp="1"/>
          </p:cNvSpPr>
          <p:nvPr>
            <p:ph idx="1"/>
          </p:nvPr>
        </p:nvSpPr>
        <p:spPr/>
        <p:txBody>
          <a:bodyPr>
            <a:normAutofit/>
          </a:bodyPr>
          <a:lstStyle/>
          <a:p>
            <a:r>
              <a:rPr lang="zh-CN" altLang="en-US" sz="2400" dirty="0">
                <a:latin typeface="宋体" panose="02010600030101010101" pitchFamily="2" charset="-122"/>
                <a:ea typeface="宋体" panose="02010600030101010101" pitchFamily="2" charset="-122"/>
                <a:cs typeface="华文细黑" pitchFamily="2" charset="-122"/>
              </a:rPr>
              <a:t>金融风险概念的理解</a:t>
            </a:r>
            <a:endParaRPr lang="en-US" altLang="zh-CN" sz="2400" dirty="0">
              <a:latin typeface="宋体" panose="02010600030101010101" pitchFamily="2" charset="-122"/>
              <a:ea typeface="宋体" panose="02010600030101010101" pitchFamily="2" charset="-122"/>
              <a:cs typeface="华文细黑" pitchFamily="2" charset="-122"/>
            </a:endParaRPr>
          </a:p>
          <a:p>
            <a:r>
              <a:rPr lang="zh-CN" altLang="en-US" sz="2400" dirty="0">
                <a:latin typeface="宋体" panose="02010600030101010101" pitchFamily="2" charset="-122"/>
                <a:ea typeface="宋体" panose="02010600030101010101" pitchFamily="2" charset="-122"/>
              </a:rPr>
              <a:t>风险管理的流程包含了风险识别、风险计量和风险管理等环节。主流的风险管理方法有：风险规避、风险分散、风险转移、风险对冲、风险补偿。</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金融风险的八种类型：信用风险、市场风险、操作风险、流动性风险、国家风险、法律风险、声誉风险和战略风险。</a:t>
            </a:r>
            <a:endParaRPr lang="en-US" altLang="zh-CN" sz="2400" dirty="0">
              <a:latin typeface="宋体" panose="02010600030101010101" pitchFamily="2" charset="-122"/>
              <a:ea typeface="宋体" panose="02010600030101010101" pitchFamily="2" charset="-122"/>
            </a:endParaRPr>
          </a:p>
        </p:txBody>
      </p:sp>
      <p:sp>
        <p:nvSpPr>
          <p:cNvPr id="4" name="矩形 3"/>
          <p:cNvSpPr/>
          <p:nvPr/>
        </p:nvSpPr>
        <p:spPr>
          <a:xfrm>
            <a:off x="0" y="410716"/>
            <a:ext cx="395536"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华文细黑"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4546A"/>
      </a:dk2>
      <a:lt2>
        <a:srgbClr val="E7E6E6"/>
      </a:lt2>
      <a:accent1>
        <a:srgbClr val="009900"/>
      </a:accent1>
      <a:accent2>
        <a:srgbClr val="7BC043"/>
      </a:accent2>
      <a:accent3>
        <a:srgbClr val="009900"/>
      </a:accent3>
      <a:accent4>
        <a:srgbClr val="7BC043"/>
      </a:accent4>
      <a:accent5>
        <a:srgbClr val="009900"/>
      </a:accent5>
      <a:accent6>
        <a:srgbClr val="7BC043"/>
      </a:accent6>
      <a:hlink>
        <a:srgbClr val="0563C1"/>
      </a:hlink>
      <a:folHlink>
        <a:srgbClr val="954F72"/>
      </a:folHlink>
    </a:clrScheme>
    <a:fontScheme name="模板">
      <a:majorFont>
        <a:latin typeface="华文细黑"/>
        <a:ea typeface="华文细黑"/>
        <a:cs typeface=""/>
      </a:majorFont>
      <a:minorFont>
        <a:latin typeface="华文细黑"/>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1203</Words>
  <Application>Microsoft Office PowerPoint</Application>
  <PresentationFormat>自定义</PresentationFormat>
  <Paragraphs>158</Paragraphs>
  <Slides>31</Slides>
  <Notes>11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31</vt:i4>
      </vt:variant>
    </vt:vector>
  </HeadingPairs>
  <TitlesOfParts>
    <vt:vector size="40" baseType="lpstr">
      <vt:lpstr>华文楷体</vt:lpstr>
      <vt:lpstr>华文细黑</vt:lpstr>
      <vt:lpstr>宋体</vt:lpstr>
      <vt:lpstr>微软雅黑</vt:lpstr>
      <vt:lpstr>Arial</vt:lpstr>
      <vt:lpstr>Calibri</vt:lpstr>
      <vt:lpstr>Times New Roman</vt:lpstr>
      <vt:lpstr>Wingdings</vt:lpstr>
      <vt:lpstr>Office 主题​​</vt:lpstr>
      <vt:lpstr>金融风险管理 Financial Risk  and Management  郭战琴  李永奎主编 </vt:lpstr>
      <vt:lpstr>PowerPoint 演示文稿</vt:lpstr>
      <vt:lpstr>PowerPoint 演示文稿</vt:lpstr>
      <vt:lpstr>思考</vt:lpstr>
      <vt:lpstr>PowerPoint 演示文稿</vt:lpstr>
      <vt:lpstr>PowerPoint 演示文稿</vt:lpstr>
      <vt:lpstr>什么是风险？</vt:lpstr>
      <vt:lpstr>PowerPoint 演示文稿</vt:lpstr>
      <vt:lpstr>PowerPoint 演示文稿</vt:lpstr>
      <vt:lpstr>PowerPoint 演示文稿</vt:lpstr>
      <vt:lpstr>风险管理的流程</vt:lpstr>
      <vt:lpstr>风险管理方法</vt:lpstr>
      <vt:lpstr>PowerPoint 演示文稿</vt:lpstr>
      <vt:lpstr>PowerPoint 演示文稿</vt:lpstr>
      <vt:lpstr>PowerPoint 演示文稿</vt:lpstr>
      <vt:lpstr>（一）传统风险管理阶段  （二）现代风险管理阶段  （三）全面风险管理阶段</vt:lpstr>
      <vt:lpstr>PowerPoint 演示文稿</vt:lpstr>
      <vt:lpstr>（一）金融机构的功能</vt:lpstr>
      <vt:lpstr>（二）金融机构的分类</vt:lpstr>
      <vt:lpstr>PowerPoint 演示文稿</vt:lpstr>
      <vt:lpstr>（一）市场风险</vt:lpstr>
      <vt:lpstr>（二）信用风险</vt:lpstr>
      <vt:lpstr>（三）操作风险</vt:lpstr>
      <vt:lpstr>（四）流动性风险</vt:lpstr>
      <vt:lpstr>（五）国家风险</vt:lpstr>
      <vt:lpstr>（六）声誉风险</vt:lpstr>
      <vt:lpstr>（七）法律风险</vt:lpstr>
      <vt:lpstr>（八）战略风险</vt:lpstr>
      <vt:lpstr>PowerPoint 演示文稿</vt:lpstr>
      <vt:lpstr>PowerPoint 演示文稿</vt:lpstr>
      <vt:lpstr>本章小结</vt:lpstr>
    </vt:vector>
  </TitlesOfParts>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绿色简洁扁平化</dc:title>
  <dc:creator>第一PPT</dc:creator>
  <cp:keywords>www.1ppt.com</cp:keywords>
  <dc:description>www.1ppt.com</dc:description>
  <cp:lastModifiedBy>li yu</cp:lastModifiedBy>
  <cp:revision>422</cp:revision>
  <dcterms:created xsi:type="dcterms:W3CDTF">2015-11-13T02:17:00Z</dcterms:created>
  <dcterms:modified xsi:type="dcterms:W3CDTF">2021-06-11T14:30:52Z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2052-10.8.0.5562</vt:lpwstr>
  </property>
</Properties>
</file>